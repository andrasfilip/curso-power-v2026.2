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379" r:id="rId3"/>
    <p:sldId id="267" r:id="rId4"/>
    <p:sldId id="424" r:id="rId5"/>
    <p:sldId id="425" r:id="rId6"/>
    <p:sldId id="423" r:id="rId7"/>
    <p:sldId id="383" r:id="rId8"/>
    <p:sldId id="385" r:id="rId9"/>
    <p:sldId id="384" r:id="rId10"/>
    <p:sldId id="396" r:id="rId11"/>
    <p:sldId id="393" r:id="rId12"/>
    <p:sldId id="399" r:id="rId13"/>
    <p:sldId id="391" r:id="rId14"/>
    <p:sldId id="400" r:id="rId15"/>
    <p:sldId id="401" r:id="rId16"/>
    <p:sldId id="394" r:id="rId17"/>
    <p:sldId id="398" r:id="rId18"/>
    <p:sldId id="403" r:id="rId19"/>
    <p:sldId id="407" r:id="rId20"/>
    <p:sldId id="402" r:id="rId21"/>
    <p:sldId id="408" r:id="rId22"/>
    <p:sldId id="404" r:id="rId23"/>
    <p:sldId id="390" r:id="rId24"/>
    <p:sldId id="417" r:id="rId25"/>
    <p:sldId id="420" r:id="rId26"/>
    <p:sldId id="410" r:id="rId27"/>
    <p:sldId id="409" r:id="rId28"/>
    <p:sldId id="411" r:id="rId29"/>
    <p:sldId id="413" r:id="rId30"/>
    <p:sldId id="421" r:id="rId3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4E15"/>
    <a:srgbClr val="FDECEA"/>
    <a:srgbClr val="D6C0B6"/>
    <a:srgbClr val="CDB56D"/>
    <a:srgbClr val="3D3D3D"/>
    <a:srgbClr val="2D4A64"/>
    <a:srgbClr val="D1D1D1"/>
    <a:srgbClr val="05828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18"/>
    <p:restoredTop sz="78779"/>
  </p:normalViewPr>
  <p:slideViewPr>
    <p:cSldViewPr snapToGrid="0">
      <p:cViewPr varScale="1">
        <p:scale>
          <a:sx n="274" d="100"/>
          <a:sy n="274" d="100"/>
        </p:scale>
        <p:origin x="3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19T11:54:50.690"/>
    </inkml:context>
    <inkml:brush xml:id="br0">
      <inkml:brushProperty name="width" value="0.1" units="cm"/>
      <inkml:brushProperty name="height" value="0.1" units="cm"/>
      <inkml:brushProperty name="color" value="#F400A3"/>
    </inkml:brush>
  </inkml:definitions>
  <inkml:trace contextRef="#ctx0" brushRef="#br0">1649 9 24575,'-15'-3'0,"-3"2"0,3-3 0,-35 4 0,23 0 0,-54 0 0,55 0 0,-55 0 0,58 0 0,-26 0 0,24 0 0,8 0 0,-30 0 0,27 0 0,-36 0 0,32 0 0,-41 0 0,44 0 0,-29 0 0,38 0 0,-6 0 0,-6 0 0,11 0 0,-15 0 0,17 0 0,-17 5 0,11-3 0,-12 3 0,9-5 0,-9 0 0,8 4 0,-4-3 0,7 3 0,3-4 0,-15 5 0,-1-4 0,-1 5 0,7-2 0,7-3 0,7 2 0,-7 1 0,7-3 0,-7 7 0,4-7 0,-1 6 0,1-6 0,4 6 0,1-6 0,-1 7 0,0-3 0,1-1 0,-1 4 0,1-7 0,-1 3 0,0-1 0,1-2 0,-1 7 0,1-4 0,-1 1 0,-4 3 0,3-4 0,-2 5 0,3-1 0,0-3 0,1 2 0,-1-2 0,1 4 0,-5 3 0,7-3 0,-5 3 0,6-3 0,-3 3 0,-1 1 0,1 0 0,-1 3 0,0-3 0,-3 4 0,2 0 0,1 0 0,2-4 0,7 0 0,-8-5 0,8 4 0,-7-2 0,7 6 0,-8-3 0,8 4 0,-3 0 0,-1-1 0,4 1 0,-7 0 0,7 0 0,-4 0 0,5 0 0,0 0 0,0 0 0,0-4 0,0 3 0,0-3 0,0 4 0,0 0 0,5 0 0,-4 0 0,3-4 0,-4 3 0,4-3 0,-3 4 0,8 0 0,-4 0 0,4-1 0,3 10 0,2-6 0,-2 6 0,2-13 0,0 3 0,-4-3 0,8 0 0,-7 3 0,7-3 0,-4 4 0,5 0 0,-4-4 0,3 3 0,-3-3 0,4 0 0,-4 0 0,2-5 0,-6 0 0,7 1 0,-3 3 0,4 1 0,0 4 0,0-4 0,0 3 0,0-6 0,-1 2 0,-3-4 0,-1 1 0,-5-5 0,5 4 0,-3-3 0,7 3 0,-8-3 0,8 2 0,-7-2 0,2 3 0,1 1 0,11 1 0,-8-5 0,21 12 0,-20-14 0,7 8 0,-8-8 0,-6-2 0,38 12 0,-27-11 0,38 12 0,-38-12 0,38 3 0,-33-5 0,18 0 0,-27 0 0,7 0 0,-3 0 0,7 0 0,-10 0 0,10 0 0,65 0 0,-46 0 0,19-2 0,-4 0 0,-35 1 0,29-2 0,-42 3 0,46-9 0,-35 6 0,32-9 0,-40 11 0,-7-3 0,2 4 0,1 0 0,-4 0 0,4-4 0,0 3 0,-4-2 0,4-1 0,-4 3 0,-1-3 0,1 4 0,-1-4 0,1 3 0,3-3 0,2 1 0,0 2 0,3-3 0,-8 0 0,8-1 0,-7 1 0,2-4 0,-3 7 0,4-7 0,-4 7 0,8-6 0,-8 6 0,4-7 0,-4 4 0,-1-1 0,1 1 0,-1 0 0,1 3 0,-1-6 0,1 6 0,-1-7 0,1 3 0,-1-3 0,0-1 0,1 1 0,-1-1 0,1 0 0,-1 5 0,1-4 0,-1 3 0,1-3 0,-1-1 0,1 1 0,-1-1 0,-3 1 0,2 3 0,-7-3 0,8 3 0,-4-3 0,4-1 0,1 1 0,-1-5 0,1 4 0,-5-3 0,3 3 0,-7-3 0,8 6 0,-4-5 0,0 6 0,0-4 0,-1 1 0,-3-1 0,7 1 0,-7-1 0,4 1 0,-1 3 0,-3-7 0,3 7 0,0-8 0,-3 5 0,4-4 0,-5-2 0,0 1 0,0-3 0,0 6 0,0-2 0,0 4 0,0-1 0,0 0 0,0 1 0,0-1 0,0 1 0,0-1 0,0 1 0,0-1 0,0 1 0,0-5 0,0 4 0,0-4 0,0 1 0,0 3 0,-5-4 0,4 5 0,-3-5 0,4 4 0,-4-7 0,3 6 0,-4-6 0,1 11 0,3-11 0,-8 7 0,8-4 0,-3 0 0,4 5 0,-4-1 0,3 1 0,-3-1 0,-1 1 0,4-1 0,-7 0 0,7 1 0,-8-1 0,8 1 0,-8-1 0,8 1 0,-7-1 0,7 1 0,-8 3 0,8-3 0,-7 3 0,7-3 0,-8 3 0,8-2 0,-8 6 0,8-7 0,-7 3 0,7-3 0,-8-1 0,4 4 0,0-2 0,-4 2 0,4 0 0,-1-2 0,-2 2 0,2-4 0,-3 1 0,4-1 0,-4 4 0,8-2 0,-8 6 0,8-7 0,-11 3 0,5-3 0,-2-1 0,0 1 0,4-1 0,-5 1 0,1-1 0,-1 1 0,0-1 0,1 4 0,3-2 0,-2 6 0,7-7 0,-8 7 0,4-6 0,-5 6 0,5-7 0,-4 7 0,4-3 0,-4 0 0,-1 3 0,0-2 0,1-1 0,-1-1 0,-4 0 0,4-2 0,-8 2 0,7 0 0,-3-2 0,0 6 0,4-7 0,-4 7 0,0-7 0,-1 8 0,0-4 0,-3 4 0,12 0 0,-3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2T20:49:25.3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270 1 24575,'-8'0'0,"-1"0"0,1 0 0,-1 0 0,1 0 0,-1 0 0,1 6 0,0-5 0,-1 5 0,1-1 0,-1-4 0,1 5 0,-1-1 0,1-3 0,0 3 0,3 1 0,-3-5 0,4 10 0,-5-10 0,1 10 0,-1-9 0,1 9 0,-1-4 0,1 5 0,0-5 0,-1-2 0,4 1 0,2 1 0,-1-1 0,3 5 0,-7-9 0,8 9 0,-4-4 0,4 5 0,-4-5 0,3 4 0,-3-4 0,1 5 0,2 0 0,-3 0 0,4 1 0,0-1 0,0 0 0,-4 1 0,3-1 0,-3 0 0,4 1 0,0-1 0,0 0 0,0 1 0,-3-1 0,2 0 0,-3 1 0,4-1 0,0 0 0,0 1 0,0-1 0,0 0 0,0 1 0,0-1 0,4 0 0,-3 1 0,2-1 0,-3 0 0,4 1 0,1-1 0,-1 0 0,0 1 0,0-6 0,0 9 0,1-2 0,2-1 0,-6 4 0,7-10 0,-4 5 0,5 0 0,-5 1 0,7-1 0,-5 0 0,6 1 0,-4-7 0,1 5 0,-1-4 0,0 0 0,1-1 0,-5-1 0,4-4 0,-4 10 0,5-9 0,-1 3 0,0 1 0,1-5 0,-1 5 0,0-1 0,4-4 0,-2 5 0,2-6 0,-4 0 0,4 0 0,-3 0 0,3 0 0,8-6 0,-5 5 0,5-5 0,-8 1 0,-4 4 0,1-11 0,-1 11 0,0-5 0,-3 1 0,2 4 0,-2-5 0,0 0 0,2 5 0,-2-4 0,3-1 0,0-1 0,1-5 0,-1 5 0,-3-5 0,2 11 0,-6-10 0,6 10 0,-2-10 0,0 4 0,2 0 0,-6-4 0,6 9 0,-6-9 0,7 4 0,-7-5 0,6 5 0,-6-4 0,3 4 0,-4-6 0,3 1 0,-2-1 0,3 1 0,-4-1 0,0 1 0,0-1 0,0 1 0,0-1 0,0 1 0,0-1 0,0 1 0,0-1 0,0 1 0,0-1 0,0 1 0,0-1 0,0 1 0,0-1 0,0 1 0,0-1 0,-4 1 0,3-1 0,-2 1 0,3-1 0,-4 7 0,3-6 0,-3 6 0,0-1 0,4-5 0,-8 6 0,7-7 0,-6 6 0,6-4 0,-3 4 0,0 0 0,3-4 0,-6 10 0,6-10 0,-7 9 0,4-3 0,-1-1 0,-3 5 0,7-10 0,-6 9 0,6-9 0,-7 10 0,4-10 0,-5 4 0,1 0 0,3-4 0,-2 9 0,6-9 0,-3 10 0,4-5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2T20:50:18.0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198 1 24575,'-6'0'0,"0"0"0,-1 0 0,1 0 0,0 0 0,0 0 0,0 6 0,0-5 0,-1 5 0,1-1 0,0-4 0,0 5 0,0-1 0,-1-3 0,1 3 0,3 1 0,-3-5 0,3 10 0,-3-10 0,-1 10 0,1-9 0,0 9 0,0-4 0,0 5 0,0-5 0,-1-2 0,4 1 0,0 1 0,0-1 0,3 5 0,-6-9 0,6 9 0,-3-4 0,3 5 0,-3-5 0,2 4 0,-1-4 0,-1 5 0,2 0 0,-2 0 0,3 1 0,0-1 0,0 0 0,-2 1 0,1-1 0,-2 0 0,3 1 0,0-1 0,0 0 0,0 1 0,-3-1 0,3 0 0,-3 1 0,3-1 0,0 0 0,0 1 0,0-1 0,0 0 0,0 1 0,0-1 0,3 0 0,-3 1 0,3-1 0,-3 0 0,3 1 0,0-1 0,1 0 0,-2 1 0,1-6 0,0 9 0,1-2 0,1-1 0,-4 4 0,4-10 0,-1 5 0,2 0 0,-3 1 0,5-1 0,-3 0 0,3 1 0,-2-7 0,1 5 0,-1-4 0,0 0 0,0-1 0,-3-1 0,3-4 0,-3 10 0,3-9 0,0 3 0,0 1 0,1-5 0,-1 5 0,0-1 0,3-4 0,-3 5 0,3-6 0,-3 0 0,3 0 0,-2 0 0,2 0 0,5-6 0,-3 5 0,4-5 0,-6 1 0,-3 4 0,0-11 0,0 11 0,0-5 0,-3 1 0,3 4 0,-3-5 0,1 0 0,1 5 0,-2-4 0,4-1 0,-1-1 0,0-5 0,0 5 0,-3-5 0,3 11 0,-6-10 0,6 10 0,-3-10 0,1 4 0,1 0 0,-4-4 0,4 9 0,-4-9 0,4 4 0,-4-5 0,4 5 0,-4-4 0,2 4 0,-3-6 0,3 1 0,-3-1 0,3 1 0,-3-1 0,0 1 0,0-1 0,0 1 0,0-1 0,0 1 0,0-1 0,0 1 0,0-1 0,0 1 0,0-1 0,0 1 0,0-1 0,0 1 0,0-1 0,0 1 0,0-1 0,-3 1 0,2-1 0,-1 1 0,2-1 0,-3 7 0,2-6 0,-1 6 0,-1-1 0,2-5 0,-4 6 0,4-7 0,-5 6 0,6-4 0,-3 4 0,0 0 0,3-4 0,-6 10 0,5-10 0,-4 9 0,1-3 0,1-1 0,-3 5 0,6-10 0,-6 9 0,6-9 0,-6 10 0,3-10 0,-4 4 0,1 0 0,3-4 0,-3 9 0,6-9 0,-3 10 0,3-5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2T20:50:22.8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196 1 24575,'-6'0'0,"-1"0"0,1 0 0,0 0 0,0 0 0,0 0 0,0 6 0,0-5 0,0 5 0,0-1 0,-1-4 0,1 5 0,0-1 0,0-3 0,0 3 0,3 1 0,-3-5 0,3 10 0,-3-10 0,0 10 0,-1-9 0,1 9 0,0-4 0,0 5 0,0-5 0,0-2 0,2 1 0,2 1 0,-1-1 0,2 5 0,-4-9 0,4 9 0,-2-4 0,3 5 0,-2-5 0,1 4 0,-2-4 0,1 5 0,1 0 0,-2 0 0,3 1 0,0-1 0,0 0 0,-2 1 0,1-1 0,-2 0 0,3 1 0,0-1 0,0 0 0,0 1 0,-3-1 0,3 0 0,-3 1 0,3-1 0,0 0 0,0 1 0,0-1 0,0 0 0,0 1 0,0-1 0,3 0 0,-3 1 0,3-1 0,-3 0 0,3 1 0,0-1 0,0 0 0,0 1 0,0-6 0,0 9 0,1-2 0,1-1 0,-4 4 0,4-10 0,-2 5 0,3 0 0,-2 1 0,4-1 0,-4 0 0,4 1 0,-1-7 0,-1 5 0,0-4 0,0 0 0,0-1 0,-3-1 0,2-4 0,-1 10 0,2-9 0,0 3 0,0 1 0,0-5 0,0 5 0,0-1 0,3-4 0,-3 5 0,3-6 0,-3 0 0,3 0 0,-2 0 0,1 0 0,6-6 0,-3 5 0,4-5 0,-6 1 0,-3 4 0,0-11 0,0 11 0,0-5 0,-3 1 0,2 4 0,-1-5 0,-1 0 0,3 5 0,-3-4 0,3-1 0,0-1 0,0-5 0,0 5 0,-3-5 0,3 11 0,-6-10 0,6 10 0,-3-10 0,1 4 0,1 0 0,-4-4 0,4 9 0,-4-9 0,4 4 0,-4-5 0,4 5 0,-4-4 0,1 4 0,-2-6 0,3 1 0,-2-1 0,1 1 0,-2-1 0,0 1 0,0-1 0,0 1 0,0-1 0,0 1 0,0-1 0,0 1 0,0-1 0,0 1 0,0-1 0,0 1 0,0-1 0,0 1 0,0-1 0,0 1 0,0-1 0,-2 1 0,1-1 0,-2 1 0,3-1 0,-2 7 0,1-6 0,-2 6 0,0-1 0,3-5 0,-6 6 0,6-7 0,-6 6 0,6-4 0,-3 4 0,0 0 0,2-4 0,-4 10 0,4-10 0,-4 9 0,1-3 0,1-1 0,-2 5 0,4-10 0,-4 9 0,4-9 0,-5 10 0,3-10 0,-3 4 0,0 0 0,2-4 0,-1 9 0,4-9 0,-1 10 0,2-5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2T20:50:35.3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182 1 24575,'-6'0'0,"1"0"0,-1 0 0,0 0 0,1 0 0,-1 0 0,0 6 0,1-5 0,-1 5 0,0-1 0,1-4 0,-1 5 0,0-1 0,0-3 0,1 3 0,2 1 0,-2-5 0,1 10 0,-1-10 0,-1 10 0,0-9 0,1 9 0,-1-4 0,0 5 0,1-5 0,-1-2 0,3 1 0,0 1 0,1-1 0,1 5 0,-4-9 0,4 9 0,-1-4 0,2 5 0,-3-5 0,3 4 0,-3-4 0,1 5 0,1 0 0,-2 0 0,3 1 0,0-1 0,0 0 0,-2 1 0,1-1 0,-1 0 0,2 1 0,0-1 0,0 0 0,0 1 0,-3-1 0,3 0 0,-3 1 0,3-1 0,0 0 0,0 1 0,0-1 0,0 0 0,0 1 0,0-1 0,3 0 0,-3 1 0,3-1 0,-3 0 0,2 1 0,1-1 0,0 0 0,0 1 0,-1-6 0,1 9 0,1-2 0,1-1 0,-5 4 0,5-10 0,-2 5 0,3 0 0,-3 1 0,5-1 0,-5 0 0,5 1 0,-2-7 0,0 5 0,-1-4 0,1 0 0,0-1 0,-3-1 0,2-4 0,-2 10 0,2-9 0,1 3 0,0 1 0,-1-5 0,1 5 0,0-1 0,2-4 0,-2 5 0,2-6 0,-2 0 0,2 0 0,-2 0 0,2 0 0,5-6 0,-3 5 0,4-5 0,-6 1 0,-2 4 0,-1-11 0,1 11 0,0-5 0,-3 1 0,2 4 0,-2-5 0,0 0 0,2 5 0,-2-4 0,3-1 0,-1-1 0,1-5 0,-1 5 0,-1-5 0,1 11 0,-5-10 0,5 10 0,-2-10 0,0 4 0,2 0 0,-4-4 0,4 9 0,-4-9 0,4 4 0,-5-5 0,5 5 0,-4-4 0,1 4 0,-2-6 0,3 1 0,-2-1 0,1 1 0,-2-1 0,0 1 0,0-1 0,0 1 0,0-1 0,0 1 0,0-1 0,0 1 0,0-1 0,0 1 0,0-1 0,0 1 0,0-1 0,0 1 0,0-1 0,0 1 0,0-1 0,-2 1 0,1-1 0,-2 1 0,3-1 0,-2 7 0,1-6 0,-1 6 0,-1-1 0,3-5 0,-6 6 0,6-7 0,-5 6 0,4-4 0,-1 4 0,-1 0 0,2-4 0,-4 10 0,5-10 0,-5 9 0,2-3 0,-1-1 0,-1 5 0,5-10 0,-5 9 0,4-9 0,-4 10 0,2-10 0,-3 4 0,0 0 0,3-4 0,-2 9 0,5-9 0,-3 10 0,3-5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2T21:11:49.5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203 1 24575,'-6'0'0,"-1"0"0,1 0 0,0 0 0,-1 0 0,1 0 0,0 6 0,-1-5 0,1 5 0,0-1 0,-1-4 0,1 5 0,0-1 0,-1-3 0,1 3 0,2 1 0,-1-5 0,1 10 0,-2-10 0,0 10 0,-1-9 0,1 9 0,-1-4 0,1 5 0,0-5 0,-1-2 0,4 1 0,0 1 0,0-1 0,3 5 0,-6-9 0,5 9 0,-2-4 0,3 5 0,-2-5 0,1 4 0,-2-4 0,0 5 0,3 0 0,-3 0 0,3 1 0,0-1 0,0 0 0,-3 1 0,2-1 0,-2 0 0,3 1 0,0-1 0,0 0 0,0 1 0,-2-1 0,1 0 0,-2 1 0,3-1 0,0 0 0,0 1 0,0-1 0,0 0 0,0 1 0,0-1 0,3 0 0,-3 1 0,3-1 0,-3 0 0,3 1 0,1-1 0,-1 0 0,0 1 0,0-6 0,0 9 0,1-2 0,1-1 0,-4 4 0,4-10 0,-1 5 0,2 0 0,-2 1 0,4-1 0,-4 0 0,5 1 0,-3-7 0,1 5 0,-1-4 0,0 0 0,1-1 0,-4-1 0,3-4 0,-3 10 0,3-9 0,1 3 0,-1 1 0,0-5 0,0 5 0,1-1 0,2-4 0,-2 5 0,2-6 0,-3 0 0,3 0 0,-2 0 0,2 0 0,6-6 0,-4 5 0,4-5 0,-6 1 0,-2 4 0,-1-11 0,0 11 0,0-5 0,-2 1 0,1 4 0,-1-5 0,-1 0 0,3 5 0,-3-4 0,4-1 0,-1-1 0,0-5 0,0 5 0,-2-5 0,2 11 0,-6-10 0,6 10 0,-3-10 0,1 4 0,1 0 0,-4-4 0,5 9 0,-6-9 0,6 4 0,-5-5 0,4 5 0,-4-4 0,2 4 0,-3-6 0,2 1 0,-1-1 0,2 1 0,-3-1 0,0 1 0,0-1 0,0 1 0,0-1 0,0 1 0,0-1 0,0 1 0,0-1 0,0 1 0,0-1 0,0 1 0,0-1 0,0 1 0,0-1 0,0 1 0,0-1 0,-3 1 0,2-1 0,-1 1 0,2-1 0,-3 7 0,2-6 0,-2 6 0,0-1 0,3-5 0,-6 6 0,5-7 0,-4 6 0,4-4 0,-2 4 0,0 0 0,3-4 0,-6 10 0,5-10 0,-4 9 0,1-3 0,1-1 0,-3 5 0,5-10 0,-4 9 0,4-9 0,-5 10 0,3-10 0,-4 4 0,1 0 0,2-4 0,-1 9 0,4-9 0,-2 10 0,3-5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2T21:11:54.3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205 1 24575,'-7'0'0,"1"0"0,-1 0 0,1 0 0,0 0 0,-1 0 0,1 6 0,-1-5 0,1 5 0,0-1 0,-1-4 0,1 5 0,-1-1 0,1-3 0,0 3 0,2 1 0,-2-5 0,3 10 0,-4-10 0,1 10 0,0-9 0,-1 9 0,1-4 0,0 5 0,-1-5 0,1-2 0,2 1 0,1 1 0,1-1 0,1 5 0,-5-9 0,5 9 0,-1-4 0,2 5 0,-3-5 0,2 4 0,-2-4 0,0 5 0,3 0 0,-3 0 0,3 1 0,0-1 0,0 0 0,-3 1 0,2-1 0,-2 0 0,3 1 0,0-1 0,0 0 0,0 1 0,-2-1 0,1 0 0,-2 1 0,3-1 0,0 0 0,0 1 0,0-1 0,0 0 0,0 1 0,0-1 0,3 0 0,-2 1 0,1-1 0,-2 0 0,3 1 0,1-1 0,-1 0 0,0 1 0,0-6 0,0 9 0,1-2 0,1-1 0,-4 4 0,5-10 0,-3 5 0,3 0 0,-2 1 0,4-1 0,-3 0 0,4 1 0,-3-7 0,0 5 0,1-4 0,-1 0 0,0-1 0,-2-1 0,1-4 0,-1 10 0,2-9 0,1 3 0,-1 1 0,0-5 0,0 5 0,1-1 0,2-4 0,-2 5 0,2-6 0,-3 0 0,3 0 0,-2 0 0,3 0 0,4-6 0,-3 5 0,5-5 0,-7 1 0,-3 4 0,1-11 0,-1 11 0,0-5 0,-2 1 0,1 4 0,-1-5 0,-1 0 0,3 5 0,-3-4 0,4-1 0,-1-1 0,0-5 0,1 5 0,-4-5 0,3 11 0,-5-10 0,4 10 0,-1-10 0,-1 4 0,3 0 0,-6-4 0,6 9 0,-5-9 0,4 4 0,-4-5 0,5 5 0,-6-4 0,3 4 0,-3-6 0,3 1 0,-2-1 0,2 1 0,-3-1 0,0 1 0,0-1 0,0 1 0,0-1 0,0 1 0,0-1 0,0 1 0,0-1 0,0 1 0,0-1 0,0 1 0,0-1 0,0 1 0,0-1 0,0 1 0,0-1 0,-3 1 0,2-1 0,-2 1 0,3-1 0,-3 7 0,3-6 0,-3 6 0,0-1 0,2-5 0,-5 6 0,6-7 0,-6 6 0,5-4 0,-1 4 0,-1 0 0,2-4 0,-5 10 0,6-10 0,-6 9 0,2-3 0,1-1 0,-3 5 0,5-10 0,-4 9 0,4-9 0,-5 10 0,3-10 0,-4 4 0,1 0 0,2-4 0,-1 9 0,4-9 0,-2 10 0,3-5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2T21:49:16.5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252 1 24575,'-8'0'0,"0"0"0,0 0 0,1 0 0,-1 0 0,0 0 0,0 6 0,0-5 0,0 5 0,0-1 0,0-4 0,1 5 0,-1-1 0,0-3 0,0 3 0,4 1 0,-3-5 0,2 10 0,-3-10 0,0 10 0,1-9 0,-1 9 0,0-4 0,0 5 0,0-5 0,0-2 0,4 1 0,0 1 0,1-1 0,2 5 0,-6-9 0,6 9 0,-2-4 0,3 5 0,-4-5 0,3 4 0,-2-4 0,-1 5 0,3 0 0,-2 0 0,3 1 0,0-1 0,0 0 0,-4 1 0,3-1 0,-2 0 0,3 1 0,0-1 0,0 0 0,0 1 0,-4-1 0,4 0 0,-4 1 0,4-1 0,0 0 0,0 1 0,0-1 0,0 0 0,0 1 0,0-1 0,3 0 0,-2 1 0,3-1 0,-4 0 0,3 1 0,2-1 0,-1 0 0,-1 1 0,1-6 0,0 9 0,0-2 0,3-1 0,-6 4 0,6-10 0,-3 5 0,4 0 0,-3 1 0,5-1 0,-5 0 0,6 1 0,-3-7 0,0 5 0,0-4 0,-1 0 0,1-1 0,-3-1 0,1-4 0,-1 10 0,3-9 0,-1 3 0,1 1 0,0-5 0,0 5 0,-1-1 0,5-4 0,-4 5 0,4-6 0,-5 0 0,5 0 0,-4 0 0,3 0 0,8-6 0,-6 5 0,6-5 0,-7 1 0,-5 4 0,1-11 0,0 11 0,0-5 0,-4 1 0,3 4 0,-3-5 0,1 0 0,2 5 0,-3-4 0,4-1 0,0-1 0,-1-5 0,1 5 0,-4-5 0,3 11 0,-6-10 0,6 10 0,-3-10 0,1 4 0,2 0 0,-7-4 0,7 9 0,-6-9 0,6 4 0,-6-5 0,6 5 0,-6-4 0,2 4 0,-3-6 0,4 1 0,-3-1 0,2 1 0,-3-1 0,0 1 0,0-1 0,0 1 0,0-1 0,0 1 0,0-1 0,0 1 0,0-1 0,0 1 0,0-1 0,0 1 0,0-1 0,0 1 0,0-1 0,0 1 0,0-1 0,-3 1 0,2-1 0,-3 1 0,4-1 0,-3 7 0,2-6 0,-3 6 0,1-1 0,2-5 0,-6 6 0,6-7 0,-6 6 0,6-4 0,-2 4 0,-1 0 0,3-4 0,-6 10 0,6-10 0,-6 9 0,3-3 0,0-1 0,-3 5 0,6-10 0,-6 9 0,6-9 0,-6 10 0,3-10 0,-4 4 0,0 0 0,3-4 0,-2 9 0,7-9 0,-4 10 0,4-5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2T21:49:20.7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209 1 24575,'-6'0'0,"-1"0"0,0 0 0,1 0 0,-1 0 0,1 0 0,-1 6 0,1-5 0,-1 5 0,1-1 0,-1-4 0,1 5 0,-1-1 0,1-3 0,-1 3 0,3 1 0,-1-5 0,1 10 0,-3-10 0,1 10 0,-1-9 0,1 9 0,-1-4 0,1 5 0,-1-5 0,1-2 0,2 1 0,1 1 0,0-1 0,3 5 0,-6-9 0,5 9 0,-2-4 0,3 5 0,-3-5 0,3 4 0,-3-4 0,0 5 0,2 0 0,-2 0 0,3 1 0,0-1 0,0 0 0,-3 1 0,2-1 0,-1 0 0,2 1 0,0-1 0,0 0 0,0 1 0,-3-1 0,2 0 0,-2 1 0,3-1 0,0 0 0,0 1 0,0-1 0,0 0 0,0 1 0,0-1 0,3 0 0,-2 1 0,1-1 0,-2 0 0,3 1 0,1-1 0,-1 0 0,0 1 0,0-6 0,1 9 0,-1-2 0,3-1 0,-5 4 0,5-10 0,-3 5 0,4 0 0,-4 1 0,6-1 0,-5 0 0,5 1 0,-2-7 0,-1 5 0,1-4 0,-1 0 0,1-1 0,-4-1 0,3-4 0,-2 10 0,2-9 0,0 3 0,1 1 0,-1-5 0,1 5 0,-1-1 0,4-4 0,-3 5 0,2-6 0,-2 0 0,2 0 0,-2 0 0,2 0 0,6-6 0,-3 5 0,4-5 0,-7 1 0,-3 4 0,1-11 0,-1 11 0,1-5 0,-4 1 0,3 4 0,-2-5 0,-1 0 0,3 5 0,-2-4 0,2-1 0,0-1 0,1-5 0,-1 5 0,-2-5 0,2 11 0,-6-10 0,6 10 0,-2-10 0,-1 4 0,3 0 0,-5-4 0,4 9 0,-4-9 0,5 4 0,-5-5 0,4 5 0,-4-4 0,2 4 0,-3-6 0,3 1 0,-3-1 0,3 1 0,-3-1 0,0 1 0,0-1 0,0 1 0,0-1 0,0 1 0,0-1 0,0 1 0,0-1 0,0 1 0,0-1 0,0 1 0,0-1 0,0 1 0,0-1 0,0 1 0,0-1 0,-3 1 0,3-1 0,-3 1 0,3-1 0,-3 7 0,2-6 0,-2 6 0,0-1 0,3-5 0,-6 6 0,5-7 0,-5 6 0,6-4 0,-3 4 0,0 0 0,2-4 0,-5 10 0,6-10 0,-6 9 0,2-3 0,0-1 0,-1 5 0,4-10 0,-5 9 0,5-9 0,-4 10 0,1-10 0,-3 4 0,1 0 0,2-4 0,-2 9 0,6-9 0,-3 10 0,3-5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2T21:50:48.2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203 1 24575,'-6'0'0,"-1"0"0,1 0 0,0 0 0,-1 0 0,1 0 0,0 6 0,-1-5 0,1 5 0,0-1 0,-1-4 0,1 5 0,0-1 0,-1-3 0,1 3 0,2 1 0,-1-5 0,1 10 0,-2-10 0,0 10 0,-1-9 0,1 9 0,-1-4 0,1 5 0,0-5 0,-1-2 0,4 1 0,0 1 0,0-1 0,3 5 0,-6-9 0,5 9 0,-2-4 0,3 5 0,-2-5 0,1 4 0,-2-4 0,0 5 0,3 0 0,-3 0 0,3 1 0,0-1 0,0 0 0,-3 1 0,2-1 0,-2 0 0,3 1 0,0-1 0,0 0 0,0 1 0,-2-1 0,1 0 0,-2 1 0,3-1 0,0 0 0,0 1 0,0-1 0,0 0 0,0 1 0,0-1 0,3 0 0,-3 1 0,3-1 0,-3 0 0,3 1 0,1-1 0,-1 0 0,0 1 0,0-6 0,0 9 0,1-2 0,1-1 0,-4 4 0,4-10 0,-1 5 0,2 0 0,-2 1 0,4-1 0,-4 0 0,5 1 0,-3-7 0,1 5 0,-1-4 0,0 0 0,1-1 0,-4-1 0,3-4 0,-3 10 0,3-9 0,1 3 0,-1 1 0,0-5 0,0 5 0,1-1 0,2-4 0,-2 5 0,2-6 0,-3 0 0,3 0 0,-2 0 0,2 0 0,6-6 0,-4 5 0,4-5 0,-6 1 0,-2 4 0,-1-11 0,0 11 0,0-5 0,-2 1 0,1 4 0,-1-5 0,-1 0 0,3 5 0,-3-4 0,4-1 0,-1-1 0,0-5 0,0 5 0,-2-5 0,2 11 0,-6-10 0,6 10 0,-3-10 0,1 4 0,1 0 0,-4-4 0,5 9 0,-6-9 0,6 4 0,-5-5 0,4 5 0,-4-4 0,2 4 0,-3-6 0,2 1 0,-1-1 0,2 1 0,-3-1 0,0 1 0,0-1 0,0 1 0,0-1 0,0 1 0,0-1 0,0 1 0,0-1 0,0 1 0,0-1 0,0 1 0,0-1 0,0 1 0,0-1 0,0 1 0,0-1 0,-3 1 0,2-1 0,-1 1 0,2-1 0,-3 7 0,2-6 0,-2 6 0,0-1 0,3-5 0,-6 6 0,5-7 0,-4 6 0,4-4 0,-2 4 0,0 0 0,3-4 0,-6 10 0,5-10 0,-4 9 0,1-3 0,1-1 0,-3 5 0,5-10 0,-4 9 0,4-9 0,-5 10 0,3-10 0,-4 4 0,1 0 0,2-4 0,-1 9 0,4-9 0,-2 10 0,3-5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2T21:50:54.3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205 1 24575,'-7'0'0,"1"0"0,-1 0 0,1 0 0,0 0 0,-1 0 0,1 6 0,-1-5 0,1 5 0,0-1 0,-1-4 0,1 5 0,-1-1 0,1-3 0,0 3 0,2 1 0,-2-5 0,3 10 0,-4-10 0,1 10 0,0-9 0,-1 9 0,1-4 0,0 5 0,-1-5 0,1-2 0,2 1 0,1 1 0,1-1 0,1 5 0,-5-9 0,5 9 0,-1-4 0,2 5 0,-3-5 0,2 4 0,-2-4 0,0 5 0,3 0 0,-3 0 0,3 1 0,0-1 0,0 0 0,-3 1 0,2-1 0,-2 0 0,3 1 0,0-1 0,0 0 0,0 1 0,-2-1 0,1 0 0,-2 1 0,3-1 0,0 0 0,0 1 0,0-1 0,0 0 0,0 1 0,0-1 0,3 0 0,-2 1 0,1-1 0,-2 0 0,3 1 0,1-1 0,-1 0 0,0 1 0,0-6 0,0 9 0,1-2 0,1-1 0,-4 4 0,5-10 0,-3 5 0,3 0 0,-2 1 0,4-1 0,-3 0 0,4 1 0,-3-7 0,0 5 0,1-4 0,-1 0 0,0-1 0,-2-1 0,1-4 0,-1 10 0,2-9 0,1 3 0,-1 1 0,0-5 0,0 5 0,1-1 0,2-4 0,-2 5 0,2-6 0,-3 0 0,3 0 0,-2 0 0,3 0 0,4-6 0,-3 5 0,5-5 0,-7 1 0,-3 4 0,1-11 0,-1 11 0,0-5 0,-2 1 0,1 4 0,-1-5 0,-1 0 0,3 5 0,-3-4 0,4-1 0,-1-1 0,0-5 0,1 5 0,-4-5 0,3 11 0,-5-10 0,4 10 0,-1-10 0,-1 4 0,3 0 0,-6-4 0,6 9 0,-5-9 0,4 4 0,-4-5 0,5 5 0,-6-4 0,3 4 0,-3-6 0,3 1 0,-2-1 0,2 1 0,-3-1 0,0 1 0,0-1 0,0 1 0,0-1 0,0 1 0,0-1 0,0 1 0,0-1 0,0 1 0,0-1 0,0 1 0,0-1 0,0 1 0,0-1 0,0 1 0,0-1 0,-3 1 0,2-1 0,-2 1 0,3-1 0,-3 7 0,3-6 0,-3 6 0,0-1 0,2-5 0,-5 6 0,6-7 0,-6 6 0,5-4 0,-1 4 0,-1 0 0,2-4 0,-5 10 0,6-10 0,-6 9 0,2-3 0,1-1 0,-3 5 0,5-10 0,-4 9 0,4-9 0,-5 10 0,3-10 0,-4 4 0,1 0 0,2-4 0,-1 9 0,4-9 0,-2 10 0,3-5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2T21:51:02.9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288 1 24575,'-9'0'0,"0"0"0,0 0 0,0 0 0,0 0 0,0 0 0,0 6 0,0-5 0,0 5 0,0-1 0,0-4 0,0 5 0,0-1 0,0-3 0,0 3 0,4 1 0,-3-5 0,3 10 0,-4-10 0,0 10 0,0-9 0,0 9 0,0-4 0,0 5 0,0-5 0,0-2 0,4 1 0,1 1 0,0-1 0,3 5 0,-7-9 0,7 9 0,-3-4 0,4 5 0,-4-5 0,3 4 0,-3-4 0,0 5 0,3 0 0,-3 0 0,4 1 0,0-1 0,0 0 0,-4 1 0,3-1 0,-3 0 0,4 1 0,0-1 0,0 0 0,0 1 0,-4-1 0,3 0 0,-3 1 0,4-1 0,0 0 0,0 1 0,0-1 0,0 0 0,0 1 0,0-1 0,4 0 0,-3 1 0,3-1 0,-4 0 0,4 1 0,1-1 0,0 0 0,-1 1 0,0-6 0,1 9 0,-1-2 0,4-1 0,-7 4 0,7-10 0,-3 5 0,4 0 0,-4 1 0,7-1 0,-6 0 0,7 1 0,-5-7 0,1 5 0,0-4 0,0 0 0,0-1 0,-4-1 0,3-4 0,-3 10 0,4-9 0,-1 3 0,1 1 0,0-5 0,0 5 0,0-1 0,4-4 0,-3 5 0,3-6 0,-5 0 0,5 0 0,-3 0 0,3 0 0,8-6 0,-6 5 0,7-5 0,-9 1 0,-4 4 0,0-11 0,0 11 0,-1-5 0,-3 1 0,3 4 0,-3-5 0,0 0 0,3 5 0,-3-4 0,4-1 0,0-1 0,0-5 0,-1 5 0,-3-5 0,3 11 0,-7-10 0,7 10 0,-3-10 0,0 4 0,3 0 0,-7-4 0,7 9 0,-7-9 0,7 4 0,-7-5 0,7 5 0,-7-4 0,3 4 0,-4-6 0,3 1 0,-2-1 0,3 1 0,-4-1 0,0 1 0,0-1 0,0 1 0,0-1 0,0 1 0,0-1 0,0 1 0,0-1 0,0 1 0,0-1 0,0 1 0,0-1 0,0 1 0,0-1 0,0 1 0,0-1 0,-4 1 0,3-1 0,-3 1 0,4-1 0,-4 7 0,3-6 0,-3 6 0,0-1 0,3-5 0,-7 6 0,7-7 0,-7 6 0,7-4 0,-3 4 0,0 0 0,3-4 0,-7 10 0,7-10 0,-7 9 0,3-3 0,0-1 0,-3 5 0,7-10 0,-7 9 0,7-9 0,-7 10 0,3-10 0,-4 4 0,0 0 0,4-4 0,-3 9 0,7-9 0,-3 10 0,4-5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2T21:51:08.6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238 1 24575,'-8'0'0,"1"0"0,0 0 0,-1 0 0,1 0 0,-1 0 0,1 6 0,-1-5 0,1 5 0,0-1 0,-1-4 0,1 5 0,-1-1 0,1-3 0,-1 3 0,4 1 0,-2-5 0,2 10 0,-4-10 0,1 10 0,-1-9 0,1 9 0,-1-4 0,1 5 0,-1-5 0,1-2 0,3 1 0,1 1 0,-1-1 0,3 5 0,-5-9 0,5 9 0,-2-4 0,3 5 0,-4-5 0,4 4 0,-4-4 0,1 5 0,2 0 0,-2 0 0,3 1 0,0-1 0,0 0 0,-3 1 0,2-1 0,-3 0 0,4 1 0,0-1 0,0 0 0,0 1 0,-3-1 0,2 0 0,-2 1 0,3-1 0,0 0 0,0 1 0,0-1 0,0 0 0,0 1 0,0-1 0,3 0 0,-2 1 0,2-1 0,-3 0 0,4 1 0,0-1 0,0 0 0,-1 1 0,0-6 0,1 9 0,0-2 0,3-1 0,-6 4 0,5-10 0,-2 5 0,4 0 0,-4 1 0,6-1 0,-5 0 0,5 1 0,-3-7 0,1 5 0,-1-4 0,0 0 0,1-1 0,-4-1 0,2-4 0,-2 10 0,4-9 0,-1 3 0,1 1 0,-1-5 0,0 5 0,1-1 0,2-4 0,-2 5 0,3-6 0,-4 0 0,4 0 0,-3 0 0,3 0 0,6-6 0,-4 5 0,5-5 0,-8 1 0,-2 4 0,-1-11 0,0 11 0,1-5 0,-4 1 0,2 4 0,-2-5 0,0 0 0,3 5 0,-3-4 0,3-1 0,1-1 0,-1-5 0,0 5 0,-3-5 0,3 11 0,-6-10 0,5 10 0,-2-10 0,1 4 0,1 0 0,-5-4 0,5 9 0,-5-9 0,6 4 0,-6-5 0,5 5 0,-5-4 0,2 4 0,-3-6 0,3 1 0,-2-1 0,2 1 0,-3-1 0,0 1 0,0-1 0,0 1 0,0-1 0,0 1 0,0-1 0,0 1 0,0-1 0,0 1 0,0-1 0,0 1 0,0-1 0,0 1 0,0-1 0,0 1 0,0-1 0,-3 1 0,2-1 0,-2 1 0,3-1 0,-3 7 0,2-6 0,-2 6 0,-1-1 0,3-5 0,-5 6 0,5-7 0,-6 6 0,7-4 0,-4 4 0,1 0 0,2-4 0,-5 10 0,5-10 0,-6 9 0,3-3 0,0-1 0,-3 5 0,6-10 0,-5 9 0,5-9 0,-6 10 0,3-10 0,-3 4 0,-1 0 0,4-4 0,-2 9 0,5-9 0,-2 10 0,3-5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2T21:51:14.1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165 1 24575,'-6'0'0,"1"0"0,0 0 0,0 0 0,0 0 0,0 0 0,0 6 0,-1-5 0,1 5 0,0-1 0,0-4 0,0 5 0,0-1 0,0-3 0,-1 3 0,4 1 0,-3-5 0,2 10 0,-2-10 0,0 10 0,0-9 0,0 9 0,-1-4 0,1 5 0,0-5 0,0-2 0,2 1 0,1 1 0,0-1 0,1 5 0,-4-9 0,5 9 0,-2-4 0,2 5 0,-3-5 0,3 4 0,-3-4 0,1 5 0,2 0 0,-3 0 0,3 1 0,0-1 0,0 0 0,-2 1 0,1-1 0,-1 0 0,2 1 0,0-1 0,0 0 0,0 1 0,-2-1 0,1 0 0,-1 1 0,2-1 0,0 0 0,0 1 0,0-1 0,0 0 0,0 1 0,0-1 0,2 0 0,-1 1 0,1-1 0,-2 0 0,2 1 0,1-1 0,0 0 0,-1 1 0,1-6 0,-1 9 0,1-2 0,2-1 0,-5 4 0,5-10 0,-2 5 0,2 0 0,-3 1 0,5-1 0,-3 0 0,3 1 0,-2-7 0,0 5 0,0-4 0,0 0 0,0-1 0,-2-1 0,2-4 0,-2 10 0,2-9 0,0 3 0,0 1 0,0-5 0,0 5 0,0-1 0,2-4 0,-1 5 0,1-6 0,-2 0 0,3 0 0,-3 0 0,3 0 0,4-6 0,-3 5 0,3-5 0,-5 1 0,-2 4 0,1-11 0,-1 11 0,0-5 0,-3 1 0,3 4 0,-2-5 0,0 0 0,1 5 0,-1-4 0,2-1 0,0-1 0,0-5 0,0 5 0,-2-5 0,2 11 0,-5-10 0,5 10 0,-2-10 0,-1 4 0,3 0 0,-5-4 0,5 9 0,-4-9 0,3 4 0,-3-5 0,3 5 0,-3-4 0,1 4 0,-2-6 0,2 1 0,-1-1 0,1 1 0,-2-1 0,0 1 0,0-1 0,0 1 0,0-1 0,0 1 0,0-1 0,0 1 0,0-1 0,0 1 0,0-1 0,0 1 0,0-1 0,0 1 0,0-1 0,0 1 0,0-1 0,-2 1 0,1-1 0,-1 1 0,2-1 0,-2 7 0,1-6 0,-1 6 0,-1-1 0,3-5 0,-5 6 0,5-7 0,-5 6 0,5-4 0,-3 4 0,1 0 0,1-4 0,-3 10 0,3-10 0,-3 9 0,1-3 0,0-1 0,-2 5 0,5-10 0,-5 9 0,5-9 0,-5 10 0,2-10 0,-2 4 0,0 0 0,2-4 0,-1 9 0,3-9 0,-1 10 0,2-5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2T21:51:17.9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310 1 24575,'-10'0'0,"1"0"0,-1 0 0,0 0 0,1 0 0,-1 0 0,0 6 0,0-5 0,1 5 0,-1-1 0,0-4 0,1 5 0,-1-1 0,0-3 0,1 3 0,3 1 0,-2-5 0,2 10 0,-3-10 0,-1 10 0,0-9 0,1 9 0,-1-4 0,0 5 0,1-5 0,-1-2 0,4 1 0,2 1 0,0-1 0,3 5 0,-8-9 0,8 9 0,-3-4 0,4 5 0,-5-5 0,4 4 0,-3-4 0,0 5 0,3 0 0,-4 0 0,5 1 0,0-1 0,0 0 0,-4 1 0,3-1 0,-3 0 0,4 1 0,0-1 0,0 0 0,0 1 0,-5-1 0,4 0 0,-3 1 0,4-1 0,0 0 0,0 1 0,0-1 0,0 0 0,0 1 0,0-1 0,4 0 0,-3 1 0,4-1 0,-5 0 0,4 1 0,1-1 0,0 0 0,0 1 0,-1-6 0,1 9 0,1-2 0,2-1 0,-7 4 0,8-10 0,-4 5 0,5 0 0,-5 1 0,8-1 0,-7 0 0,8 1 0,-5-7 0,1 5 0,-1-4 0,1 0 0,0-1 0,-5-1 0,3-4 0,-2 10 0,3-9 0,1 3 0,-1 1 0,1-5 0,0 5 0,-1-1 0,5-4 0,-3 5 0,2-6 0,-3 0 0,4 0 0,-4 0 0,4 0 0,8-6 0,-5 5 0,7-5 0,-10 1 0,-5 4 0,1-11 0,-1 11 0,1-5 0,-5 1 0,4 4 0,-4-5 0,0 0 0,4 5 0,-4-4 0,5-1 0,-1-1 0,1-5 0,-1 5 0,-3-5 0,2 11 0,-7-10 0,8 10 0,-4-10 0,0 4 0,4 0 0,-8-4 0,8 9 0,-8-9 0,7 4 0,-7-5 0,8 5 0,-8-4 0,3 4 0,-4-6 0,4 1 0,-3-1 0,4 1 0,-5-1 0,0 1 0,0-1 0,0 1 0,0-1 0,0 1 0,0-1 0,0 1 0,0-1 0,0 1 0,0-1 0,0 1 0,0-1 0,0 1 0,0-1 0,0 1 0,0-1 0,-5 1 0,4-1 0,-3 1 0,4-1 0,-4 7 0,2-6 0,-2 6 0,0-1 0,3-5 0,-8 6 0,8-7 0,-8 6 0,8-4 0,-3 4 0,0 0 0,3-4 0,-8 10 0,8-10 0,-8 9 0,4-3 0,0-1 0,-4 5 0,8-10 0,-8 9 0,8-9 0,-7 10 0,2-10 0,-3 4 0,-1 0 0,5-4 0,-4 9 0,8-9 0,-3 10 0,4-5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22T21:51:27.3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310 1 24575,'-10'0'0,"1"0"0,-1 0 0,0 0 0,1 0 0,-1 0 0,0 6 0,0-5 0,1 5 0,-1-1 0,0-4 0,1 5 0,-1-1 0,0-3 0,1 3 0,3 1 0,-2-5 0,2 10 0,-3-10 0,-1 10 0,0-9 0,1 9 0,-1-4 0,0 5 0,1-5 0,-1-2 0,4 1 0,2 1 0,0-1 0,3 5 0,-8-9 0,8 9 0,-3-4 0,4 5 0,-5-5 0,4 4 0,-3-4 0,0 5 0,3 0 0,-4 0 0,5 1 0,0-1 0,0 0 0,-4 1 0,3-1 0,-3 0 0,4 1 0,0-1 0,0 0 0,0 1 0,-5-1 0,4 0 0,-3 1 0,4-1 0,0 0 0,0 1 0,0-1 0,0 0 0,0 1 0,0-1 0,4 0 0,-3 1 0,4-1 0,-5 0 0,4 1 0,1-1 0,0 0 0,0 1 0,-1-6 0,1 9 0,1-2 0,2-1 0,-7 4 0,8-10 0,-4 5 0,5 0 0,-5 1 0,8-1 0,-7 0 0,8 1 0,-5-7 0,1 5 0,-1-4 0,1 0 0,0-1 0,-5-1 0,3-4 0,-2 10 0,3-9 0,1 3 0,-1 1 0,1-5 0,0 5 0,-1-1 0,5-4 0,-3 5 0,2-6 0,-3 0 0,4 0 0,-4 0 0,4 0 0,8-6 0,-5 5 0,7-5 0,-10 1 0,-5 4 0,1-11 0,-1 11 0,1-5 0,-5 1 0,4 4 0,-4-5 0,0 0 0,4 5 0,-4-4 0,5-1 0,-1-1 0,1-5 0,-1 5 0,-3-5 0,2 11 0,-7-10 0,8 10 0,-4-10 0,0 4 0,4 0 0,-8-4 0,8 9 0,-8-9 0,7 4 0,-7-5 0,8 5 0,-8-4 0,3 4 0,-4-6 0,4 1 0,-3-1 0,4 1 0,-5-1 0,0 1 0,0-1 0,0 1 0,0-1 0,0 1 0,0-1 0,0 1 0,0-1 0,0 1 0,0-1 0,0 1 0,0-1 0,0 1 0,0-1 0,0 1 0,0-1 0,-5 1 0,4-1 0,-3 1 0,4-1 0,-4 7 0,2-6 0,-2 6 0,0-1 0,3-5 0,-8 6 0,8-7 0,-8 6 0,8-4 0,-3 4 0,0 0 0,3-4 0,-8 10 0,8-10 0,-8 9 0,4-3 0,0-1 0,-4 5 0,8-10 0,-8 9 0,8-9 0,-7 10 0,2-10 0,-3 4 0,-1 0 0,5-4 0,-4 9 0,8-9 0,-3 10 0,4-5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B3B795-5491-1B4D-853A-223AF804394A}" type="datetimeFigureOut">
              <a:rPr lang="es-ES" smtClean="0"/>
              <a:t>25/5/26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BDA97-07B3-BC4F-83D7-54DE218D5D1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3672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BDA97-07B3-BC4F-83D7-54DE218D5D16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3393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021D0C-1922-A34A-8E69-AE30F5B62746}" type="slidenum">
              <a:rPr lang="en-CZ" smtClean="0"/>
              <a:t>3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750646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BDA97-07B3-BC4F-83D7-54DE218D5D16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6287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BDA97-07B3-BC4F-83D7-54DE218D5D16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1475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BDA97-07B3-BC4F-83D7-54DE218D5D16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13636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BDA97-07B3-BC4F-83D7-54DE218D5D16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1609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BDA97-07B3-BC4F-83D7-54DE218D5D16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05489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BDA97-07B3-BC4F-83D7-54DE218D5D16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8864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BDA97-07B3-BC4F-83D7-54DE218D5D16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6684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BDA97-07B3-BC4F-83D7-54DE218D5D16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06964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BDA97-07B3-BC4F-83D7-54DE218D5D16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8495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BDA97-07B3-BC4F-83D7-54DE218D5D16}" type="slidenum">
              <a:rPr lang="es-ES" smtClean="0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43378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5BDA97-07B3-BC4F-83D7-54DE218D5D16}" type="slidenum">
              <a:rPr lang="es-ES" smtClean="0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7351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27A950-8DF0-71B0-4A27-88B727523C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65035B-1F2E-2BD9-3146-7E29F3557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D4A46C-598D-3563-B429-F3F21B4AA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7A279-641F-6D4D-8735-C6AB67479886}" type="datetime1">
              <a:rPr lang="es-ES" smtClean="0"/>
              <a:t>25/5/26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ACC29A-3A88-2F5F-F69E-A83375EF3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7403AF-D27A-2DE0-EE06-DFA169D41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2379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5B2D7E-953B-118F-F2C5-9C2794A21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D5F874-0E20-B251-EC7A-33A6D012B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F66935-CFC2-3089-F572-62572EEF5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3D417-8CE1-2A4B-8578-0C620EC29F7D}" type="datetime1">
              <a:rPr lang="es-ES" smtClean="0"/>
              <a:t>25/5/26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4CDD65-973A-78A1-09BB-225A00E7F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E965E1-EE42-D891-592B-904D8F61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5154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AAE71-2066-BE0E-206D-0444DCFA2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8A79C4-5F6B-4FC8-5622-8D3C2B914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2C543D-5DE2-84B0-6FB9-3CFECC6ED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076A7-90E9-7440-B124-211F7EFCC421}" type="datetime1">
              <a:rPr lang="es-ES" smtClean="0"/>
              <a:t>25/5/26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469D08-E17C-337E-3924-22A6D9FEE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A9E67C-4D6E-7077-8A85-E0FD4AF35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9869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938B35-CE16-C843-9336-278591A4E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CA9E5F-4FE7-27E4-4F17-B750F340E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00C8F8-EB40-1964-33C6-E7A398B96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287C3B-625F-8C2D-8203-0896D55E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46EDE-24BF-2041-B171-7878990814A6}" type="datetime1">
              <a:rPr lang="es-ES" smtClean="0"/>
              <a:t>25/5/26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B77F24-EE11-D0EB-EE48-B4EDC93A9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C43120-419A-97C5-7C5A-90C379055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790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5D498D-4A57-DDC7-3B53-5B2282039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EBEA4F-92D8-6E90-E276-9C94A3EB2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78E6C4A-3838-4F58-5AFB-59E7B89DA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089BE9B-7477-6BD0-2EF5-32551F03CA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624E6CD-8367-6838-693E-76E2781607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8A958F7-FEB2-3B9A-E600-0A32D8437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A5A09-2981-E949-9941-02AF6D079729}" type="datetime1">
              <a:rPr lang="es-ES" smtClean="0"/>
              <a:t>25/5/26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F2BF65D-EA49-C413-FB53-81D7CFD15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FBB6FFF-42CF-C96C-1A61-58B301A9F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5062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80C86F-9E4B-606D-EB9D-5B8ED3C36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D9D10D8-E62D-0836-C8C1-0A5DAE1B7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C34C6-E323-0B41-BD9E-D0210E5F9DB1}" type="datetime1">
              <a:rPr lang="es-ES" smtClean="0"/>
              <a:t>25/5/26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42CE55-52B4-7A0B-F5C0-9CC6FF987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F376DA6-FC47-F210-5408-649531CB0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6427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804BA8B-EDEF-B6E3-6B05-8B8484320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EDEF9-2D28-5440-A4FA-32FF2E3E03C9}" type="datetime1">
              <a:rPr lang="es-ES" smtClean="0"/>
              <a:t>25/5/26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B22B126-BA06-C237-E3D7-9FA2B1F23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50B797-1427-08DB-6E12-4E2B15362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430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42FF7-BB2E-E6C3-7B06-5CD8A165A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A66BB8-C2CF-51E4-BCBF-67B5A54FA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CB6ABE-0540-A6CB-B811-2A3C688E1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058BA4-50B5-5786-5A10-ED6DEF674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78801-736B-4A42-9045-537CB37B20B0}" type="datetime1">
              <a:rPr lang="es-ES" smtClean="0"/>
              <a:t>25/5/26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6BC2BF-5BE5-70D5-B6B7-F697AB3D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C8C735-21BA-5803-CB80-2E844A36A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3466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8C6151-3909-ABA8-2396-929118585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C259C98-D0AE-A03B-03E4-931843732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66D40F9-47E9-3095-0DA9-98B705C8E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9653E7-70BF-9B12-EFFA-CEBCCC8A6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AE1B-F736-DA4C-8BB7-7A2813EE8D7B}" type="datetime1">
              <a:rPr lang="es-ES" smtClean="0"/>
              <a:t>25/5/26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42F482-0EA0-60CA-DCF3-5C1E7BD0F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14367F-6CB2-0E80-28CB-CB73303F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6241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03E21-5E08-1A68-9789-38AD88CC4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502680-E6F5-2519-84F1-74FBBE237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66004-ADFB-24FB-7D92-61DDF7140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DD15E-4D06-E546-A0BD-44A598CE17E7}" type="datetime1">
              <a:rPr lang="es-ES" smtClean="0"/>
              <a:t>25/5/26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11B95B-05E2-86C1-BBEA-1668256B4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6DABCD-D72C-90E7-C46C-C160A85F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319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2C77EA4-1B6F-8A70-4C6A-8B0AC8D55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EE0132-31FB-EABF-E651-C5CE33C5A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4459C9-0027-BD88-0277-4070DCBBA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5F090-8DFE-B440-BF85-DC3828916743}" type="datetime1">
              <a:rPr lang="es-ES" smtClean="0"/>
              <a:t>25/5/26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90EF1D-8BFE-D766-6FBB-AED962670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2EFFA9-6651-5B33-2DB5-EEC8FAE3B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5737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2FEC9AA-6000-16CB-1779-8F7D87FD8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9096C5-0FF4-AAAA-CF14-DF0930BFC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8D4E7B-C8BB-AFFF-D4B6-172304C0E0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CD5C4-A247-7E44-9E36-B0F87180A929}" type="datetime1">
              <a:rPr lang="es-ES" smtClean="0"/>
              <a:t>25/5/26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8D8EFE-7068-9F51-4746-6DC8AE583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945853-07CA-A58B-C27F-324ACE30F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D847C6-19F4-3E4D-ABC0-9E12ED31ABB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776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microsoft.com/office/2007/relationships/hdphoto" Target="../media/hdphoto2.wdp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customXml" Target="../ink/ink8.xml"/><Relationship Id="rId26" Type="http://schemas.openxmlformats.org/officeDocument/2006/relationships/customXml" Target="../ink/ink13.xml"/><Relationship Id="rId3" Type="http://schemas.openxmlformats.org/officeDocument/2006/relationships/image" Target="../media/image12.png"/><Relationship Id="rId21" Type="http://schemas.openxmlformats.org/officeDocument/2006/relationships/image" Target="../media/image19.png"/><Relationship Id="rId7" Type="http://schemas.openxmlformats.org/officeDocument/2006/relationships/image" Target="../media/image13.png"/><Relationship Id="rId12" Type="http://schemas.openxmlformats.org/officeDocument/2006/relationships/customXml" Target="../ink/ink5.xml"/><Relationship Id="rId17" Type="http://schemas.openxmlformats.org/officeDocument/2006/relationships/image" Target="../media/image17.png"/><Relationship Id="rId25" Type="http://schemas.openxmlformats.org/officeDocument/2006/relationships/image" Target="../media/image20.png"/><Relationship Id="rId3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2.xml"/><Relationship Id="rId11" Type="http://schemas.openxmlformats.org/officeDocument/2006/relationships/image" Target="../media/image14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5" Type="http://schemas.openxmlformats.org/officeDocument/2006/relationships/image" Target="../media/image57.png"/><Relationship Id="rId15" Type="http://schemas.openxmlformats.org/officeDocument/2006/relationships/image" Target="../media/image16.png"/><Relationship Id="rId23" Type="http://schemas.openxmlformats.org/officeDocument/2006/relationships/customXml" Target="../ink/ink11.xml"/><Relationship Id="rId28" Type="http://schemas.openxmlformats.org/officeDocument/2006/relationships/customXml" Target="../ink/ink14.xml"/><Relationship Id="rId10" Type="http://schemas.openxmlformats.org/officeDocument/2006/relationships/customXml" Target="../ink/ink4.xml"/><Relationship Id="rId19" Type="http://schemas.openxmlformats.org/officeDocument/2006/relationships/image" Target="../media/image18.png"/><Relationship Id="rId31" Type="http://schemas.openxmlformats.org/officeDocument/2006/relationships/image" Target="../media/image23.png"/><Relationship Id="rId4" Type="http://schemas.openxmlformats.org/officeDocument/2006/relationships/customXml" Target="../ink/ink1.xml"/><Relationship Id="rId9" Type="http://schemas.openxmlformats.org/officeDocument/2006/relationships/image" Target="../media/image70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21.png"/><Relationship Id="rId30" Type="http://schemas.openxmlformats.org/officeDocument/2006/relationships/customXml" Target="../ink/ink15.xml"/><Relationship Id="rId8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hyperlink" Target="https://exponline.ugr.es/publix/1164/start?batchId=1373&amp;generalMultiple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0.png"/><Relationship Id="rId12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0.png"/><Relationship Id="rId11" Type="http://schemas.openxmlformats.org/officeDocument/2006/relationships/image" Target="../media/image33.png"/><Relationship Id="rId5" Type="http://schemas.openxmlformats.org/officeDocument/2006/relationships/image" Target="../media/image410.png"/><Relationship Id="rId10" Type="http://schemas.openxmlformats.org/officeDocument/2006/relationships/image" Target="../media/image32.png"/><Relationship Id="rId9" Type="http://schemas.openxmlformats.org/officeDocument/2006/relationships/image" Target="../media/image9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8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gif"/><Relationship Id="rId5" Type="http://schemas.openxmlformats.org/officeDocument/2006/relationships/image" Target="../media/image34.gif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90.png"/><Relationship Id="rId7" Type="http://schemas.openxmlformats.org/officeDocument/2006/relationships/image" Target="../media/image20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0.png"/><Relationship Id="rId5" Type="http://schemas.openxmlformats.org/officeDocument/2006/relationships/image" Target="../media/image5.png"/><Relationship Id="rId10" Type="http://schemas.openxmlformats.org/officeDocument/2006/relationships/image" Target="../media/image40.png"/><Relationship Id="rId4" Type="http://schemas.openxmlformats.org/officeDocument/2006/relationships/image" Target="../media/image4.png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0.png"/><Relationship Id="rId11" Type="http://schemas.openxmlformats.org/officeDocument/2006/relationships/image" Target="../media/image46.png"/><Relationship Id="rId5" Type="http://schemas.openxmlformats.org/officeDocument/2006/relationships/image" Target="../media/image5.png"/><Relationship Id="rId10" Type="http://schemas.openxmlformats.org/officeDocument/2006/relationships/image" Target="../media/image33.png"/><Relationship Id="rId4" Type="http://schemas.openxmlformats.org/officeDocument/2006/relationships/image" Target="../media/image4.png"/><Relationship Id="rId9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4.png"/><Relationship Id="rId7" Type="http://schemas.openxmlformats.org/officeDocument/2006/relationships/image" Target="../media/image30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0.png"/><Relationship Id="rId5" Type="http://schemas.openxmlformats.org/officeDocument/2006/relationships/image" Target="../media/image4.png"/><Relationship Id="rId10" Type="http://schemas.openxmlformats.org/officeDocument/2006/relationships/image" Target="../media/image46.png"/><Relationship Id="rId4" Type="http://schemas.openxmlformats.org/officeDocument/2006/relationships/image" Target="../media/image3.png"/><Relationship Id="rId9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8.png"/><Relationship Id="rId7" Type="http://schemas.openxmlformats.org/officeDocument/2006/relationships/image" Target="../media/image360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0.png"/><Relationship Id="rId5" Type="http://schemas.openxmlformats.org/officeDocument/2006/relationships/image" Target="../media/image4.png"/><Relationship Id="rId10" Type="http://schemas.openxmlformats.org/officeDocument/2006/relationships/image" Target="../media/image46.png"/><Relationship Id="rId4" Type="http://schemas.openxmlformats.org/officeDocument/2006/relationships/image" Target="../media/image3.png"/><Relationship Id="rId9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lindeloev.shinyapps.io/shiny-rt/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40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4.png"/><Relationship Id="rId5" Type="http://schemas.openxmlformats.org/officeDocument/2006/relationships/image" Target="../media/image5.png"/><Relationship Id="rId10" Type="http://schemas.openxmlformats.org/officeDocument/2006/relationships/image" Target="../media/image53.png"/><Relationship Id="rId4" Type="http://schemas.openxmlformats.org/officeDocument/2006/relationships/image" Target="../media/image4.png"/><Relationship Id="rId9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6.png"/><Relationship Id="rId7" Type="http://schemas.openxmlformats.org/officeDocument/2006/relationships/image" Target="../media/image33.png"/><Relationship Id="rId12" Type="http://schemas.openxmlformats.org/officeDocument/2006/relationships/image" Target="../media/image50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59.png"/><Relationship Id="rId5" Type="http://schemas.openxmlformats.org/officeDocument/2006/relationships/image" Target="../media/image47.png"/><Relationship Id="rId10" Type="http://schemas.openxmlformats.org/officeDocument/2006/relationships/image" Target="../media/image480.png"/><Relationship Id="rId4" Type="http://schemas.openxmlformats.org/officeDocument/2006/relationships/image" Target="../media/image58.png"/><Relationship Id="rId9" Type="http://schemas.openxmlformats.org/officeDocument/2006/relationships/image" Target="../media/image47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63.pn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29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microsoft.com/office/2007/relationships/hdphoto" Target="../media/hdphoto2.wdp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3546A63D-2CFD-8CFB-5599-4E0E8FE4F6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6" name="Grupo 25">
            <a:extLst>
              <a:ext uri="{FF2B5EF4-FFF2-40B4-BE49-F238E27FC236}">
                <a16:creationId xmlns:a16="http://schemas.microsoft.com/office/drawing/2014/main" id="{8A180CB6-8245-3AA0-C58B-227F5DE12D7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" y="5348941"/>
            <a:ext cx="12192000" cy="1509059"/>
            <a:chOff x="-1" y="5348941"/>
            <a:chExt cx="12192000" cy="1509059"/>
          </a:xfrm>
        </p:grpSpPr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F9CB0505-EB5A-07D6-CB72-0996C59A64E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0" y="5348941"/>
              <a:ext cx="12191999" cy="1509059"/>
              <a:chOff x="0" y="5348941"/>
              <a:chExt cx="12191999" cy="1509059"/>
            </a:xfrm>
          </p:grpSpPr>
          <p:sp>
            <p:nvSpPr>
              <p:cNvPr id="24" name="Triángulo 23">
                <a:extLst>
                  <a:ext uri="{FF2B5EF4-FFF2-40B4-BE49-F238E27FC236}">
                    <a16:creationId xmlns:a16="http://schemas.microsoft.com/office/drawing/2014/main" id="{8228780B-04CE-1CC6-D089-74569B81E99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0" y="5921281"/>
                <a:ext cx="8541172" cy="936719"/>
              </a:xfrm>
              <a:prstGeom prst="triangle">
                <a:avLst>
                  <a:gd name="adj" fmla="val 100000"/>
                </a:avLst>
              </a:prstGeom>
              <a:solidFill>
                <a:schemeClr val="bg2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23" name="Triángulo 22">
                <a:extLst>
                  <a:ext uri="{FF2B5EF4-FFF2-40B4-BE49-F238E27FC236}">
                    <a16:creationId xmlns:a16="http://schemas.microsoft.com/office/drawing/2014/main" id="{3C50AAFF-8B37-4D21-497C-00192AE4918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5348941"/>
                <a:ext cx="12191999" cy="1509059"/>
              </a:xfrm>
              <a:prstGeom prst="triangle">
                <a:avLst>
                  <a:gd name="adj" fmla="val 100000"/>
                </a:avLst>
              </a:prstGeom>
              <a:solidFill>
                <a:schemeClr val="bg2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22" name="Triángulo 21">
              <a:extLst>
                <a:ext uri="{FF2B5EF4-FFF2-40B4-BE49-F238E27FC236}">
                  <a16:creationId xmlns:a16="http://schemas.microsoft.com/office/drawing/2014/main" id="{39423FC1-936F-7D6A-A1F1-4095CFD6D76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" y="6073681"/>
              <a:ext cx="12191999" cy="784319"/>
            </a:xfrm>
            <a:prstGeom prst="triangle">
              <a:avLst>
                <a:gd name="adj" fmla="val 100000"/>
              </a:avLst>
            </a:prstGeom>
            <a:solidFill>
              <a:schemeClr val="bg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070ADF7-D3B4-615C-222A-3FF0159A1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69" y="1458288"/>
            <a:ext cx="5638800" cy="797242"/>
          </a:xfrm>
        </p:spPr>
        <p:txBody>
          <a:bodyPr>
            <a:normAutofit fontScale="90000"/>
          </a:bodyPr>
          <a:lstStyle/>
          <a:p>
            <a:pPr algn="l"/>
            <a:r>
              <a:rPr lang="es-ES" sz="3200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ova" panose="020B0504020202020204" pitchFamily="34" charset="0"/>
                <a:cs typeface="Arial Nova" panose="020F0502020204030204" pitchFamily="34" charset="0"/>
              </a:rPr>
              <a:t>Justificación del tamaño muestral y análisis de potencia estadística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17D4FB-5947-35BF-61C5-DB29112B8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346" y="2739819"/>
            <a:ext cx="5638800" cy="1509051"/>
          </a:xfrm>
        </p:spPr>
        <p:txBody>
          <a:bodyPr>
            <a:normAutofit/>
          </a:bodyPr>
          <a:lstStyle/>
          <a:p>
            <a:pPr algn="l"/>
            <a:r>
              <a:rPr lang="es-E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504020202020204" pitchFamily="34" charset="0"/>
              </a:rPr>
              <a:t>Impartido por: </a:t>
            </a:r>
            <a:r>
              <a:rPr lang="es-ES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504020202020204" pitchFamily="34" charset="0"/>
              </a:rPr>
              <a:t>David López-García, Filip Andras y David Sánchez Casasola</a:t>
            </a:r>
          </a:p>
          <a:p>
            <a:pPr algn="l"/>
            <a:r>
              <a:rPr lang="es-ES" sz="1400" i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 Nova Light" panose="020B0504020202020204" pitchFamily="34" charset="0"/>
              </a:rPr>
              <a:t>v.2026–02</a:t>
            </a:r>
          </a:p>
        </p:txBody>
      </p:sp>
      <p:pic>
        <p:nvPicPr>
          <p:cNvPr id="6" name="Imagen 5" descr="Vista de un edificio&#10;&#10;El contenido generado por IA puede ser incorrecto.">
            <a:extLst>
              <a:ext uri="{FF2B5EF4-FFF2-40B4-BE49-F238E27FC236}">
                <a16:creationId xmlns:a16="http://schemas.microsoft.com/office/drawing/2014/main" id="{25DA7C1B-72D2-3F7F-66E7-CC608BA75A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41172" y="1381760"/>
            <a:ext cx="3650827" cy="547624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8B82671-ED85-DF11-3A4F-C8B264317E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2765" y="6075222"/>
            <a:ext cx="898162" cy="44908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87E4AADD-79BB-565E-9852-7610A7E21F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8146" y="6073681"/>
            <a:ext cx="1615685" cy="44908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2DA8B2F6-A1BD-D21D-0A46-A8AE6FE0ED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5936" y="6073681"/>
            <a:ext cx="1739610" cy="450622"/>
          </a:xfrm>
          <a:prstGeom prst="rect">
            <a:avLst/>
          </a:prstGeom>
        </p:spPr>
      </p:pic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DBC46A6-CD56-E099-D7B5-9B3BD4A71D86}"/>
              </a:ext>
            </a:extLst>
          </p:cNvPr>
          <p:cNvCxnSpPr>
            <a:cxnSpLocks/>
          </p:cNvCxnSpPr>
          <p:nvPr/>
        </p:nvCxnSpPr>
        <p:spPr>
          <a:xfrm>
            <a:off x="914400" y="2442799"/>
            <a:ext cx="6858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upo 31">
            <a:extLst>
              <a:ext uri="{FF2B5EF4-FFF2-40B4-BE49-F238E27FC236}">
                <a16:creationId xmlns:a16="http://schemas.microsoft.com/office/drawing/2014/main" id="{65ED23AD-DC17-F2F7-F249-D94F69BB9BD1}"/>
              </a:ext>
            </a:extLst>
          </p:cNvPr>
          <p:cNvGrpSpPr/>
          <p:nvPr/>
        </p:nvGrpSpPr>
        <p:grpSpPr>
          <a:xfrm>
            <a:off x="770469" y="4093066"/>
            <a:ext cx="2310321" cy="2372774"/>
            <a:chOff x="4530139" y="4124640"/>
            <a:chExt cx="2310321" cy="2372774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54B4C9B6-8E97-B0CE-1B1B-55B135E06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82391" y="5949457"/>
              <a:ext cx="243822" cy="214815"/>
            </a:xfrm>
            <a:prstGeom prst="rect">
              <a:avLst/>
            </a:prstGeom>
          </p:spPr>
        </p:pic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BFEB826F-D9C8-D316-BD1A-BA68190647CA}"/>
                </a:ext>
              </a:extLst>
            </p:cNvPr>
            <p:cNvSpPr txBox="1"/>
            <p:nvPr/>
          </p:nvSpPr>
          <p:spPr>
            <a:xfrm>
              <a:off x="4823561" y="5918176"/>
              <a:ext cx="123783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900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@</a:t>
              </a:r>
              <a:r>
                <a:rPr lang="es-ES" sz="900" err="1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cimcyc.bsky.social</a:t>
              </a:r>
              <a:endParaRPr lang="es-ES" sz="900">
                <a:solidFill>
                  <a:schemeClr val="bg2">
                    <a:lumMod val="25000"/>
                  </a:schemeClr>
                </a:solidFill>
                <a:latin typeface="Arial Nova" panose="020B0504020202020204" pitchFamily="34" charset="0"/>
              </a:endParaRPr>
            </a:p>
          </p:txBody>
        </p:sp>
        <p:pic>
          <p:nvPicPr>
            <p:cNvPr id="35" name="Imagen 34">
              <a:extLst>
                <a:ext uri="{FF2B5EF4-FFF2-40B4-BE49-F238E27FC236}">
                  <a16:creationId xmlns:a16="http://schemas.microsoft.com/office/drawing/2014/main" id="{4F2374A2-02B6-4973-7E28-A78191CCF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596894" y="6269239"/>
              <a:ext cx="214815" cy="214815"/>
            </a:xfrm>
            <a:prstGeom prst="rect">
              <a:avLst/>
            </a:prstGeom>
          </p:spPr>
        </p:pic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EA5DD1A4-0114-3327-0201-282BC5E5C7FF}"/>
                </a:ext>
              </a:extLst>
            </p:cNvPr>
            <p:cNvSpPr txBox="1"/>
            <p:nvPr/>
          </p:nvSpPr>
          <p:spPr>
            <a:xfrm>
              <a:off x="4823561" y="6251193"/>
              <a:ext cx="5870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000" err="1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cimcyc</a:t>
              </a:r>
              <a:endParaRPr lang="es-ES" sz="1000">
                <a:solidFill>
                  <a:schemeClr val="bg2">
                    <a:lumMod val="25000"/>
                  </a:schemeClr>
                </a:solidFill>
                <a:latin typeface="Arial Nova" panose="020B0504020202020204" pitchFamily="34" charset="0"/>
              </a:endParaRPr>
            </a:p>
          </p:txBody>
        </p:sp>
        <p:pic>
          <p:nvPicPr>
            <p:cNvPr id="37" name="Imagen 36">
              <a:extLst>
                <a:ext uri="{FF2B5EF4-FFF2-40B4-BE49-F238E27FC236}">
                  <a16:creationId xmlns:a16="http://schemas.microsoft.com/office/drawing/2014/main" id="{0B01FB5D-F96A-AD51-A224-D470AE012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582391" y="5600668"/>
              <a:ext cx="243822" cy="243822"/>
            </a:xfrm>
            <a:prstGeom prst="rect">
              <a:avLst/>
            </a:prstGeom>
          </p:spPr>
        </p:pic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39B733D8-6E84-7928-7D90-AE595D918E9F}"/>
                </a:ext>
              </a:extLst>
            </p:cNvPr>
            <p:cNvSpPr txBox="1"/>
            <p:nvPr/>
          </p:nvSpPr>
          <p:spPr>
            <a:xfrm>
              <a:off x="4823561" y="5524403"/>
              <a:ext cx="20168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900" err="1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Brain</a:t>
              </a:r>
              <a:r>
                <a:rPr lang="es-ES" sz="900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, </a:t>
              </a:r>
              <a:r>
                <a:rPr lang="es-ES" sz="900" err="1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Mind</a:t>
              </a:r>
              <a:r>
                <a:rPr lang="es-ES" sz="900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 and </a:t>
              </a:r>
              <a:r>
                <a:rPr lang="es-ES" sz="900" err="1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Behavior</a:t>
              </a:r>
              <a:r>
                <a:rPr lang="es-ES" sz="900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 </a:t>
              </a:r>
              <a:r>
                <a:rPr lang="es-ES" sz="900" err="1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Research</a:t>
              </a:r>
              <a:r>
                <a:rPr lang="es-ES" sz="900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 </a:t>
              </a:r>
            </a:p>
            <a:p>
              <a:r>
                <a:rPr lang="es-ES" sz="900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Center – CIMCYC</a:t>
              </a:r>
            </a:p>
          </p:txBody>
        </p:sp>
        <p:sp>
          <p:nvSpPr>
            <p:cNvPr id="39" name="Recortar rectángulo de esquina diagonal 38">
              <a:extLst>
                <a:ext uri="{FF2B5EF4-FFF2-40B4-BE49-F238E27FC236}">
                  <a16:creationId xmlns:a16="http://schemas.microsoft.com/office/drawing/2014/main" id="{4E61E078-81B3-05D8-33F1-BE828383D774}"/>
                </a:ext>
              </a:extLst>
            </p:cNvPr>
            <p:cNvSpPr/>
            <p:nvPr/>
          </p:nvSpPr>
          <p:spPr>
            <a:xfrm>
              <a:off x="4582391" y="5255728"/>
              <a:ext cx="1025033" cy="163708"/>
            </a:xfrm>
            <a:prstGeom prst="snip2DiagRect">
              <a:avLst/>
            </a:prstGeom>
            <a:solidFill>
              <a:srgbClr val="3D3D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err="1">
                  <a:latin typeface="Arial Nova" panose="020B0504020202020204" pitchFamily="34" charset="0"/>
                </a:rPr>
                <a:t>cimcyc.ugr.es</a:t>
              </a:r>
              <a:endParaRPr lang="es-ES" sz="1000">
                <a:latin typeface="Arial Nova" panose="020B0504020202020204" pitchFamily="34" charset="0"/>
              </a:endParaRPr>
            </a:p>
          </p:txBody>
        </p:sp>
        <p:pic>
          <p:nvPicPr>
            <p:cNvPr id="40" name="Imagen 39" descr="Código QR&#10;&#10;El contenido generado por IA puede ser incorrecto.">
              <a:extLst>
                <a:ext uri="{FF2B5EF4-FFF2-40B4-BE49-F238E27FC236}">
                  <a16:creationId xmlns:a16="http://schemas.microsoft.com/office/drawing/2014/main" id="{1C60578D-19FF-1C04-8AE7-016E40E0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530139" y="4124640"/>
              <a:ext cx="1129535" cy="11295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608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>
            <a:extLst>
              <a:ext uri="{FF2B5EF4-FFF2-40B4-BE49-F238E27FC236}">
                <a16:creationId xmlns:a16="http://schemas.microsoft.com/office/drawing/2014/main" id="{061766F0-3524-15A0-5ED3-6B8D234564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1"/>
          <a:stretch>
            <a:fillRect/>
          </a:stretch>
        </p:blipFill>
        <p:spPr bwMode="auto">
          <a:xfrm>
            <a:off x="7348517" y="4152647"/>
            <a:ext cx="2240784" cy="1588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2</a:t>
            </a:fld>
            <a:endParaRPr lang="es-ES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73821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 </a:t>
            </a:r>
            <a:r>
              <a:rPr lang="es-ES_tradn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· </a:t>
            </a:r>
            <a:r>
              <a:rPr lang="es-ES_tradnl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repaso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E7E884-FE7C-DEAF-46AD-04D9AC96094B}"/>
              </a:ext>
            </a:extLst>
          </p:cNvPr>
          <p:cNvSpPr txBox="1"/>
          <p:nvPr/>
        </p:nvSpPr>
        <p:spPr>
          <a:xfrm>
            <a:off x="1391463" y="1880826"/>
            <a:ext cx="467837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Primero. Hay que tener una buena intuición de cómo se comportan nuestros datos y determinar el tamaño del efecto (</a:t>
            </a:r>
            <a:r>
              <a:rPr lang="es-ES_tradnl" sz="1600" i="1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ej. las diferencias entre las condiciones/cómo van a mejorar los pacientes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).</a:t>
            </a:r>
          </a:p>
          <a:p>
            <a:endParaRPr lang="es-ES_tradnl" sz="1600" dirty="0">
              <a:solidFill>
                <a:schemeClr val="bg2">
                  <a:lumMod val="90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r>
              <a:rPr lang="es-ES_tradnl" sz="1600" i="1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¿Cómo lo hacemos? </a:t>
            </a:r>
          </a:p>
          <a:p>
            <a:r>
              <a:rPr lang="es-ES_tradnl" sz="1600" i="1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Conocimiento previo, literatura, datos piloto, tamaño de efecto mínimo de interés/clínicamente significativo etc.</a:t>
            </a:r>
          </a:p>
          <a:p>
            <a:endParaRPr lang="es-ES_tradnl" sz="1600" dirty="0">
              <a:solidFill>
                <a:schemeClr val="bg2">
                  <a:lumMod val="90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Segundo. Generamos datos sintéticos y realizamos nuestro test estadístico.  </a:t>
            </a:r>
          </a:p>
          <a:p>
            <a:endParaRPr lang="es-ES_tradnl" sz="1600" i="1" dirty="0">
              <a:solidFill>
                <a:schemeClr val="bg2">
                  <a:lumMod val="90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r>
              <a:rPr lang="es-ES_tradnl" sz="1600" i="1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¿Cuántos datos?</a:t>
            </a:r>
            <a:endParaRPr lang="es-ES_tradnl" sz="1600" dirty="0">
              <a:solidFill>
                <a:schemeClr val="bg2">
                  <a:lumMod val="90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Para llegar a </a:t>
            </a:r>
            <a:r>
              <a:rPr lang="es-ES_tradnl" sz="1600" u="sng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detectar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los efectos que esperamos (</a:t>
            </a:r>
            <a:r>
              <a:rPr lang="es-ES_tradnl" sz="1600" i="1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p-</a:t>
            </a:r>
            <a:r>
              <a:rPr lang="es-ES_tradnl" sz="1600" i="1" dirty="0" err="1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value</a:t>
            </a:r>
            <a:r>
              <a:rPr lang="es-ES_tradnl" sz="1600" i="1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&lt;.05</a:t>
            </a:r>
            <a:r>
              <a:rPr lang="en-US" sz="1600" dirty="0">
                <a:solidFill>
                  <a:schemeClr val="bg2">
                    <a:lumMod val="90000"/>
                  </a:schemeClr>
                </a:solidFill>
              </a:rPr>
              <a:t>)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s-ES_tradnl" sz="1600" u="sng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de forma repetida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(potencia estadística alta/falsos negativos bajos).</a:t>
            </a:r>
          </a:p>
          <a:p>
            <a:endParaRPr lang="es-ES_tradnl" sz="1600" dirty="0">
              <a:solidFill>
                <a:schemeClr val="bg2">
                  <a:lumMod val="90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385749-C9E8-9737-B67A-E0FB1F2AA89E}"/>
              </a:ext>
            </a:extLst>
          </p:cNvPr>
          <p:cNvSpPr txBox="1"/>
          <p:nvPr/>
        </p:nvSpPr>
        <p:spPr>
          <a:xfrm rot="16200000">
            <a:off x="721762" y="5180978"/>
            <a:ext cx="928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Script 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F5EB60-164B-4170-9BA2-2759CDBE47B3}"/>
              </a:ext>
            </a:extLst>
          </p:cNvPr>
          <p:cNvSpPr txBox="1"/>
          <p:nvPr/>
        </p:nvSpPr>
        <p:spPr>
          <a:xfrm>
            <a:off x="1391463" y="1124408"/>
            <a:ext cx="79508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i="1" dirty="0">
                <a:latin typeface="Baskerville" panose="02020502070401020303" pitchFamily="18" charset="0"/>
                <a:ea typeface="Baskerville" panose="02020502070401020303" pitchFamily="18" charset="0"/>
              </a:rPr>
              <a:t>Para casos más complejos </a:t>
            </a:r>
            <a:r>
              <a:rPr lang="es-ES_tradnl" sz="2400" i="1" strike="sngStrike" dirty="0">
                <a:latin typeface="Baskerville" panose="02020502070401020303" pitchFamily="18" charset="0"/>
                <a:ea typeface="Baskerville" panose="02020502070401020303" pitchFamily="18" charset="0"/>
              </a:rPr>
              <a:t>(G*</a:t>
            </a:r>
            <a:r>
              <a:rPr lang="es-ES_tradnl" sz="2400" i="1" strike="sngStrike" dirty="0" err="1">
                <a:latin typeface="Baskerville" panose="02020502070401020303" pitchFamily="18" charset="0"/>
                <a:ea typeface="Baskerville" panose="02020502070401020303" pitchFamily="18" charset="0"/>
              </a:rPr>
              <a:t>Power</a:t>
            </a:r>
            <a:r>
              <a:rPr lang="es-ES_tradnl" sz="2400" i="1" strike="sngStrike" dirty="0">
                <a:latin typeface="Baskerville" panose="02020502070401020303" pitchFamily="18" charset="0"/>
                <a:ea typeface="Baskerville" panose="02020502070401020303" pitchFamily="18" charset="0"/>
              </a:rPr>
              <a:t>, </a:t>
            </a:r>
            <a:r>
              <a:rPr lang="es-ES_tradnl" sz="2400" i="1" strike="sngStrike" dirty="0" err="1">
                <a:latin typeface="Baskerville" panose="02020502070401020303" pitchFamily="18" charset="0"/>
                <a:ea typeface="Baskerville" panose="02020502070401020303" pitchFamily="18" charset="0"/>
              </a:rPr>
              <a:t>superpower</a:t>
            </a:r>
            <a:r>
              <a:rPr lang="es-ES_tradnl" sz="2400" i="1" strike="sngStrike" dirty="0">
                <a:latin typeface="Baskerville" panose="02020502070401020303" pitchFamily="18" charset="0"/>
                <a:ea typeface="Baskerville" panose="02020502070401020303" pitchFamily="18" charset="0"/>
              </a:rPr>
              <a:t>)</a:t>
            </a:r>
            <a:r>
              <a:rPr lang="es-ES_tradnl" sz="2400" i="1" dirty="0">
                <a:latin typeface="Baskerville" panose="02020502070401020303" pitchFamily="18" charset="0"/>
                <a:ea typeface="Baskerville" panose="02020502070401020303" pitchFamily="18" charset="0"/>
              </a:rPr>
              <a:t> simulamos la “realidad”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75F28B-83AA-85D3-F966-29D12080BB0B}"/>
              </a:ext>
            </a:extLst>
          </p:cNvPr>
          <p:cNvSpPr txBox="1"/>
          <p:nvPr/>
        </p:nvSpPr>
        <p:spPr>
          <a:xfrm rot="16200000">
            <a:off x="582300" y="2326880"/>
            <a:ext cx="1207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Scripts 1-7</a:t>
            </a:r>
          </a:p>
        </p:txBody>
      </p:sp>
      <p:pic>
        <p:nvPicPr>
          <p:cNvPr id="29" name="Picture 28" descr="A drawing of a person holding a shield and a spear&#10;&#10;Description automatically generated">
            <a:extLst>
              <a:ext uri="{FF2B5EF4-FFF2-40B4-BE49-F238E27FC236}">
                <a16:creationId xmlns:a16="http://schemas.microsoft.com/office/drawing/2014/main" id="{EBB1F4C0-1A05-2976-BCD2-450D993C2D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1008" y="1935138"/>
            <a:ext cx="2240793" cy="1493862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BF6B4C3-83D9-5DD7-37B3-CA133E95FBC5}"/>
              </a:ext>
            </a:extLst>
          </p:cNvPr>
          <p:cNvCxnSpPr>
            <a:cxnSpLocks/>
          </p:cNvCxnSpPr>
          <p:nvPr/>
        </p:nvCxnSpPr>
        <p:spPr>
          <a:xfrm flipH="1">
            <a:off x="5944131" y="4386470"/>
            <a:ext cx="76504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ACE3897-1F70-6A12-C8BF-5F22FAB9B434}"/>
              </a:ext>
            </a:extLst>
          </p:cNvPr>
          <p:cNvCxnSpPr/>
          <p:nvPr/>
        </p:nvCxnSpPr>
        <p:spPr>
          <a:xfrm>
            <a:off x="6709178" y="4386470"/>
            <a:ext cx="0" cy="115293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E6918EC-B0A9-1DB1-39F9-A7B124C39DBA}"/>
              </a:ext>
            </a:extLst>
          </p:cNvPr>
          <p:cNvCxnSpPr>
            <a:cxnSpLocks/>
          </p:cNvCxnSpPr>
          <p:nvPr/>
        </p:nvCxnSpPr>
        <p:spPr>
          <a:xfrm>
            <a:off x="5944131" y="5539409"/>
            <a:ext cx="76504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008181E-4ED0-B70C-4AC7-6C4DBFC48A23}"/>
              </a:ext>
            </a:extLst>
          </p:cNvPr>
          <p:cNvSpPr txBox="1"/>
          <p:nvPr/>
        </p:nvSpPr>
        <p:spPr>
          <a:xfrm rot="5400000">
            <a:off x="6601388" y="4744319"/>
            <a:ext cx="780983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1000x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C41EFB-9CA7-4D80-D015-38F6F91E0F0F}"/>
              </a:ext>
            </a:extLst>
          </p:cNvPr>
          <p:cNvSpPr txBox="1"/>
          <p:nvPr/>
        </p:nvSpPr>
        <p:spPr>
          <a:xfrm>
            <a:off x="9589301" y="1939876"/>
            <a:ext cx="23391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i="1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¿Qué parte es más complicada?</a:t>
            </a:r>
          </a:p>
        </p:txBody>
      </p:sp>
      <p:pic>
        <p:nvPicPr>
          <p:cNvPr id="49" name="Imagen 9">
            <a:extLst>
              <a:ext uri="{FF2B5EF4-FFF2-40B4-BE49-F238E27FC236}">
                <a16:creationId xmlns:a16="http://schemas.microsoft.com/office/drawing/2014/main" id="{7D6DEEAA-6C6E-2BB8-7B45-E971072006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49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8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iagram&#10;&#10;Description automatically generated">
            <a:extLst>
              <a:ext uri="{FF2B5EF4-FFF2-40B4-BE49-F238E27FC236}">
                <a16:creationId xmlns:a16="http://schemas.microsoft.com/office/drawing/2014/main" id="{AFA1C6B5-2F38-17F5-DC48-574279B9E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401" y="857709"/>
            <a:ext cx="3741987" cy="56727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0BDC7A-6347-4747-83E5-FC3DDCE18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202" y="764138"/>
            <a:ext cx="10515600" cy="1325563"/>
          </a:xfrm>
        </p:spPr>
        <p:txBody>
          <a:bodyPr>
            <a:normAutofit/>
          </a:bodyPr>
          <a:lstStyle/>
          <a:p>
            <a:r>
              <a:rPr lang="en-CZ" sz="2800" i="1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Procesos cognitivos en el reconocimiento visual de las palabras </a:t>
            </a:r>
            <a:br>
              <a:rPr lang="en-CZ" sz="2800" i="1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</a:br>
            <a:endParaRPr lang="en-CZ" sz="1200" i="1" dirty="0">
              <a:solidFill>
                <a:srgbClr val="C00000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019A91-CB34-6F4D-A518-581629A83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17678" y="1923612"/>
            <a:ext cx="3005139" cy="2999872"/>
          </a:xfrm>
          <a:solidFill>
            <a:schemeClr val="bg1">
              <a:lumMod val="95000"/>
            </a:schemeClr>
          </a:solidFill>
        </p:spPr>
        <p:txBody>
          <a:bodyPr anchor="t"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ES_tradnl" sz="2400" dirty="0"/>
              <a:t>RUTA SUBLÉXICA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ES_tradnl" sz="2200" dirty="0">
                <a:solidFill>
                  <a:schemeClr val="accent3"/>
                </a:solidFill>
              </a:rPr>
              <a:t>Palabras poco frecuentes, largas, pseudopalabras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s-ES_tradnl" sz="1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s-ES_tradnl" sz="2200" spc="300" dirty="0"/>
              <a:t>procrastinación</a:t>
            </a:r>
          </a:p>
          <a:p>
            <a:pPr marL="0" indent="0">
              <a:lnSpc>
                <a:spcPct val="100000"/>
              </a:lnSpc>
              <a:buNone/>
            </a:pPr>
            <a:endParaRPr lang="es-ES_tradnl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s-ES_tradnl" sz="1800" i="1" dirty="0"/>
              <a:t>Procedimiento analítico de conversión grafema-fonema</a:t>
            </a:r>
          </a:p>
          <a:p>
            <a:pPr marL="0" indent="0">
              <a:lnSpc>
                <a:spcPct val="100000"/>
              </a:lnSpc>
              <a:buNone/>
            </a:pPr>
            <a:endParaRPr lang="es-ES_tradnl" sz="2400" dirty="0"/>
          </a:p>
          <a:p>
            <a:pPr marL="0" indent="0">
              <a:lnSpc>
                <a:spcPct val="100000"/>
              </a:lnSpc>
              <a:buNone/>
            </a:pPr>
            <a:endParaRPr lang="es-ES_tradnl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67034-472F-9A4B-AE76-7B79A0354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0327" y="1923612"/>
            <a:ext cx="2903958" cy="2999872"/>
          </a:xfrm>
          <a:solidFill>
            <a:schemeClr val="bg1">
              <a:lumMod val="95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Z" sz="2400" dirty="0"/>
              <a:t>RUTA LÉXICA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200" dirty="0">
                <a:solidFill>
                  <a:schemeClr val="accent3"/>
                </a:solidFill>
              </a:rPr>
              <a:t>P</a:t>
            </a:r>
            <a:r>
              <a:rPr lang="en-CZ" sz="2200" dirty="0">
                <a:solidFill>
                  <a:schemeClr val="accent3"/>
                </a:solidFill>
              </a:rPr>
              <a:t>alabras frecuentes</a:t>
            </a:r>
            <a:endParaRPr lang="en-CZ" sz="2400" dirty="0"/>
          </a:p>
          <a:p>
            <a:pPr marL="0" indent="0">
              <a:lnSpc>
                <a:spcPct val="100000"/>
              </a:lnSpc>
              <a:buNone/>
            </a:pPr>
            <a:endParaRPr lang="en-CZ" sz="2400" dirty="0">
              <a:solidFill>
                <a:schemeClr val="accent3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CZ" sz="2400" dirty="0">
                <a:solidFill>
                  <a:schemeClr val="accent3"/>
                </a:solidFill>
              </a:rPr>
              <a:t>	</a:t>
            </a:r>
          </a:p>
          <a:p>
            <a:pPr marL="0" indent="0">
              <a:lnSpc>
                <a:spcPct val="100000"/>
              </a:lnSpc>
              <a:buNone/>
            </a:pPr>
            <a:endParaRPr lang="en-GB" sz="1800" dirty="0"/>
          </a:p>
          <a:p>
            <a:pPr marL="0" indent="0">
              <a:lnSpc>
                <a:spcPct val="100000"/>
              </a:lnSpc>
              <a:buNone/>
            </a:pPr>
            <a:endParaRPr lang="en-GB" sz="1800" dirty="0"/>
          </a:p>
          <a:p>
            <a:pPr marL="0" indent="0">
              <a:lnSpc>
                <a:spcPct val="100000"/>
              </a:lnSpc>
              <a:buNone/>
            </a:pPr>
            <a:endParaRPr lang="en-GB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s-ES_tradnl" sz="1800" i="1" dirty="0"/>
              <a:t>Análisis global de la palabra</a:t>
            </a:r>
          </a:p>
          <a:p>
            <a:pPr marL="0" indent="0">
              <a:lnSpc>
                <a:spcPct val="100000"/>
              </a:lnSpc>
              <a:buNone/>
            </a:pPr>
            <a:endParaRPr lang="en-CZ" sz="2400" dirty="0"/>
          </a:p>
          <a:p>
            <a:pPr marL="0" indent="0">
              <a:lnSpc>
                <a:spcPct val="100000"/>
              </a:lnSpc>
              <a:buNone/>
            </a:pPr>
            <a:endParaRPr lang="en-GB" sz="1800" dirty="0"/>
          </a:p>
          <a:p>
            <a:pPr marL="0" indent="0">
              <a:lnSpc>
                <a:spcPct val="100000"/>
              </a:lnSpc>
              <a:buNone/>
            </a:pPr>
            <a:endParaRPr lang="en-GB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88D8E1-E809-694E-902C-9AB4674DC661}"/>
              </a:ext>
            </a:extLst>
          </p:cNvPr>
          <p:cNvSpPr txBox="1"/>
          <p:nvPr/>
        </p:nvSpPr>
        <p:spPr>
          <a:xfrm>
            <a:off x="10243226" y="6311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Z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BE16FDA-BA1E-874C-A8AA-DAC8FD548D76}"/>
                  </a:ext>
                </a:extLst>
              </p14:cNvPr>
              <p14:cNvContentPartPr/>
              <p14:nvPr/>
            </p14:nvContentPartPr>
            <p14:xfrm>
              <a:off x="1734818" y="3208453"/>
              <a:ext cx="860254" cy="485644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BE16FDA-BA1E-874C-A8AA-DAC8FD548D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16821" y="3190453"/>
                <a:ext cx="895888" cy="521284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1EC435C-1E1B-E34C-8C6E-ABCFE564FC20}"/>
              </a:ext>
            </a:extLst>
          </p:cNvPr>
          <p:cNvSpPr txBox="1"/>
          <p:nvPr/>
        </p:nvSpPr>
        <p:spPr>
          <a:xfrm>
            <a:off x="7648532" y="5768678"/>
            <a:ext cx="2244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Z" dirty="0">
                <a:solidFill>
                  <a:schemeClr val="accent3"/>
                </a:solidFill>
              </a:rPr>
              <a:t>Coltheart et al. (2001)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3CC70B4-1FD7-D140-8B7E-4FFBFE7EDAF3}"/>
              </a:ext>
            </a:extLst>
          </p:cNvPr>
          <p:cNvCxnSpPr>
            <a:cxnSpLocks/>
          </p:cNvCxnSpPr>
          <p:nvPr/>
        </p:nvCxnSpPr>
        <p:spPr>
          <a:xfrm flipV="1">
            <a:off x="4833541" y="3880181"/>
            <a:ext cx="0" cy="293372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7555D93-7F93-DF4F-A22A-28733D670AF1}"/>
              </a:ext>
            </a:extLst>
          </p:cNvPr>
          <p:cNvCxnSpPr/>
          <p:nvPr/>
        </p:nvCxnSpPr>
        <p:spPr>
          <a:xfrm flipV="1">
            <a:off x="5120629" y="3880174"/>
            <a:ext cx="0" cy="29337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B0E3C7D-AC2F-8C4C-AE1A-9529C8324229}"/>
              </a:ext>
            </a:extLst>
          </p:cNvPr>
          <p:cNvCxnSpPr/>
          <p:nvPr/>
        </p:nvCxnSpPr>
        <p:spPr>
          <a:xfrm flipV="1">
            <a:off x="5380166" y="3880174"/>
            <a:ext cx="0" cy="29337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938A956-6B27-F64D-9EF6-F6393AB43824}"/>
              </a:ext>
            </a:extLst>
          </p:cNvPr>
          <p:cNvCxnSpPr/>
          <p:nvPr/>
        </p:nvCxnSpPr>
        <p:spPr>
          <a:xfrm flipV="1">
            <a:off x="5610233" y="3880174"/>
            <a:ext cx="0" cy="29337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D37674B-2846-3840-A51D-5C4F51F00548}"/>
              </a:ext>
            </a:extLst>
          </p:cNvPr>
          <p:cNvCxnSpPr/>
          <p:nvPr/>
        </p:nvCxnSpPr>
        <p:spPr>
          <a:xfrm flipV="1">
            <a:off x="5861041" y="3880174"/>
            <a:ext cx="0" cy="29337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B399A5B-CA03-0546-AE1E-64FF8557F336}"/>
              </a:ext>
            </a:extLst>
          </p:cNvPr>
          <p:cNvCxnSpPr/>
          <p:nvPr/>
        </p:nvCxnSpPr>
        <p:spPr>
          <a:xfrm flipV="1">
            <a:off x="6071498" y="3895410"/>
            <a:ext cx="0" cy="29337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C9B8E4A-326D-EA41-957F-C9000FCC630A}"/>
              </a:ext>
            </a:extLst>
          </p:cNvPr>
          <p:cNvCxnSpPr/>
          <p:nvPr/>
        </p:nvCxnSpPr>
        <p:spPr>
          <a:xfrm flipV="1">
            <a:off x="6286138" y="3895410"/>
            <a:ext cx="0" cy="29337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E860BC3-C802-4A4B-819B-E6AA5D6D6ECA}"/>
              </a:ext>
            </a:extLst>
          </p:cNvPr>
          <p:cNvCxnSpPr/>
          <p:nvPr/>
        </p:nvCxnSpPr>
        <p:spPr>
          <a:xfrm flipV="1">
            <a:off x="6590743" y="3895412"/>
            <a:ext cx="0" cy="29337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9859698-5C4D-8E4B-A460-4B4B37A8EFAA}"/>
              </a:ext>
            </a:extLst>
          </p:cNvPr>
          <p:cNvCxnSpPr/>
          <p:nvPr/>
        </p:nvCxnSpPr>
        <p:spPr>
          <a:xfrm flipV="1">
            <a:off x="6962939" y="3895410"/>
            <a:ext cx="0" cy="29337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9E8AA178-2524-DE4C-BE0A-B5DA58240084}"/>
              </a:ext>
            </a:extLst>
          </p:cNvPr>
          <p:cNvSpPr txBox="1"/>
          <p:nvPr/>
        </p:nvSpPr>
        <p:spPr>
          <a:xfrm>
            <a:off x="1841300" y="3220081"/>
            <a:ext cx="647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 g</a:t>
            </a:r>
            <a:r>
              <a:rPr lang="en-CZ" dirty="0"/>
              <a:t>ato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7D53164-0100-F643-96A5-96FD539B459B}"/>
              </a:ext>
            </a:extLst>
          </p:cNvPr>
          <p:cNvSpPr/>
          <p:nvPr/>
        </p:nvSpPr>
        <p:spPr>
          <a:xfrm>
            <a:off x="10134600" y="2171319"/>
            <a:ext cx="1027073" cy="275216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Z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B52A7D9-251C-3943-92BD-2C688E517431}"/>
              </a:ext>
            </a:extLst>
          </p:cNvPr>
          <p:cNvSpPr/>
          <p:nvPr/>
        </p:nvSpPr>
        <p:spPr>
          <a:xfrm>
            <a:off x="7799334" y="2171319"/>
            <a:ext cx="2304046" cy="2752164"/>
          </a:xfrm>
          <a:prstGeom prst="rect">
            <a:avLst/>
          </a:prstGeom>
          <a:noFill/>
          <a:ln w="28575">
            <a:solidFill>
              <a:srgbClr val="F400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Z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C962D0A-23AF-9E42-8BE6-6D074ECD5287}"/>
                  </a:ext>
                </a:extLst>
              </p14:cNvPr>
              <p14:cNvContentPartPr/>
              <p14:nvPr/>
            </p14:nvContentPartPr>
            <p14:xfrm>
              <a:off x="4726558" y="3541935"/>
              <a:ext cx="189213" cy="293379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C962D0A-23AF-9E42-8BE6-6D074ECD528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17565" y="3532936"/>
                <a:ext cx="206839" cy="3110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0D4673D-5DC5-424C-9445-0348BD88DB7B}"/>
                  </a:ext>
                </a:extLst>
              </p14:cNvPr>
              <p14:cNvContentPartPr/>
              <p14:nvPr/>
            </p14:nvContentPartPr>
            <p14:xfrm>
              <a:off x="4925644" y="3541452"/>
              <a:ext cx="138702" cy="293379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0D4673D-5DC5-424C-9445-0348BD88DB7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16661" y="3532453"/>
                <a:ext cx="156309" cy="3110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2460C16-5F8F-7C4F-9022-A15E4E2FBB70}"/>
                  </a:ext>
                </a:extLst>
              </p14:cNvPr>
              <p14:cNvContentPartPr/>
              <p14:nvPr/>
            </p14:nvContentPartPr>
            <p14:xfrm>
              <a:off x="5072302" y="3534017"/>
              <a:ext cx="137076" cy="2933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2460C16-5F8F-7C4F-9022-A15E4E2FBB7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063308" y="3525018"/>
                <a:ext cx="154705" cy="3110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BB3E8B3-D29A-A849-B970-23DDF4E26C61}"/>
                  </a:ext>
                </a:extLst>
              </p14:cNvPr>
              <p14:cNvContentPartPr/>
              <p14:nvPr/>
            </p14:nvContentPartPr>
            <p14:xfrm>
              <a:off x="5538780" y="3534017"/>
              <a:ext cx="127584" cy="2933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BB3E8B3-D29A-A849-B970-23DDF4E26C6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529795" y="3525018"/>
                <a:ext cx="145194" cy="3110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8BFE5C2-63C9-0B44-9C4A-0BA71AAEC948}"/>
                  </a:ext>
                </a:extLst>
              </p14:cNvPr>
              <p14:cNvContentPartPr/>
              <p14:nvPr/>
            </p14:nvContentPartPr>
            <p14:xfrm>
              <a:off x="5686569" y="3527033"/>
              <a:ext cx="142296" cy="2933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8BFE5C2-63C9-0B44-9C4A-0BA71AAEC94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677586" y="3518034"/>
                <a:ext cx="159903" cy="3110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199737D-C8FB-3045-B5B4-3F0DE37B2DC5}"/>
                  </a:ext>
                </a:extLst>
              </p14:cNvPr>
              <p14:cNvContentPartPr/>
              <p14:nvPr/>
            </p14:nvContentPartPr>
            <p14:xfrm>
              <a:off x="5955026" y="3527033"/>
              <a:ext cx="143237" cy="2933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199737D-C8FB-3045-B5B4-3F0DE37B2DC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946051" y="3518034"/>
                <a:ext cx="160828" cy="3110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E896B93-FF00-C947-9268-1762A23D8934}"/>
                  </a:ext>
                </a:extLst>
              </p14:cNvPr>
              <p14:cNvContentPartPr/>
              <p14:nvPr/>
            </p14:nvContentPartPr>
            <p14:xfrm>
              <a:off x="5227280" y="3520635"/>
              <a:ext cx="176590" cy="2933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E896B93-FF00-C947-9268-1762A23D893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218289" y="3511636"/>
                <a:ext cx="194213" cy="3110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928CEF81-063F-A84B-92C9-52CD4E5B1F7E}"/>
                  </a:ext>
                </a:extLst>
              </p14:cNvPr>
              <p14:cNvContentPartPr/>
              <p14:nvPr/>
            </p14:nvContentPartPr>
            <p14:xfrm>
              <a:off x="5380166" y="3534017"/>
              <a:ext cx="146426" cy="2933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928CEF81-063F-A84B-92C9-52CD4E5B1F7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371172" y="3525018"/>
                <a:ext cx="164055" cy="3110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9736D4A-9946-C441-B167-6F18362975AB}"/>
                  </a:ext>
                </a:extLst>
              </p14:cNvPr>
              <p14:cNvContentPartPr/>
              <p14:nvPr/>
            </p14:nvContentPartPr>
            <p14:xfrm>
              <a:off x="5816519" y="3527033"/>
              <a:ext cx="142296" cy="2933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9736D4A-9946-C441-B167-6F18362975A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07536" y="3518034"/>
                <a:ext cx="159903" cy="3110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40AED27-65C7-E049-B3CF-2C8B735FEEDE}"/>
                  </a:ext>
                </a:extLst>
              </p14:cNvPr>
              <p14:cNvContentPartPr/>
              <p14:nvPr/>
            </p14:nvContentPartPr>
            <p14:xfrm>
              <a:off x="6088765" y="3527033"/>
              <a:ext cx="143237" cy="2933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40AED27-65C7-E049-B3CF-2C8B735FEED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079790" y="3518034"/>
                <a:ext cx="160828" cy="3110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2223C90-2605-A249-85C7-0FA54AB14538}"/>
                  </a:ext>
                </a:extLst>
              </p14:cNvPr>
              <p14:cNvContentPartPr/>
              <p14:nvPr/>
            </p14:nvContentPartPr>
            <p14:xfrm>
              <a:off x="6240639" y="3541452"/>
              <a:ext cx="201567" cy="2933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2223C90-2605-A249-85C7-0FA54AB1453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231640" y="3532453"/>
                <a:ext cx="219204" cy="3110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926A801-80FA-844E-A773-CF60BE3BEDF5}"/>
                  </a:ext>
                </a:extLst>
              </p14:cNvPr>
              <p14:cNvContentPartPr/>
              <p14:nvPr/>
            </p14:nvContentPartPr>
            <p14:xfrm>
              <a:off x="6403141" y="3541452"/>
              <a:ext cx="166650" cy="2933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926A801-80FA-844E-A773-CF60BE3BEDF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394143" y="3532453"/>
                <a:ext cx="184287" cy="3110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2661D021-F626-804E-9236-EF1FE04E8774}"/>
                  </a:ext>
                </a:extLst>
              </p14:cNvPr>
              <p14:cNvContentPartPr/>
              <p14:nvPr/>
            </p14:nvContentPartPr>
            <p14:xfrm>
              <a:off x="6575822" y="3543275"/>
              <a:ext cx="115316" cy="2933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2661D021-F626-804E-9236-EF1FE04E877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566841" y="3534276"/>
                <a:ext cx="132919" cy="3110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C29D0BD6-6D05-2146-8227-395360F836DF}"/>
                  </a:ext>
                </a:extLst>
              </p14:cNvPr>
              <p14:cNvContentPartPr/>
              <p14:nvPr/>
            </p14:nvContentPartPr>
            <p14:xfrm>
              <a:off x="6672538" y="3541452"/>
              <a:ext cx="217110" cy="2933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C29D0BD6-6D05-2146-8227-395360F836D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663552" y="3532453"/>
                <a:ext cx="234723" cy="3110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551767C-A274-4543-9B33-B22840226914}"/>
                  </a:ext>
                </a:extLst>
              </p14:cNvPr>
              <p14:cNvContentPartPr/>
              <p14:nvPr/>
            </p14:nvContentPartPr>
            <p14:xfrm>
              <a:off x="6874282" y="3547407"/>
              <a:ext cx="217110" cy="2933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551767C-A274-4543-9B33-B2284022691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865296" y="3538408"/>
                <a:ext cx="234723" cy="311019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 descr="A diagram of a brain&#10;&#10;Description automatically generated">
            <a:extLst>
              <a:ext uri="{FF2B5EF4-FFF2-40B4-BE49-F238E27FC236}">
                <a16:creationId xmlns:a16="http://schemas.microsoft.com/office/drawing/2014/main" id="{7A766CF8-E4BE-CFBF-7C3D-1F6DB9818F85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30327" y="5248167"/>
            <a:ext cx="2930308" cy="1063733"/>
          </a:xfrm>
          <a:prstGeom prst="rect">
            <a:avLst/>
          </a:prstGeom>
        </p:spPr>
      </p:pic>
      <p:sp>
        <p:nvSpPr>
          <p:cNvPr id="13" name="CuadroTexto 31">
            <a:extLst>
              <a:ext uri="{FF2B5EF4-FFF2-40B4-BE49-F238E27FC236}">
                <a16:creationId xmlns:a16="http://schemas.microsoft.com/office/drawing/2014/main" id="{041ECB68-C195-4092-19A2-1A5C30994FDB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5">
            <a:extLst>
              <a:ext uri="{FF2B5EF4-FFF2-40B4-BE49-F238E27FC236}">
                <a16:creationId xmlns:a16="http://schemas.microsoft.com/office/drawing/2014/main" id="{7D79414F-0FBE-F2A1-B0D8-CCFE128372FB}"/>
              </a:ext>
            </a:extLst>
          </p:cNvPr>
          <p:cNvSpPr txBox="1"/>
          <p:nvPr/>
        </p:nvSpPr>
        <p:spPr>
          <a:xfrm>
            <a:off x="1029585" y="430730"/>
            <a:ext cx="6564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025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decel="10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900" decel="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900" decel="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900" decel="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900" decel="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900" decel="10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9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9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9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9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9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9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9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9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9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9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9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9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9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9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900" decel="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FE1CF-DFD2-13B3-040A-1C57EE23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4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D73CE48-D701-8CFC-6AFD-741BDD1BA2E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12097B6-DCE4-1744-5F95-E99BF029BD1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4</a:t>
            </a:fld>
            <a:endParaRPr lang="es-ES"/>
          </a:p>
        </p:txBody>
      </p:sp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7E7F66A3-AE44-FEF1-4F2E-6A7C2AF65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4</a:t>
            </a:fld>
            <a:endParaRPr lang="es-ES" dirty="0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6564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ED89AE-0E34-6BD8-B21E-847DA138E91B}"/>
              </a:ext>
            </a:extLst>
          </p:cNvPr>
          <p:cNvSpPr txBox="1"/>
          <p:nvPr/>
        </p:nvSpPr>
        <p:spPr>
          <a:xfrm>
            <a:off x="968582" y="5131926"/>
            <a:ext cx="7711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effectLst/>
                <a:latin typeface="Helvetica Neue" panose="02000503000000020004" pitchFamily="2" charset="0"/>
                <a:hlinkClick r:id="rId5"/>
              </a:rPr>
              <a:t>https://exponline.ugr.es/publix/1164/start?batchId=1373&amp;generalMultiple</a:t>
            </a:r>
            <a:endParaRPr lang="en-GB" dirty="0">
              <a:effectLst/>
              <a:latin typeface="Helvetica Neue" panose="02000503000000020004" pitchFamily="2" charset="0"/>
            </a:endParaRPr>
          </a:p>
        </p:txBody>
      </p:sp>
      <p:pic>
        <p:nvPicPr>
          <p:cNvPr id="18" name="Picture 17" descr="A diagram of a diagram of a triangle&#10;&#10;Description automatically generated with medium confidence">
            <a:extLst>
              <a:ext uri="{FF2B5EF4-FFF2-40B4-BE49-F238E27FC236}">
                <a16:creationId xmlns:a16="http://schemas.microsoft.com/office/drawing/2014/main" id="{4F9FD2AF-C125-8558-9A90-36EAC58389A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7574" r="37313"/>
          <a:stretch/>
        </p:blipFill>
        <p:spPr>
          <a:xfrm>
            <a:off x="4883659" y="2033922"/>
            <a:ext cx="3796906" cy="25250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7A7D3BE-C41F-2DBD-0A22-F4E016348F4B}"/>
              </a:ext>
            </a:extLst>
          </p:cNvPr>
          <p:cNvSpPr txBox="1"/>
          <p:nvPr/>
        </p:nvSpPr>
        <p:spPr>
          <a:xfrm>
            <a:off x="1047490" y="2088831"/>
            <a:ext cx="37133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200" b="1" dirty="0"/>
              <a:t>Tarea de decisión léxica</a:t>
            </a:r>
            <a:r>
              <a:rPr lang="es-ES_tradnl" sz="1200" dirty="0"/>
              <a:t>: </a:t>
            </a:r>
            <a:r>
              <a:rPr lang="es-ES_tradnl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participantes tienen que decidir si lo que ven es una palabra real o una </a:t>
            </a:r>
            <a:r>
              <a:rPr lang="es-ES_tradnl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pseudopalabra</a:t>
            </a:r>
            <a:endParaRPr lang="es-ES_tradnl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s-ES_tradnl" sz="1200" dirty="0"/>
          </a:p>
          <a:p>
            <a:r>
              <a:rPr lang="es-ES_tradnl" sz="1200" b="1" dirty="0"/>
              <a:t>Lo que manipulamos</a:t>
            </a:r>
            <a:r>
              <a:rPr lang="es-ES_tradnl" sz="1200" dirty="0"/>
              <a:t>: propiedades de las palabras reales como su </a:t>
            </a:r>
            <a:r>
              <a:rPr lang="es-ES_tradnl" sz="1200" i="1" dirty="0"/>
              <a:t>frecuencia léxica</a:t>
            </a:r>
          </a:p>
          <a:p>
            <a:endParaRPr lang="es-ES_tradnl" sz="1200" dirty="0"/>
          </a:p>
          <a:p>
            <a:r>
              <a:rPr lang="es-ES_tradnl" sz="1200" b="1" dirty="0"/>
              <a:t>Alta frecuencia</a:t>
            </a:r>
            <a:r>
              <a:rPr lang="es-ES_tradnl" sz="1200" dirty="0"/>
              <a:t>: creer, fuego, marrón, parir, etc.</a:t>
            </a:r>
          </a:p>
          <a:p>
            <a:endParaRPr lang="es-ES_tradnl" sz="1200" dirty="0"/>
          </a:p>
          <a:p>
            <a:r>
              <a:rPr lang="es-ES_tradnl" sz="1200" b="1" dirty="0"/>
              <a:t>Baja frecuencia</a:t>
            </a:r>
            <a:r>
              <a:rPr lang="es-ES_tradnl" sz="1200" dirty="0"/>
              <a:t>: tarro, foca, gaita, fango, etc.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31BAAB1-8082-240F-BCB4-5ECF4D5FE31C}"/>
              </a:ext>
            </a:extLst>
          </p:cNvPr>
          <p:cNvSpPr txBox="1">
            <a:spLocks/>
          </p:cNvSpPr>
          <p:nvPr/>
        </p:nvSpPr>
        <p:spPr>
          <a:xfrm>
            <a:off x="974202" y="764138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CZ" sz="2800" i="1" dirty="0">
              <a:solidFill>
                <a:srgbClr val="C00000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r>
              <a:rPr lang="en-CZ" sz="2800" i="1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Procesos cognitivos en el reconocimiento visual de las palabras </a:t>
            </a:r>
            <a:br>
              <a:rPr lang="en-CZ" sz="2800" i="1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</a:br>
            <a:endParaRPr lang="en-CZ" sz="1200" i="1" dirty="0">
              <a:solidFill>
                <a:srgbClr val="C00000"/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183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FE1CF-DFD2-13B3-040A-1C57EE23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5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D73CE48-D701-8CFC-6AFD-741BDD1BA2E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12097B6-DCE4-1744-5F95-E99BF029BD1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5</a:t>
            </a:fld>
            <a:endParaRPr lang="es-ES"/>
          </a:p>
        </p:txBody>
      </p:sp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7E7F66A3-AE44-FEF1-4F2E-6A7C2AF65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5</a:t>
            </a:fld>
            <a:endParaRPr lang="es-ES" dirty="0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6564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 descr="A diagram of a graph&#10;&#10;Description automatically generated">
            <a:extLst>
              <a:ext uri="{FF2B5EF4-FFF2-40B4-BE49-F238E27FC236}">
                <a16:creationId xmlns:a16="http://schemas.microsoft.com/office/drawing/2014/main" id="{4565091A-A231-34E6-7EC6-A8DB49AD28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550" y="1489613"/>
            <a:ext cx="5359812" cy="3723386"/>
          </a:xfrm>
          <a:prstGeom prst="rect">
            <a:avLst/>
          </a:prstGeom>
        </p:spPr>
      </p:pic>
      <p:pic>
        <p:nvPicPr>
          <p:cNvPr id="15" name="Picture 14" descr="A screenshot of a computer&#10;&#10;Description automatically generated">
            <a:extLst>
              <a:ext uri="{FF2B5EF4-FFF2-40B4-BE49-F238E27FC236}">
                <a16:creationId xmlns:a16="http://schemas.microsoft.com/office/drawing/2014/main" id="{9FBB4C6C-5C4F-6AD6-E2BC-5DB72BCD225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23685"/>
          <a:stretch/>
        </p:blipFill>
        <p:spPr>
          <a:xfrm>
            <a:off x="928326" y="1489613"/>
            <a:ext cx="4061421" cy="2336061"/>
          </a:xfrm>
          <a:prstGeom prst="rect">
            <a:avLst/>
          </a:prstGeom>
        </p:spPr>
      </p:pic>
      <p:pic>
        <p:nvPicPr>
          <p:cNvPr id="17" name="Picture 16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39881846-467E-F7DF-AC44-5C8930C2A4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238" y="4025061"/>
            <a:ext cx="4808723" cy="150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541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FE1CF-DFD2-13B3-040A-1C57EE23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6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D73CE48-D701-8CFC-6AFD-741BDD1BA2E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12097B6-DCE4-1744-5F95-E99BF029BD1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6</a:t>
            </a:fld>
            <a:endParaRPr lang="es-ES"/>
          </a:p>
        </p:txBody>
      </p:sp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7E7F66A3-AE44-FEF1-4F2E-6A7C2AF65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6</a:t>
            </a:fld>
            <a:endParaRPr lang="es-ES" dirty="0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6564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drawing of a person holding a shield and a graph&#10;&#10;Description automatically generated">
            <a:extLst>
              <a:ext uri="{FF2B5EF4-FFF2-40B4-BE49-F238E27FC236}">
                <a16:creationId xmlns:a16="http://schemas.microsoft.com/office/drawing/2014/main" id="{485A79F4-EAB0-A895-B953-A595BBB0C13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11077303" y="5143242"/>
            <a:ext cx="1057531" cy="16539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0B2DBD-A578-3BBD-1EC5-AC6115B4A903}"/>
              </a:ext>
            </a:extLst>
          </p:cNvPr>
          <p:cNvSpPr txBox="1"/>
          <p:nvPr/>
        </p:nvSpPr>
        <p:spPr>
          <a:xfrm>
            <a:off x="1029585" y="1098239"/>
            <a:ext cx="7430044" cy="463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800" i="1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 </a:t>
            </a:r>
            <a:r>
              <a:rPr lang="es-ES_tradnl" sz="1800" i="1" dirty="0">
                <a:solidFill>
                  <a:srgbClr val="C00000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</a:t>
            </a:r>
            <a:r>
              <a:rPr lang="es-ES_tradnl" i="1" dirty="0">
                <a:solidFill>
                  <a:srgbClr val="C00000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C</a:t>
            </a:r>
            <a:r>
              <a:rPr lang="es-ES_tradnl" sz="1800" i="1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uántos datos debemos recoger?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224EA4-C1C5-BB6E-F23A-657C57BA235C}"/>
              </a:ext>
            </a:extLst>
          </p:cNvPr>
          <p:cNvSpPr txBox="1"/>
          <p:nvPr/>
        </p:nvSpPr>
        <p:spPr>
          <a:xfrm>
            <a:off x="10510322" y="1061815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8.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B16A15-2EC7-45C5-9F9E-15E6DAEA8319}"/>
              </a:ext>
            </a:extLst>
          </p:cNvPr>
          <p:cNvSpPr txBox="1"/>
          <p:nvPr/>
        </p:nvSpPr>
        <p:spPr>
          <a:xfrm>
            <a:off x="1109483" y="1787938"/>
            <a:ext cx="31835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8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Si el tamaño de efecto fuese pequeño… ¿qué combinación de </a:t>
            </a:r>
            <a:r>
              <a:rPr lang="es-ES_tradnl" dirty="0">
                <a:latin typeface="Baskerville" panose="02020502070401020303" pitchFamily="18" charset="0"/>
                <a:ea typeface="Baskerville" panose="02020502070401020303" pitchFamily="18" charset="0"/>
              </a:rPr>
              <a:t> participantes/ensayos es la óptima?</a:t>
            </a:r>
          </a:p>
          <a:p>
            <a:endParaRPr lang="es-ES_tradnl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(SESOI, recursos disponibles)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9F7D2AD-6413-5CD2-896F-36A5A69974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683" y="1215703"/>
            <a:ext cx="6018534" cy="484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874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7</a:t>
            </a:fld>
            <a:endParaRPr lang="es-ES" dirty="0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75376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 </a:t>
            </a:r>
            <a:r>
              <a:rPr lang="es-ES_tradn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· </a:t>
            </a:r>
            <a:r>
              <a:rPr lang="es-ES_tradnl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ejemplo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E7E884-FE7C-DEAF-46AD-04D9AC96094B}"/>
              </a:ext>
            </a:extLst>
          </p:cNvPr>
          <p:cNvSpPr txBox="1"/>
          <p:nvPr/>
        </p:nvSpPr>
        <p:spPr>
          <a:xfrm>
            <a:off x="785238" y="1151545"/>
            <a:ext cx="11334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Ejemplo: tarea de decisión léxica; identificar palabras de frecuencia léxica alta vs. baja; ej. ceder vs. claudicar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D69E19-A061-2408-1F1E-C5B92F635714}"/>
              </a:ext>
            </a:extLst>
          </p:cNvPr>
          <p:cNvSpPr txBox="1"/>
          <p:nvPr/>
        </p:nvSpPr>
        <p:spPr>
          <a:xfrm>
            <a:off x="785238" y="2132836"/>
            <a:ext cx="64172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tiempos de respuesta = tiempo promedio + efecto de nuestra manipulación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0C7CD1-1D8C-51BA-9F88-13E90B81A12B}"/>
              </a:ext>
            </a:extLst>
          </p:cNvPr>
          <p:cNvSpPr txBox="1"/>
          <p:nvPr/>
        </p:nvSpPr>
        <p:spPr>
          <a:xfrm>
            <a:off x="785238" y="1878394"/>
            <a:ext cx="1677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NUESTRA REALIDAD: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AA5D4-8BE7-6C27-B6D4-22D23A6FBABF}"/>
              </a:ext>
            </a:extLst>
          </p:cNvPr>
          <p:cNvSpPr txBox="1"/>
          <p:nvPr/>
        </p:nvSpPr>
        <p:spPr>
          <a:xfrm>
            <a:off x="7828469" y="2100311"/>
            <a:ext cx="295383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b="0" i="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Un </a:t>
            </a:r>
            <a:r>
              <a:rPr lang="es-ES_tradnl" sz="1400" i="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parámetro</a:t>
            </a:r>
            <a:r>
              <a:rPr lang="es-ES_tradnl" sz="1400" b="0" i="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 es un valor numérico que define el modelo y que queremos </a:t>
            </a:r>
            <a:r>
              <a:rPr lang="es-ES_tradnl" sz="1400" b="0" i="0" u="sng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estimar</a:t>
            </a:r>
            <a:r>
              <a:rPr lang="es-ES_tradnl" sz="1400" b="0" i="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a partir de los datos.</a:t>
            </a:r>
          </a:p>
          <a:p>
            <a:br>
              <a:rPr lang="es-ES_tradnl" dirty="0"/>
            </a:br>
            <a:endParaRPr lang="es-ES_tradnl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5B55EA-C545-A544-FDF1-97403023F125}"/>
              </a:ext>
            </a:extLst>
          </p:cNvPr>
          <p:cNvSpPr txBox="1"/>
          <p:nvPr/>
        </p:nvSpPr>
        <p:spPr>
          <a:xfrm>
            <a:off x="7828469" y="1878394"/>
            <a:ext cx="64897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2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DEFINICIÓN: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1035FA7-29FD-CDD4-1F57-D0541E881BB0}"/>
              </a:ext>
            </a:extLst>
          </p:cNvPr>
          <p:cNvCxnSpPr>
            <a:cxnSpLocks/>
          </p:cNvCxnSpPr>
          <p:nvPr/>
        </p:nvCxnSpPr>
        <p:spPr>
          <a:xfrm flipV="1">
            <a:off x="3605048" y="2471390"/>
            <a:ext cx="0" cy="19276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AA389D9-EA99-FE3D-AA32-9BA21428C03E}"/>
              </a:ext>
            </a:extLst>
          </p:cNvPr>
          <p:cNvSpPr txBox="1"/>
          <p:nvPr/>
        </p:nvSpPr>
        <p:spPr>
          <a:xfrm>
            <a:off x="3253830" y="2637551"/>
            <a:ext cx="7024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725 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43C579-A376-A928-60AF-45D62D0D01E9}"/>
              </a:ext>
            </a:extLst>
          </p:cNvPr>
          <p:cNvSpPr txBox="1"/>
          <p:nvPr/>
        </p:nvSpPr>
        <p:spPr>
          <a:xfrm>
            <a:off x="4520772" y="2621548"/>
            <a:ext cx="27431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+/- 25 ms (50 ms de  diferencia)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BDFFED3-5C7C-9760-3081-A60A2D052B0B}"/>
              </a:ext>
            </a:extLst>
          </p:cNvPr>
          <p:cNvCxnSpPr>
            <a:cxnSpLocks/>
          </p:cNvCxnSpPr>
          <p:nvPr/>
        </p:nvCxnSpPr>
        <p:spPr>
          <a:xfrm flipV="1">
            <a:off x="5025680" y="2471390"/>
            <a:ext cx="0" cy="17108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9A99877-BC63-F105-2A4F-C215CAE9DA4D}"/>
                  </a:ext>
                </a:extLst>
              </p:cNvPr>
              <p:cNvSpPr txBox="1"/>
              <p:nvPr/>
            </p:nvSpPr>
            <p:spPr>
              <a:xfrm>
                <a:off x="3184159" y="1741529"/>
                <a:ext cx="87158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sz="1400" b="0" i="1" baseline="-25000" smtClean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0 </m:t>
                      </m:r>
                      <m:r>
                        <a:rPr lang="cs-CZ" sz="1400" b="0" i="1" smtClean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“</m:t>
                      </m:r>
                      <m:r>
                        <a:rPr lang="cs-CZ" sz="1400" b="0" i="1" smtClean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𝑏𝑒𝑡𝑎</m:t>
                      </m:r>
                      <m:r>
                        <a:rPr lang="cs-CZ" sz="1400" b="0" i="1" smtClean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0“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9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9A99877-BC63-F105-2A4F-C215CAE9D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159" y="1741529"/>
                <a:ext cx="871584" cy="215444"/>
              </a:xfrm>
              <a:prstGeom prst="rect">
                <a:avLst/>
              </a:prstGeom>
              <a:blipFill>
                <a:blip r:embed="rId5"/>
                <a:stretch>
                  <a:fillRect l="-7143" t="-11111" r="-5714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D33A551-6883-2F78-E37E-F64410A7A6C7}"/>
                  </a:ext>
                </a:extLst>
              </p:cNvPr>
              <p:cNvSpPr txBox="1"/>
              <p:nvPr/>
            </p:nvSpPr>
            <p:spPr>
              <a:xfrm>
                <a:off x="4679967" y="1766328"/>
                <a:ext cx="87158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sz="1400" b="0" i="1" baseline="-25000" smtClean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1 </m:t>
                      </m:r>
                      <m:r>
                        <a:rPr lang="cs-CZ" sz="1400" b="0" i="1" smtClean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“</m:t>
                      </m:r>
                      <m:r>
                        <a:rPr lang="cs-CZ" sz="1400" b="0" i="1" smtClean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𝑏𝑒𝑡𝑎</m:t>
                      </m:r>
                      <m:r>
                        <a:rPr lang="cs-CZ" sz="1400" b="0" i="1" smtClean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1“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9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D33A551-6883-2F78-E37E-F64410A7A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967" y="1766328"/>
                <a:ext cx="871584" cy="215444"/>
              </a:xfrm>
              <a:prstGeom prst="rect">
                <a:avLst/>
              </a:prstGeom>
              <a:blipFill>
                <a:blip r:embed="rId6"/>
                <a:stretch>
                  <a:fillRect l="-7143" t="-11765" r="-4286" b="-5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3747FF0-A4F8-B15B-055D-DE3F3C10E592}"/>
              </a:ext>
            </a:extLst>
          </p:cNvPr>
          <p:cNvSpPr txBox="1"/>
          <p:nvPr/>
        </p:nvSpPr>
        <p:spPr>
          <a:xfrm>
            <a:off x="3112868" y="1936820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>
                    <a:lumMod val="9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PARÁMETRO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AFCD5D-BEB6-D360-D1FC-C6BC5AE0DD8B}"/>
              </a:ext>
            </a:extLst>
          </p:cNvPr>
          <p:cNvSpPr txBox="1"/>
          <p:nvPr/>
        </p:nvSpPr>
        <p:spPr>
          <a:xfrm>
            <a:off x="4626374" y="1940075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2">
                    <a:lumMod val="9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PARÁMETRO</a:t>
            </a:r>
          </a:p>
        </p:txBody>
      </p:sp>
      <p:pic>
        <p:nvPicPr>
          <p:cNvPr id="36" name="Picture 35" descr="A graph with a green line and a line&#10;&#10;Description automatically generated">
            <a:extLst>
              <a:ext uri="{FF2B5EF4-FFF2-40B4-BE49-F238E27FC236}">
                <a16:creationId xmlns:a16="http://schemas.microsoft.com/office/drawing/2014/main" id="{3AEB15D5-BDB3-B48F-D0B9-C4B9411D1E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0785" y="3338695"/>
            <a:ext cx="4147455" cy="29032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003DF36B-C1EE-EAD2-AB61-1F73985935C4}"/>
              </a:ext>
            </a:extLst>
          </p:cNvPr>
          <p:cNvSpPr txBox="1"/>
          <p:nvPr/>
        </p:nvSpPr>
        <p:spPr>
          <a:xfrm>
            <a:off x="7369055" y="4137901"/>
            <a:ext cx="3984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8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</a:t>
            </a:r>
            <a:r>
              <a:rPr lang="es-ES_tradnl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Qué nos fastidia en conocer la realidad?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18382D-DCAF-A97E-4CAF-D1942153D8A9}"/>
              </a:ext>
            </a:extLst>
          </p:cNvPr>
          <p:cNvSpPr txBox="1"/>
          <p:nvPr/>
        </p:nvSpPr>
        <p:spPr>
          <a:xfrm>
            <a:off x="4605460" y="2896282"/>
            <a:ext cx="9692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bg2">
                    <a:lumMod val="90000"/>
                  </a:schemeClr>
                </a:solidFill>
              </a:rPr>
              <a:t>pendiente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20825E-2B4B-19DF-D6A2-45A054766371}"/>
              </a:ext>
            </a:extLst>
          </p:cNvPr>
          <p:cNvSpPr txBox="1"/>
          <p:nvPr/>
        </p:nvSpPr>
        <p:spPr>
          <a:xfrm>
            <a:off x="3112868" y="2870310"/>
            <a:ext cx="9819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bg2">
                    <a:lumMod val="90000"/>
                  </a:schemeClr>
                </a:solidFill>
              </a:rPr>
              <a:t>intercepto</a:t>
            </a:r>
          </a:p>
        </p:txBody>
      </p:sp>
      <p:pic>
        <p:nvPicPr>
          <p:cNvPr id="17" name="Imagen 9">
            <a:extLst>
              <a:ext uri="{FF2B5EF4-FFF2-40B4-BE49-F238E27FC236}">
                <a16:creationId xmlns:a16="http://schemas.microsoft.com/office/drawing/2014/main" id="{85185B5C-4484-F401-BBC4-163BCEEBCF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048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4" grpId="0"/>
      <p:bldP spid="16" grpId="0"/>
      <p:bldP spid="28" grpId="0"/>
      <p:bldP spid="29" grpId="0"/>
      <p:bldP spid="34" grpId="0"/>
      <p:bldP spid="63" grpId="0"/>
      <p:bldP spid="41" grpId="0"/>
      <p:bldP spid="43" grpId="0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8</a:t>
            </a:fld>
            <a:endParaRPr lang="es-ES" dirty="0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6506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D69E19-A061-2408-1F1E-C5B92F635714}"/>
              </a:ext>
            </a:extLst>
          </p:cNvPr>
          <p:cNvSpPr txBox="1"/>
          <p:nvPr/>
        </p:nvSpPr>
        <p:spPr>
          <a:xfrm>
            <a:off x="785238" y="2132836"/>
            <a:ext cx="64172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tiempos de respuesta = tiempo promedio + efecto de nuestra manipulación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0C7CD1-1D8C-51BA-9F88-13E90B81A12B}"/>
              </a:ext>
            </a:extLst>
          </p:cNvPr>
          <p:cNvSpPr txBox="1"/>
          <p:nvPr/>
        </p:nvSpPr>
        <p:spPr>
          <a:xfrm>
            <a:off x="785238" y="1878394"/>
            <a:ext cx="1677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NUESTRA REALIDAD: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1035FA7-29FD-CDD4-1F57-D0541E881BB0}"/>
              </a:ext>
            </a:extLst>
          </p:cNvPr>
          <p:cNvCxnSpPr>
            <a:cxnSpLocks/>
          </p:cNvCxnSpPr>
          <p:nvPr/>
        </p:nvCxnSpPr>
        <p:spPr>
          <a:xfrm flipV="1">
            <a:off x="3605048" y="2471390"/>
            <a:ext cx="0" cy="1927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AA389D9-EA99-FE3D-AA32-9BA21428C03E}"/>
              </a:ext>
            </a:extLst>
          </p:cNvPr>
          <p:cNvSpPr txBox="1"/>
          <p:nvPr/>
        </p:nvSpPr>
        <p:spPr>
          <a:xfrm>
            <a:off x="3253830" y="2637551"/>
            <a:ext cx="7024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latin typeface="Baskerville" panose="02020502070401020303" pitchFamily="18" charset="0"/>
                <a:ea typeface="Baskerville" panose="02020502070401020303" pitchFamily="18" charset="0"/>
              </a:rPr>
              <a:t>725 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43C579-A376-A928-60AF-45D62D0D01E9}"/>
              </a:ext>
            </a:extLst>
          </p:cNvPr>
          <p:cNvSpPr txBox="1"/>
          <p:nvPr/>
        </p:nvSpPr>
        <p:spPr>
          <a:xfrm>
            <a:off x="4520772" y="2621548"/>
            <a:ext cx="27431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latin typeface="Baskerville" panose="02020502070401020303" pitchFamily="18" charset="0"/>
                <a:ea typeface="Baskerville" panose="02020502070401020303" pitchFamily="18" charset="0"/>
              </a:rPr>
              <a:t>+/- 25 ms (50 ms de  diferencia)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BDFFED3-5C7C-9760-3081-A60A2D052B0B}"/>
              </a:ext>
            </a:extLst>
          </p:cNvPr>
          <p:cNvCxnSpPr>
            <a:cxnSpLocks/>
          </p:cNvCxnSpPr>
          <p:nvPr/>
        </p:nvCxnSpPr>
        <p:spPr>
          <a:xfrm flipV="1">
            <a:off x="5025680" y="2471390"/>
            <a:ext cx="0" cy="171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9A99877-BC63-F105-2A4F-C215CAE9DA4D}"/>
                  </a:ext>
                </a:extLst>
              </p:cNvPr>
              <p:cNvSpPr txBox="1"/>
              <p:nvPr/>
            </p:nvSpPr>
            <p:spPr>
              <a:xfrm>
                <a:off x="3184159" y="1741529"/>
                <a:ext cx="87158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sz="14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0 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“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𝑏𝑒𝑡𝑎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0“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9A99877-BC63-F105-2A4F-C215CAE9D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159" y="1741529"/>
                <a:ext cx="871584" cy="215444"/>
              </a:xfrm>
              <a:prstGeom prst="rect">
                <a:avLst/>
              </a:prstGeom>
              <a:blipFill>
                <a:blip r:embed="rId5"/>
                <a:stretch>
                  <a:fillRect l="-7143" t="-11111" r="-5714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D33A551-6883-2F78-E37E-F64410A7A6C7}"/>
                  </a:ext>
                </a:extLst>
              </p:cNvPr>
              <p:cNvSpPr txBox="1"/>
              <p:nvPr/>
            </p:nvSpPr>
            <p:spPr>
              <a:xfrm>
                <a:off x="4679967" y="1766328"/>
                <a:ext cx="87158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sz="14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1 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“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𝑏𝑒𝑡𝑎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1“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D33A551-6883-2F78-E37E-F64410A7A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967" y="1766328"/>
                <a:ext cx="871584" cy="215444"/>
              </a:xfrm>
              <a:prstGeom prst="rect">
                <a:avLst/>
              </a:prstGeom>
              <a:blipFill>
                <a:blip r:embed="rId6"/>
                <a:stretch>
                  <a:fillRect l="-7143" t="-11765" r="-4286" b="-5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3747FF0-A4F8-B15B-055D-DE3F3C10E592}"/>
              </a:ext>
            </a:extLst>
          </p:cNvPr>
          <p:cNvSpPr txBox="1"/>
          <p:nvPr/>
        </p:nvSpPr>
        <p:spPr>
          <a:xfrm>
            <a:off x="3112868" y="1936820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PARÁMETRO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AFCD5D-BEB6-D360-D1FC-C6BC5AE0DD8B}"/>
              </a:ext>
            </a:extLst>
          </p:cNvPr>
          <p:cNvSpPr txBox="1"/>
          <p:nvPr/>
        </p:nvSpPr>
        <p:spPr>
          <a:xfrm>
            <a:off x="4626374" y="1940075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PARÁMETRO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3DF36B-C1EE-EAD2-AB61-1F73985935C4}"/>
              </a:ext>
            </a:extLst>
          </p:cNvPr>
          <p:cNvSpPr txBox="1"/>
          <p:nvPr/>
        </p:nvSpPr>
        <p:spPr>
          <a:xfrm>
            <a:off x="7202508" y="1054504"/>
            <a:ext cx="3984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8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</a:t>
            </a:r>
            <a:r>
              <a:rPr lang="es-ES_tradnl" dirty="0">
                <a:latin typeface="Baskerville" panose="02020502070401020303" pitchFamily="18" charset="0"/>
                <a:ea typeface="Baskerville" panose="02020502070401020303" pitchFamily="18" charset="0"/>
              </a:rPr>
              <a:t>Qué nos fastidia en conocer la realidad?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32D8C6-4ABF-375E-FDAE-F33D725EA2B4}"/>
              </a:ext>
            </a:extLst>
          </p:cNvPr>
          <p:cNvSpPr txBox="1"/>
          <p:nvPr/>
        </p:nvSpPr>
        <p:spPr>
          <a:xfrm>
            <a:off x="8648133" y="1932170"/>
            <a:ext cx="28859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600" b="0" i="1" dirty="0">
                <a:solidFill>
                  <a:srgbClr val="141413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Lapsus de atención</a:t>
            </a:r>
          </a:p>
          <a:p>
            <a:pPr algn="l"/>
            <a:r>
              <a:rPr lang="es-ES_tradnl" sz="1600" b="0" i="1" dirty="0">
                <a:solidFill>
                  <a:srgbClr val="141413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Variabilidad en la respuesta motora</a:t>
            </a:r>
          </a:p>
          <a:p>
            <a:pPr algn="l"/>
            <a:r>
              <a:rPr lang="es-ES_tradnl" sz="1600" b="0" i="1" dirty="0">
                <a:solidFill>
                  <a:srgbClr val="141413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Fatiga</a:t>
            </a:r>
          </a:p>
          <a:p>
            <a:pPr algn="l"/>
            <a:r>
              <a:rPr lang="es-ES_tradnl" sz="1600" b="0" i="1" dirty="0">
                <a:solidFill>
                  <a:srgbClr val="141413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Distracciones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743612-0F8D-88E4-BEC4-971087D9D868}"/>
              </a:ext>
            </a:extLst>
          </p:cNvPr>
          <p:cNvSpPr txBox="1"/>
          <p:nvPr/>
        </p:nvSpPr>
        <p:spPr>
          <a:xfrm>
            <a:off x="7071267" y="1923662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PARÁMETRO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B7D162-C978-D039-43FC-3114D40DDDA3}"/>
              </a:ext>
            </a:extLst>
          </p:cNvPr>
          <p:cNvSpPr txBox="1"/>
          <p:nvPr/>
        </p:nvSpPr>
        <p:spPr>
          <a:xfrm>
            <a:off x="846693" y="2167237"/>
            <a:ext cx="64172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tiempos de respuesta = tiempo promedio + efecto de nuestra manipulación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352F2C-E3B9-20CE-0738-3C208966707B}"/>
              </a:ext>
            </a:extLst>
          </p:cNvPr>
          <p:cNvSpPr txBox="1"/>
          <p:nvPr/>
        </p:nvSpPr>
        <p:spPr>
          <a:xfrm>
            <a:off x="846693" y="1912795"/>
            <a:ext cx="1677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NUESTRA REALIDAD: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3EFB69-020E-FA5F-CEA4-437743E33759}"/>
              </a:ext>
            </a:extLst>
          </p:cNvPr>
          <p:cNvSpPr txBox="1"/>
          <p:nvPr/>
        </p:nvSpPr>
        <p:spPr>
          <a:xfrm>
            <a:off x="3288819" y="2671952"/>
            <a:ext cx="7024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latin typeface="Baskerville" panose="02020502070401020303" pitchFamily="18" charset="0"/>
                <a:ea typeface="Baskerville" panose="02020502070401020303" pitchFamily="18" charset="0"/>
              </a:rPr>
              <a:t>725 ms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9002E7-6615-DE73-B8A4-5A82BFE4DAD4}"/>
              </a:ext>
            </a:extLst>
          </p:cNvPr>
          <p:cNvSpPr txBox="1"/>
          <p:nvPr/>
        </p:nvSpPr>
        <p:spPr>
          <a:xfrm>
            <a:off x="4555761" y="2655949"/>
            <a:ext cx="27431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latin typeface="Baskerville" panose="02020502070401020303" pitchFamily="18" charset="0"/>
                <a:ea typeface="Baskerville" panose="02020502070401020303" pitchFamily="18" charset="0"/>
              </a:rPr>
              <a:t>+/- 25 ms (50 ms de  diferencia)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453DE55-8943-F982-AAEB-A3065E42D5E2}"/>
              </a:ext>
            </a:extLst>
          </p:cNvPr>
          <p:cNvCxnSpPr>
            <a:cxnSpLocks/>
          </p:cNvCxnSpPr>
          <p:nvPr/>
        </p:nvCxnSpPr>
        <p:spPr>
          <a:xfrm flipV="1">
            <a:off x="5060669" y="2505791"/>
            <a:ext cx="0" cy="1710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311E35B-C2F0-11F7-F361-B64C93686DCF}"/>
                  </a:ext>
                </a:extLst>
              </p:cNvPr>
              <p:cNvSpPr txBox="1"/>
              <p:nvPr/>
            </p:nvSpPr>
            <p:spPr>
              <a:xfrm>
                <a:off x="3219148" y="1775930"/>
                <a:ext cx="87158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sz="14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0 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“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𝑏𝑒𝑡𝑎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0“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311E35B-C2F0-11F7-F361-B64C93686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148" y="1775930"/>
                <a:ext cx="871584" cy="215444"/>
              </a:xfrm>
              <a:prstGeom prst="rect">
                <a:avLst/>
              </a:prstGeom>
              <a:blipFill>
                <a:blip r:embed="rId7"/>
                <a:stretch>
                  <a:fillRect l="-7143" t="-5556" r="-4286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1C21BCC-644E-1418-AB44-4C170677FC7E}"/>
                  </a:ext>
                </a:extLst>
              </p:cNvPr>
              <p:cNvSpPr txBox="1"/>
              <p:nvPr/>
            </p:nvSpPr>
            <p:spPr>
              <a:xfrm>
                <a:off x="4714956" y="1800729"/>
                <a:ext cx="87158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sz="14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1 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“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𝑏𝑒𝑡𝑎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1“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1C21BCC-644E-1418-AB44-4C170677F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956" y="1800729"/>
                <a:ext cx="871584" cy="215444"/>
              </a:xfrm>
              <a:prstGeom prst="rect">
                <a:avLst/>
              </a:prstGeom>
              <a:blipFill>
                <a:blip r:embed="rId9"/>
                <a:stretch>
                  <a:fillRect l="-7246" t="-5556" r="-5797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B5F455DC-EDC5-420D-7B87-1A8719CA8FF9}"/>
              </a:ext>
            </a:extLst>
          </p:cNvPr>
          <p:cNvSpPr txBox="1"/>
          <p:nvPr/>
        </p:nvSpPr>
        <p:spPr>
          <a:xfrm>
            <a:off x="3147857" y="1971221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PARÁMETRO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94C5B4-69D6-1151-8978-ACEE1EE2ABB7}"/>
              </a:ext>
            </a:extLst>
          </p:cNvPr>
          <p:cNvSpPr txBox="1"/>
          <p:nvPr/>
        </p:nvSpPr>
        <p:spPr>
          <a:xfrm>
            <a:off x="4661363" y="1974476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PARÁMETRO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ED7407-BD93-0210-0FDD-F2823D1C42BF}"/>
              </a:ext>
            </a:extLst>
          </p:cNvPr>
          <p:cNvSpPr txBox="1"/>
          <p:nvPr/>
        </p:nvSpPr>
        <p:spPr>
          <a:xfrm>
            <a:off x="7068543" y="2150473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 </a:t>
            </a:r>
            <a:r>
              <a:rPr lang="es-ES_tradnl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ruido</a:t>
            </a:r>
          </a:p>
        </p:txBody>
      </p:sp>
      <p:pic>
        <p:nvPicPr>
          <p:cNvPr id="51" name="Picture 50" descr="A graph with lines and a line&#10;&#10;Description automatically generated with medium confidence">
            <a:extLst>
              <a:ext uri="{FF2B5EF4-FFF2-40B4-BE49-F238E27FC236}">
                <a16:creationId xmlns:a16="http://schemas.microsoft.com/office/drawing/2014/main" id="{29696173-D8B2-F0C7-5E90-3816DB7CB2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23769" y="3368455"/>
            <a:ext cx="3750896" cy="2625627"/>
          </a:xfrm>
          <a:prstGeom prst="rect">
            <a:avLst/>
          </a:prstGeom>
        </p:spPr>
      </p:pic>
      <p:pic>
        <p:nvPicPr>
          <p:cNvPr id="2" name="Picture 1" descr="A graph with a green line&#10;&#10;Description automatically generated">
            <a:extLst>
              <a:ext uri="{FF2B5EF4-FFF2-40B4-BE49-F238E27FC236}">
                <a16:creationId xmlns:a16="http://schemas.microsoft.com/office/drawing/2014/main" id="{0CF6AD54-3A7E-8B46-A413-6CC7A2049D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93941" y="2646425"/>
            <a:ext cx="822441" cy="493145"/>
          </a:xfrm>
          <a:prstGeom prst="rect">
            <a:avLst/>
          </a:prstGeom>
        </p:spPr>
      </p:pic>
      <p:pic>
        <p:nvPicPr>
          <p:cNvPr id="15" name="Imagen 9">
            <a:extLst>
              <a:ext uri="{FF2B5EF4-FFF2-40B4-BE49-F238E27FC236}">
                <a16:creationId xmlns:a16="http://schemas.microsoft.com/office/drawing/2014/main" id="{5A36D8DA-328E-9657-6D10-5B6133F842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977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FE1CF-DFD2-13B3-040A-1C57EE23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9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D73CE48-D701-8CFC-6AFD-741BDD1BA2E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9</a:t>
            </a:fld>
            <a:endParaRPr lang="es-E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12097B6-DCE4-1744-5F95-E99BF029BD1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9</a:t>
            </a:fld>
            <a:endParaRPr lang="es-ES"/>
          </a:p>
        </p:txBody>
      </p:sp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7E7F66A3-AE44-FEF1-4F2E-6A7C2AF65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9</a:t>
            </a:fld>
            <a:endParaRPr lang="es-ES" dirty="0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6506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C13F93-A2F6-BFBF-7470-2367C848D2EF}"/>
              </a:ext>
            </a:extLst>
          </p:cNvPr>
          <p:cNvSpPr txBox="1"/>
          <p:nvPr/>
        </p:nvSpPr>
        <p:spPr>
          <a:xfrm>
            <a:off x="682415" y="1369300"/>
            <a:ext cx="10104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Recogemos más datos, el error residual se va aproximando a una distribución normal con media de 0 y su efecto en nuestras estimaciones se reduce.</a:t>
            </a:r>
          </a:p>
        </p:txBody>
      </p:sp>
      <p:pic>
        <p:nvPicPr>
          <p:cNvPr id="19" name="Picture 18" descr="A graph of a graph with a red line&#10;&#10;Description automatically generated">
            <a:extLst>
              <a:ext uri="{FF2B5EF4-FFF2-40B4-BE49-F238E27FC236}">
                <a16:creationId xmlns:a16="http://schemas.microsoft.com/office/drawing/2014/main" id="{584A314D-2D1E-9DEB-3EDF-B07201760C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415" y="2098163"/>
            <a:ext cx="4718097" cy="3538573"/>
          </a:xfrm>
          <a:prstGeom prst="rect">
            <a:avLst/>
          </a:prstGeom>
        </p:spPr>
      </p:pic>
      <p:pic>
        <p:nvPicPr>
          <p:cNvPr id="21" name="Picture 20" descr="A graph with orange lines and green lines&#10;&#10;Description automatically generated">
            <a:extLst>
              <a:ext uri="{FF2B5EF4-FFF2-40B4-BE49-F238E27FC236}">
                <a16:creationId xmlns:a16="http://schemas.microsoft.com/office/drawing/2014/main" id="{551C9FA7-D77C-CDD7-EA48-F6B9233E0A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835" y="2743200"/>
            <a:ext cx="5607198" cy="28035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1C63AD-301E-CE43-5F19-60A6873ED378}"/>
                  </a:ext>
                </a:extLst>
              </p:cNvPr>
              <p:cNvSpPr txBox="1"/>
              <p:nvPr/>
            </p:nvSpPr>
            <p:spPr>
              <a:xfrm>
                <a:off x="5561527" y="2536113"/>
                <a:ext cx="60981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𝛮</m:t>
                      </m:r>
                      <m:d>
                        <m:dPr>
                          <m:ctrlPr>
                            <a:rPr lang="cs-CZ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0, 200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1C63AD-301E-CE43-5F19-60A6873ED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527" y="2536113"/>
                <a:ext cx="6098146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50F67C2A-70EE-44F0-9915-C57F5A74C7F5}"/>
              </a:ext>
            </a:extLst>
          </p:cNvPr>
          <p:cNvSpPr txBox="1"/>
          <p:nvPr/>
        </p:nvSpPr>
        <p:spPr>
          <a:xfrm>
            <a:off x="682415" y="1143845"/>
            <a:ext cx="1106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SOLUCIÓN: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A7973F-5736-E104-7FDD-98F913897E33}"/>
              </a:ext>
            </a:extLst>
          </p:cNvPr>
          <p:cNvSpPr txBox="1"/>
          <p:nvPr/>
        </p:nvSpPr>
        <p:spPr>
          <a:xfrm>
            <a:off x="522987" y="5714589"/>
            <a:ext cx="122544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Cuántos datos? Para que en 80/95% de los casos seamos capaces de detectar/estimar precisamente los parámetros que nos interesen.</a:t>
            </a:r>
          </a:p>
        </p:txBody>
      </p:sp>
    </p:spTree>
    <p:extLst>
      <p:ext uri="{BB962C8B-B14F-4D97-AF65-F5344CB8AC3E}">
        <p14:creationId xmlns:p14="http://schemas.microsoft.com/office/powerpoint/2010/main" val="250046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519BD4-8DA8-C06C-D6B0-1A42A9BE1ACF}"/>
                  </a:ext>
                </a:extLst>
              </p:cNvPr>
              <p:cNvSpPr txBox="1"/>
              <p:nvPr/>
            </p:nvSpPr>
            <p:spPr>
              <a:xfrm>
                <a:off x="780172" y="3591991"/>
                <a:ext cx="33718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𝑟𝑡</m:t>
                      </m:r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𝑐𝑜𝑛𝑑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𝑐𝑜𝑑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519BD4-8DA8-C06C-D6B0-1A42A9BE1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172" y="3591991"/>
                <a:ext cx="3371820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FE1CF-DFD2-13B3-040A-1C57EE23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10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D73CE48-D701-8CFC-6AFD-741BDD1BA2E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10</a:t>
            </a:fld>
            <a:endParaRPr lang="es-E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12097B6-DCE4-1744-5F95-E99BF029BD1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10</a:t>
            </a:fld>
            <a:endParaRPr lang="es-ES"/>
          </a:p>
        </p:txBody>
      </p:sp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7E7F66A3-AE44-FEF1-4F2E-6A7C2AF657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10</a:t>
            </a:fld>
            <a:endParaRPr lang="es-ES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9519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 </a:t>
            </a:r>
            <a:r>
              <a:rPr lang="es-ES_tradn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· </a:t>
            </a:r>
            <a:r>
              <a:rPr lang="es-ES_tradnl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Acercándonos a la realidad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74399E-B7DD-E968-AA26-0B6C5B676967}"/>
              </a:ext>
            </a:extLst>
          </p:cNvPr>
          <p:cNvSpPr txBox="1"/>
          <p:nvPr/>
        </p:nvSpPr>
        <p:spPr>
          <a:xfrm>
            <a:off x="676859" y="1028967"/>
            <a:ext cx="4621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800" dirty="0">
                <a:latin typeface="Baskerville" panose="02020502070401020303" pitchFamily="18" charset="0"/>
                <a:ea typeface="Baskerville" panose="02020502070401020303" pitchFamily="18" charset="0"/>
              </a:rPr>
              <a:t>Nuestra </a:t>
            </a:r>
            <a:r>
              <a:rPr lang="es-ES_tradnl" dirty="0">
                <a:latin typeface="Baskerville" panose="02020502070401020303" pitchFamily="18" charset="0"/>
                <a:ea typeface="Baskerville" panose="02020502070401020303" pitchFamily="18" charset="0"/>
              </a:rPr>
              <a:t>realidad</a:t>
            </a:r>
            <a:r>
              <a:rPr lang="es-ES_tradnl" sz="1800" dirty="0">
                <a:latin typeface="Baskerville" panose="02020502070401020303" pitchFamily="18" charset="0"/>
                <a:ea typeface="Baskerville" panose="02020502070401020303" pitchFamily="18" charset="0"/>
              </a:rPr>
              <a:t> es algo más compleja que esto: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BCC1F2-9BB8-1CF0-1C90-726A938BB5B5}"/>
              </a:ext>
            </a:extLst>
          </p:cNvPr>
          <p:cNvSpPr txBox="1"/>
          <p:nvPr/>
        </p:nvSpPr>
        <p:spPr>
          <a:xfrm>
            <a:off x="780172" y="1652380"/>
            <a:ext cx="1677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NUESTRA REALIDAD: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C76C094-DCC1-B3AC-D9FD-F7D57351336D}"/>
                  </a:ext>
                </a:extLst>
              </p:cNvPr>
              <p:cNvSpPr txBox="1"/>
              <p:nvPr/>
            </p:nvSpPr>
            <p:spPr>
              <a:xfrm>
                <a:off x="1972897" y="2791044"/>
                <a:ext cx="2478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Baskerville" panose="02020502070401020303" pitchFamily="18" charset="0"/>
                    <a:ea typeface="Baskerville" panose="02020502070401020303" pitchFamily="18" charset="0"/>
                  </a:rPr>
                  <a:t>pendiente (50 ms) </a:t>
                </a:r>
                <a14:m>
                  <m:oMath xmlns:m="http://schemas.openxmlformats.org/officeDocument/2006/math">
                    <m:r>
                      <a:rPr lang="es-ES_tradnl" sz="1400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s-ES_tradnl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Baskerville" panose="02020502070401020303" pitchFamily="18" charset="0"/>
                    <a:ea typeface="Baskerville" panose="02020502070401020303" pitchFamily="18" charset="0"/>
                  </a:rPr>
                  <a:t> (-0.5/+0.5)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C76C094-DCC1-B3AC-D9FD-F7D573513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897" y="2791044"/>
                <a:ext cx="2478564" cy="307777"/>
              </a:xfrm>
              <a:prstGeom prst="rect">
                <a:avLst/>
              </a:prstGeom>
              <a:blipFill>
                <a:blip r:embed="rId7"/>
                <a:stretch>
                  <a:fillRect l="-1020" t="-400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FFC976A6-1642-0A3E-EF36-13AAE8CDF56B}"/>
              </a:ext>
            </a:extLst>
          </p:cNvPr>
          <p:cNvSpPr txBox="1"/>
          <p:nvPr/>
        </p:nvSpPr>
        <p:spPr>
          <a:xfrm>
            <a:off x="1345597" y="2277036"/>
            <a:ext cx="15615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intercepto (725 ms)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75D0C3-9528-4131-F410-2F3982E89F70}"/>
              </a:ext>
            </a:extLst>
          </p:cNvPr>
          <p:cNvSpPr txBox="1"/>
          <p:nvPr/>
        </p:nvSpPr>
        <p:spPr>
          <a:xfrm>
            <a:off x="2328190" y="1652380"/>
            <a:ext cx="1236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 PARÁMETROS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453655-62BA-4C44-0DDD-F819B00CDD2A}"/>
              </a:ext>
            </a:extLst>
          </p:cNvPr>
          <p:cNvSpPr txBox="1"/>
          <p:nvPr/>
        </p:nvSpPr>
        <p:spPr>
          <a:xfrm>
            <a:off x="3745524" y="3144987"/>
            <a:ext cx="6098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error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5A6814F-C5B3-8C97-896D-A006BFB25DC2}"/>
              </a:ext>
            </a:extLst>
          </p:cNvPr>
          <p:cNvCxnSpPr/>
          <p:nvPr/>
        </p:nvCxnSpPr>
        <p:spPr>
          <a:xfrm flipV="1">
            <a:off x="1577940" y="2584813"/>
            <a:ext cx="0" cy="1007178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3367CEF-CB34-52CF-C1E8-078B355CCBF3}"/>
              </a:ext>
            </a:extLst>
          </p:cNvPr>
          <p:cNvCxnSpPr>
            <a:cxnSpLocks/>
          </p:cNvCxnSpPr>
          <p:nvPr/>
        </p:nvCxnSpPr>
        <p:spPr>
          <a:xfrm flipV="1">
            <a:off x="3951026" y="3462273"/>
            <a:ext cx="0" cy="140829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1AA2F8F-AEF2-CFFB-885F-8E06B8C6EE8F}"/>
              </a:ext>
            </a:extLst>
          </p:cNvPr>
          <p:cNvCxnSpPr>
            <a:cxnSpLocks/>
          </p:cNvCxnSpPr>
          <p:nvPr/>
        </p:nvCxnSpPr>
        <p:spPr>
          <a:xfrm flipV="1">
            <a:off x="2199865" y="3098821"/>
            <a:ext cx="0" cy="404427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8D4F9F5-36BB-6BC7-72FF-C1A1A0199CC4}"/>
              </a:ext>
            </a:extLst>
          </p:cNvPr>
          <p:cNvSpPr txBox="1"/>
          <p:nvPr/>
        </p:nvSpPr>
        <p:spPr>
          <a:xfrm>
            <a:off x="9634360" y="1185613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1.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6C4D00-B5F1-AEE9-D592-495DDB16C9EE}"/>
              </a:ext>
            </a:extLst>
          </p:cNvPr>
          <p:cNvSpPr txBox="1"/>
          <p:nvPr/>
        </p:nvSpPr>
        <p:spPr>
          <a:xfrm>
            <a:off x="9646151" y="1483102"/>
            <a:ext cx="1473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entre-</a:t>
            </a:r>
            <a:r>
              <a:rPr lang="en-US" sz="14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grupos</a:t>
            </a:r>
            <a:endParaRPr lang="en-US" sz="1400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17" name="Picture 16" descr="A graph with a green line&#10;&#10;Description automatically generated">
            <a:extLst>
              <a:ext uri="{FF2B5EF4-FFF2-40B4-BE49-F238E27FC236}">
                <a16:creationId xmlns:a16="http://schemas.microsoft.com/office/drawing/2014/main" id="{FD2805D7-A8FA-E73E-E764-4619A0FB12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2923" y="4003393"/>
            <a:ext cx="676205" cy="40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62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2372AEB8-EE03-0CFF-8FF6-9474654F5DFC}"/>
              </a:ext>
            </a:extLst>
          </p:cNvPr>
          <p:cNvSpPr txBox="1"/>
          <p:nvPr/>
        </p:nvSpPr>
        <p:spPr>
          <a:xfrm>
            <a:off x="740829" y="1714553"/>
            <a:ext cx="11114510" cy="369332"/>
          </a:xfrm>
          <a:prstGeom prst="rect">
            <a:avLst/>
          </a:prstGeom>
          <a:solidFill>
            <a:srgbClr val="FDECEA"/>
          </a:solidFill>
        </p:spPr>
        <p:txBody>
          <a:bodyPr wrap="square" rtlCol="0">
            <a:spAutoFit/>
          </a:bodyPr>
          <a:lstStyle/>
          <a:p>
            <a:endParaRPr lang="en-AU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FE1CF-DFD2-13B3-040A-1C57EE23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11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D73CE48-D701-8CFC-6AFD-741BDD1BA2E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11</a:t>
            </a:fld>
            <a:endParaRPr lang="es-E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12097B6-DCE4-1744-5F95-E99BF029BD1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11</a:t>
            </a:fld>
            <a:endParaRPr lang="es-ES"/>
          </a:p>
        </p:txBody>
      </p:sp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7E7F66A3-AE44-FEF1-4F2E-6A7C2AF65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11</a:t>
            </a:fld>
            <a:endParaRPr lang="es-ES" dirty="0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94807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 </a:t>
            </a:r>
            <a:r>
              <a:rPr lang="es-ES_tradn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· </a:t>
            </a:r>
            <a:r>
              <a:rPr lang="es-ES_tradnl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Acercándonos a la realidad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E7E884-FE7C-DEAF-46AD-04D9AC96094B}"/>
              </a:ext>
            </a:extLst>
          </p:cNvPr>
          <p:cNvSpPr txBox="1"/>
          <p:nvPr/>
        </p:nvSpPr>
        <p:spPr>
          <a:xfrm>
            <a:off x="785238" y="1151545"/>
            <a:ext cx="4386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latin typeface="Baskerville" panose="02020502070401020303" pitchFamily="18" charset="0"/>
                <a:ea typeface="Baskerville" panose="02020502070401020303" pitchFamily="18" charset="0"/>
              </a:rPr>
              <a:t>Nuestra realidad es más compleja…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E395C1-2044-7602-CB3B-42069607BB35}"/>
              </a:ext>
            </a:extLst>
          </p:cNvPr>
          <p:cNvSpPr txBox="1"/>
          <p:nvPr/>
        </p:nvSpPr>
        <p:spPr>
          <a:xfrm>
            <a:off x="740829" y="1628382"/>
            <a:ext cx="9670267" cy="3376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2. </a:t>
            </a:r>
            <a:r>
              <a:rPr lang="es-ES_tradnl" sz="1600" dirty="0">
                <a:solidFill>
                  <a:srgbClr val="C00000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</a:t>
            </a:r>
            <a:r>
              <a:rPr lang="es-ES_tradnl" sz="1600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Podemos asumir que el tiempo basal es idéntico para todos los participantes? (interceptos) 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3. Los participantes responden a múltiples ensayos.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4. ¿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Podemos asumir que todos los sujetos van a reaccionar de forma igual a nuestra manipulación? (las pendientes) 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5. Y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si los participantes, que son más lentos, muestran efectos más pequeños? (</a:t>
            </a:r>
            <a:r>
              <a:rPr lang="es-ES_tradnl" sz="1600" u="sng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la correlación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entre los interceptos y las pendientes)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6.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Existe variabilidad para los ítems (palabras), igual que entre los participantes? (interceptos para las palabras)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7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¿Los tiempos de reacción, se distribuyen de forma normal?</a:t>
            </a:r>
          </a:p>
          <a:p>
            <a:pPr>
              <a:lnSpc>
                <a:spcPct val="150000"/>
              </a:lnSpc>
            </a:pPr>
            <a:endParaRPr lang="es-ES_tradnl" sz="1600" dirty="0">
              <a:solidFill>
                <a:schemeClr val="bg2">
                  <a:lumMod val="90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8.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¿C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uántos datos (participantes/ensayos) debo recoger para detectar los efectos repetidamente (80/95%)?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C8389E-4F13-87D9-2F52-1E5198445B9C}"/>
              </a:ext>
            </a:extLst>
          </p:cNvPr>
          <p:cNvSpPr txBox="1"/>
          <p:nvPr/>
        </p:nvSpPr>
        <p:spPr>
          <a:xfrm>
            <a:off x="10472560" y="1759027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2.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91145C-6951-A05F-B4B8-50C40E8F11AB}"/>
              </a:ext>
            </a:extLst>
          </p:cNvPr>
          <p:cNvSpPr txBox="1"/>
          <p:nvPr/>
        </p:nvSpPr>
        <p:spPr>
          <a:xfrm>
            <a:off x="10472560" y="2472122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4.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62B647-DA94-87EF-1AAE-8E1DD198DE0E}"/>
              </a:ext>
            </a:extLst>
          </p:cNvPr>
          <p:cNvSpPr txBox="1"/>
          <p:nvPr/>
        </p:nvSpPr>
        <p:spPr>
          <a:xfrm>
            <a:off x="10472560" y="2892543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5.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714706-111A-73E6-5A6E-697F55BD38E9}"/>
              </a:ext>
            </a:extLst>
          </p:cNvPr>
          <p:cNvSpPr txBox="1"/>
          <p:nvPr/>
        </p:nvSpPr>
        <p:spPr>
          <a:xfrm>
            <a:off x="10472560" y="3542689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6.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0DDAED-724C-B922-29ED-2FEB07F837E1}"/>
              </a:ext>
            </a:extLst>
          </p:cNvPr>
          <p:cNvSpPr txBox="1"/>
          <p:nvPr/>
        </p:nvSpPr>
        <p:spPr>
          <a:xfrm>
            <a:off x="10466179" y="3823140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7.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4A70C2-D7C1-A93C-2464-D67A1ED7D792}"/>
              </a:ext>
            </a:extLst>
          </p:cNvPr>
          <p:cNvSpPr txBox="1"/>
          <p:nvPr/>
        </p:nvSpPr>
        <p:spPr>
          <a:xfrm>
            <a:off x="10472560" y="2112144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3.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BFC932-1697-B62C-C34D-4DD8C470508C}"/>
              </a:ext>
            </a:extLst>
          </p:cNvPr>
          <p:cNvSpPr txBox="1"/>
          <p:nvPr/>
        </p:nvSpPr>
        <p:spPr>
          <a:xfrm>
            <a:off x="10510322" y="4645354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8.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B5A1B6-8E0C-00AA-DD7B-697A9E7D8F16}"/>
              </a:ext>
            </a:extLst>
          </p:cNvPr>
          <p:cNvSpPr txBox="1"/>
          <p:nvPr/>
        </p:nvSpPr>
        <p:spPr>
          <a:xfrm>
            <a:off x="585513" y="5473375"/>
            <a:ext cx="25891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MODELO FINAL CON 7 PARÁMETROS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DEDB85-A04F-2BEA-CA5A-642183165AFD}"/>
                  </a:ext>
                </a:extLst>
              </p:cNvPr>
              <p:cNvSpPr txBox="1"/>
              <p:nvPr/>
            </p:nvSpPr>
            <p:spPr>
              <a:xfrm>
                <a:off x="585513" y="5698935"/>
                <a:ext cx="5612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cs-CZ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cs-CZ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cs-CZ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b="0" i="1" smtClean="0">
                                  <a:latin typeface="Cambria Math" panose="02040503050406030204" pitchFamily="18" charset="0"/>
                                </a:rPr>
                                <m:t>𝑟𝑡</m:t>
                              </m:r>
                              <m:r>
                                <a:rPr lang="cs-CZ" b="0" i="1" baseline="-25000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e>
                          </m:d>
                        </m:e>
                      </m:func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𝑢𝑜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𝑤𝑜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𝑐𝑜𝑛𝑑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𝑐𝑜𝑑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DEDB85-A04F-2BEA-CA5A-642183165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13" y="5698935"/>
                <a:ext cx="5612883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5906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FE1CF-DFD2-13B3-040A-1C57EE23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12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D73CE48-D701-8CFC-6AFD-741BDD1BA2E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12</a:t>
            </a:fld>
            <a:endParaRPr lang="es-E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12097B6-DCE4-1744-5F95-E99BF029BD1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12</a:t>
            </a:fld>
            <a:endParaRPr lang="es-ES"/>
          </a:p>
        </p:txBody>
      </p:sp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7E7F66A3-AE44-FEF1-4F2E-6A7C2AF65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12</a:t>
            </a:fld>
            <a:endParaRPr lang="es-ES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9519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 </a:t>
            </a:r>
            <a:r>
              <a:rPr lang="es-ES_tradn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· </a:t>
            </a:r>
            <a:r>
              <a:rPr lang="es-ES_tradnl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acercándonos a la realidad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74399E-B7DD-E968-AA26-0B6C5B676967}"/>
              </a:ext>
            </a:extLst>
          </p:cNvPr>
          <p:cNvSpPr txBox="1"/>
          <p:nvPr/>
        </p:nvSpPr>
        <p:spPr>
          <a:xfrm>
            <a:off x="676859" y="1028967"/>
            <a:ext cx="9082358" cy="464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800" i="1" dirty="0">
                <a:latin typeface="Baskerville" panose="02020502070401020303" pitchFamily="18" charset="0"/>
                <a:ea typeface="Baskerville" panose="02020502070401020303" pitchFamily="18" charset="0"/>
              </a:rPr>
              <a:t>2. </a:t>
            </a:r>
            <a:r>
              <a:rPr lang="es-ES_tradnl" sz="1800" i="1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</a:t>
            </a:r>
            <a:r>
              <a:rPr lang="es-ES_tradnl" sz="1800" i="1" dirty="0">
                <a:latin typeface="Baskerville" panose="02020502070401020303" pitchFamily="18" charset="0"/>
                <a:ea typeface="Baskerville" panose="02020502070401020303" pitchFamily="18" charset="0"/>
              </a:rPr>
              <a:t>Podemos asumir que el tiempo basal es idéntico para todos los participantes? (interceptos aleatorios por sujeto)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D4F9F5-36BB-6BC7-72FF-C1A1A0199CC4}"/>
              </a:ext>
            </a:extLst>
          </p:cNvPr>
          <p:cNvSpPr txBox="1"/>
          <p:nvPr/>
        </p:nvSpPr>
        <p:spPr>
          <a:xfrm>
            <a:off x="9634360" y="1185613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2. </a:t>
            </a:r>
          </a:p>
        </p:txBody>
      </p:sp>
      <p:pic>
        <p:nvPicPr>
          <p:cNvPr id="13" name="Picture 12" descr="A graph of different levels of a subject trajectories&#10;&#10;Description automatically generated">
            <a:extLst>
              <a:ext uri="{FF2B5EF4-FFF2-40B4-BE49-F238E27FC236}">
                <a16:creationId xmlns:a16="http://schemas.microsoft.com/office/drawing/2014/main" id="{0D0D27CB-42A3-3E08-2125-F1F2A93580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5981" y="1914452"/>
            <a:ext cx="6524301" cy="3914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1263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0098DA84-C33C-6FF7-DDC2-19480C66F5E1}"/>
              </a:ext>
            </a:extLst>
          </p:cNvPr>
          <p:cNvSpPr txBox="1"/>
          <p:nvPr/>
        </p:nvSpPr>
        <p:spPr>
          <a:xfrm>
            <a:off x="1795346" y="3591991"/>
            <a:ext cx="598715" cy="369332"/>
          </a:xfrm>
          <a:prstGeom prst="rect">
            <a:avLst/>
          </a:prstGeom>
          <a:solidFill>
            <a:srgbClr val="FDECEA"/>
          </a:solidFill>
        </p:spPr>
        <p:txBody>
          <a:bodyPr wrap="square" rtlCol="0">
            <a:spAutoFit/>
          </a:bodyPr>
          <a:lstStyle/>
          <a:p>
            <a:endParaRPr lang="en-AU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FE1CF-DFD2-13B3-040A-1C57EE23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13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D73CE48-D701-8CFC-6AFD-741BDD1BA2E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13</a:t>
            </a:fld>
            <a:endParaRPr lang="es-E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12097B6-DCE4-1744-5F95-E99BF029BD1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13</a:t>
            </a:fld>
            <a:endParaRPr lang="es-ES"/>
          </a:p>
        </p:txBody>
      </p:sp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7E7F66A3-AE44-FEF1-4F2E-6A7C2AF65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13</a:t>
            </a:fld>
            <a:endParaRPr lang="es-ES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9519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 </a:t>
            </a:r>
            <a:r>
              <a:rPr lang="es-ES_tradn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· </a:t>
            </a:r>
            <a:r>
              <a:rPr lang="es-ES_tradnl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acercándonos a la realidad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74399E-B7DD-E968-AA26-0B6C5B676967}"/>
              </a:ext>
            </a:extLst>
          </p:cNvPr>
          <p:cNvSpPr txBox="1"/>
          <p:nvPr/>
        </p:nvSpPr>
        <p:spPr>
          <a:xfrm>
            <a:off x="676859" y="1028967"/>
            <a:ext cx="9082358" cy="464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800" i="1" dirty="0">
                <a:latin typeface="Baskerville" panose="02020502070401020303" pitchFamily="18" charset="0"/>
                <a:ea typeface="Baskerville" panose="02020502070401020303" pitchFamily="18" charset="0"/>
              </a:rPr>
              <a:t>2. </a:t>
            </a:r>
            <a:r>
              <a:rPr lang="es-ES_tradnl" sz="1800" i="1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</a:t>
            </a:r>
            <a:r>
              <a:rPr lang="es-ES_tradnl" sz="1800" i="1" dirty="0">
                <a:latin typeface="Baskerville" panose="02020502070401020303" pitchFamily="18" charset="0"/>
                <a:ea typeface="Baskerville" panose="02020502070401020303" pitchFamily="18" charset="0"/>
              </a:rPr>
              <a:t>Podemos asumir que el tiempo basal es idéntico para todos los participantes? (interceptos aleatorios por sujeto)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BCC1F2-9BB8-1CF0-1C90-726A938BB5B5}"/>
              </a:ext>
            </a:extLst>
          </p:cNvPr>
          <p:cNvSpPr txBox="1"/>
          <p:nvPr/>
        </p:nvSpPr>
        <p:spPr>
          <a:xfrm>
            <a:off x="780172" y="1652380"/>
            <a:ext cx="1677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NUESTRA REALIDAD: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C76C094-DCC1-B3AC-D9FD-F7D57351336D}"/>
                  </a:ext>
                </a:extLst>
              </p:cNvPr>
              <p:cNvSpPr txBox="1"/>
              <p:nvPr/>
            </p:nvSpPr>
            <p:spPr>
              <a:xfrm>
                <a:off x="2457699" y="2791044"/>
                <a:ext cx="2478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Baskerville" panose="02020502070401020303" pitchFamily="18" charset="0"/>
                    <a:ea typeface="Baskerville" panose="02020502070401020303" pitchFamily="18" charset="0"/>
                  </a:rPr>
                  <a:t>pendiente (50 ms) </a:t>
                </a:r>
                <a14:m>
                  <m:oMath xmlns:m="http://schemas.openxmlformats.org/officeDocument/2006/math">
                    <m:r>
                      <a:rPr lang="es-ES_tradnl" sz="1400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s-ES_tradnl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Baskerville" panose="02020502070401020303" pitchFamily="18" charset="0"/>
                    <a:ea typeface="Baskerville" panose="02020502070401020303" pitchFamily="18" charset="0"/>
                  </a:rPr>
                  <a:t> (-0.5/+0.5)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C76C094-DCC1-B3AC-D9FD-F7D573513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699" y="2791044"/>
                <a:ext cx="2478564" cy="307777"/>
              </a:xfrm>
              <a:prstGeom prst="rect">
                <a:avLst/>
              </a:prstGeom>
              <a:blipFill>
                <a:blip r:embed="rId6"/>
                <a:stretch>
                  <a:fillRect l="-510" t="-400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FFC976A6-1642-0A3E-EF36-13AAE8CDF56B}"/>
              </a:ext>
            </a:extLst>
          </p:cNvPr>
          <p:cNvSpPr txBox="1"/>
          <p:nvPr/>
        </p:nvSpPr>
        <p:spPr>
          <a:xfrm>
            <a:off x="1345597" y="2277036"/>
            <a:ext cx="15615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intercepto (725 ms)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75D0C3-9528-4131-F410-2F3982E89F70}"/>
              </a:ext>
            </a:extLst>
          </p:cNvPr>
          <p:cNvSpPr txBox="1"/>
          <p:nvPr/>
        </p:nvSpPr>
        <p:spPr>
          <a:xfrm>
            <a:off x="2328190" y="1652380"/>
            <a:ext cx="1236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 PARÁMETROS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519BD4-8DA8-C06C-D6B0-1A42A9BE1ACF}"/>
                  </a:ext>
                </a:extLst>
              </p:cNvPr>
              <p:cNvSpPr txBox="1"/>
              <p:nvPr/>
            </p:nvSpPr>
            <p:spPr>
              <a:xfrm>
                <a:off x="780172" y="3591991"/>
                <a:ext cx="39433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𝑟𝑡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𝑢𝑜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𝑐𝑜𝑛𝑑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𝑐𝑜𝑑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519BD4-8DA8-C06C-D6B0-1A42A9BE1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172" y="3591991"/>
                <a:ext cx="3943387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50453655-62BA-4C44-0DDD-F819B00CDD2A}"/>
              </a:ext>
            </a:extLst>
          </p:cNvPr>
          <p:cNvSpPr txBox="1"/>
          <p:nvPr/>
        </p:nvSpPr>
        <p:spPr>
          <a:xfrm>
            <a:off x="4294164" y="3144987"/>
            <a:ext cx="6098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error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5A6814F-C5B3-8C97-896D-A006BFB25DC2}"/>
              </a:ext>
            </a:extLst>
          </p:cNvPr>
          <p:cNvCxnSpPr/>
          <p:nvPr/>
        </p:nvCxnSpPr>
        <p:spPr>
          <a:xfrm flipV="1">
            <a:off x="1577940" y="2584813"/>
            <a:ext cx="0" cy="1007178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3367CEF-CB34-52CF-C1E8-078B355CCBF3}"/>
              </a:ext>
            </a:extLst>
          </p:cNvPr>
          <p:cNvCxnSpPr>
            <a:cxnSpLocks/>
          </p:cNvCxnSpPr>
          <p:nvPr/>
        </p:nvCxnSpPr>
        <p:spPr>
          <a:xfrm flipV="1">
            <a:off x="4499666" y="3462273"/>
            <a:ext cx="0" cy="140829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1AA2F8F-AEF2-CFFB-885F-8E06B8C6EE8F}"/>
              </a:ext>
            </a:extLst>
          </p:cNvPr>
          <p:cNvCxnSpPr>
            <a:cxnSpLocks/>
          </p:cNvCxnSpPr>
          <p:nvPr/>
        </p:nvCxnSpPr>
        <p:spPr>
          <a:xfrm flipV="1">
            <a:off x="2684667" y="3098821"/>
            <a:ext cx="0" cy="404427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4DCCC81-3839-9851-8323-BB6E98C3211C}"/>
              </a:ext>
            </a:extLst>
          </p:cNvPr>
          <p:cNvCxnSpPr>
            <a:cxnSpLocks/>
          </p:cNvCxnSpPr>
          <p:nvPr/>
        </p:nvCxnSpPr>
        <p:spPr>
          <a:xfrm>
            <a:off x="2126387" y="3961323"/>
            <a:ext cx="0" cy="600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BDAD2A6-8570-4304-FC77-7BCEF0698570}"/>
              </a:ext>
            </a:extLst>
          </p:cNvPr>
          <p:cNvSpPr txBox="1"/>
          <p:nvPr/>
        </p:nvSpPr>
        <p:spPr>
          <a:xfrm>
            <a:off x="1778255" y="4528810"/>
            <a:ext cx="28433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interceptos aleatorios por sujeto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D4F9F5-36BB-6BC7-72FF-C1A1A0199CC4}"/>
              </a:ext>
            </a:extLst>
          </p:cNvPr>
          <p:cNvSpPr txBox="1"/>
          <p:nvPr/>
        </p:nvSpPr>
        <p:spPr>
          <a:xfrm>
            <a:off x="9634360" y="1185613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2. </a:t>
            </a:r>
          </a:p>
        </p:txBody>
      </p:sp>
      <p:pic>
        <p:nvPicPr>
          <p:cNvPr id="61" name="Picture 60" descr="A graph with a blue line and a red circle&#10;&#10;Description automatically generated">
            <a:extLst>
              <a:ext uri="{FF2B5EF4-FFF2-40B4-BE49-F238E27FC236}">
                <a16:creationId xmlns:a16="http://schemas.microsoft.com/office/drawing/2014/main" id="{7BFB27DE-833E-F0D6-9F75-07AE01B171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7168" y="1848163"/>
            <a:ext cx="6293783" cy="36713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4" name="Picture 73" descr="A graph with a green line&#10;&#10;Description automatically generated">
            <a:extLst>
              <a:ext uri="{FF2B5EF4-FFF2-40B4-BE49-F238E27FC236}">
                <a16:creationId xmlns:a16="http://schemas.microsoft.com/office/drawing/2014/main" id="{4E2E2064-A17E-4F61-80CB-8AC237513C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77408" y="3939952"/>
            <a:ext cx="676205" cy="405460"/>
          </a:xfrm>
          <a:prstGeom prst="rect">
            <a:avLst/>
          </a:prstGeom>
        </p:spPr>
      </p:pic>
      <p:pic>
        <p:nvPicPr>
          <p:cNvPr id="77" name="Picture 76" descr="A graph with a red line&#10;&#10;Description automatically generated">
            <a:extLst>
              <a:ext uri="{FF2B5EF4-FFF2-40B4-BE49-F238E27FC236}">
                <a16:creationId xmlns:a16="http://schemas.microsoft.com/office/drawing/2014/main" id="{F8B2D969-DEBD-FA80-C4E9-F5FD0DA28D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1333646" y="4389579"/>
            <a:ext cx="295664" cy="58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097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C8D168-6BA3-131D-A6DA-682F34301B16}"/>
                  </a:ext>
                </a:extLst>
              </p:cNvPr>
              <p:cNvSpPr txBox="1"/>
              <p:nvPr/>
            </p:nvSpPr>
            <p:spPr>
              <a:xfrm>
                <a:off x="585513" y="5698935"/>
                <a:ext cx="55856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cs-CZ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cs-CZ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cs-CZ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b="0" i="1" smtClean="0">
                                  <a:latin typeface="Cambria Math" panose="02040503050406030204" pitchFamily="18" charset="0"/>
                                </a:rPr>
                                <m:t>𝑟𝑡</m:t>
                              </m:r>
                              <m:r>
                                <a:rPr lang="cs-CZ" b="0" i="1" baseline="-25000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e>
                          </m:d>
                        </m:e>
                      </m:func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𝑢𝑜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𝑤𝑜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𝑐𝑜𝑛𝑑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𝑐𝑜𝑑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C8D168-6BA3-131D-A6DA-682F34301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13" y="5698935"/>
                <a:ext cx="5585632" cy="369332"/>
              </a:xfrm>
              <a:prstGeom prst="rect">
                <a:avLst/>
              </a:prstGeom>
              <a:blipFill>
                <a:blip r:embed="rId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372AEB8-EE03-0CFF-8FF6-9474654F5DFC}"/>
              </a:ext>
            </a:extLst>
          </p:cNvPr>
          <p:cNvSpPr txBox="1"/>
          <p:nvPr/>
        </p:nvSpPr>
        <p:spPr>
          <a:xfrm>
            <a:off x="740829" y="2066804"/>
            <a:ext cx="11114510" cy="369332"/>
          </a:xfrm>
          <a:prstGeom prst="rect">
            <a:avLst/>
          </a:prstGeom>
          <a:solidFill>
            <a:srgbClr val="FDECEA"/>
          </a:solidFill>
        </p:spPr>
        <p:txBody>
          <a:bodyPr wrap="square" rtlCol="0">
            <a:spAutoFit/>
          </a:bodyPr>
          <a:lstStyle/>
          <a:p>
            <a:endParaRPr lang="en-AU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E395C1-2044-7602-CB3B-42069607BB35}"/>
              </a:ext>
            </a:extLst>
          </p:cNvPr>
          <p:cNvSpPr txBox="1"/>
          <p:nvPr/>
        </p:nvSpPr>
        <p:spPr>
          <a:xfrm>
            <a:off x="740829" y="1628382"/>
            <a:ext cx="9670267" cy="3376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2.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Podemos asumir que el tiempo basal es idéntico para todos los participantes? (interceptos) 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3. Los participantes responden a múltiples ensayos.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4. ¿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Podemos asumir que todos los sujetos van a reaccionar de forma igual a nuestra manipulación? (las pendientes) 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5. Y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si los participantes, que son más lentos, muestran efectos más pequeños? (</a:t>
            </a:r>
            <a:r>
              <a:rPr lang="es-ES_tradnl" sz="1600" u="sng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la correlación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entre los interceptos y las pendientes)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6.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Existe variabilidad para los ítems (palabras), igual que entre los participantes? (interceptos para las palabras)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7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¿Los tiempos de reacción, se distribuyen de forma normal?</a:t>
            </a:r>
          </a:p>
          <a:p>
            <a:pPr>
              <a:lnSpc>
                <a:spcPct val="150000"/>
              </a:lnSpc>
            </a:pPr>
            <a:endParaRPr lang="es-ES_tradnl" sz="1600" dirty="0">
              <a:solidFill>
                <a:schemeClr val="bg2">
                  <a:lumMod val="90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8.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¿C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uántos datos (participantes/ensayos) debo recoger para detectar los efectos repetidamente (80/95%)?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FE1CF-DFD2-13B3-040A-1C57EE23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14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D73CE48-D701-8CFC-6AFD-741BDD1BA2E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14</a:t>
            </a:fld>
            <a:endParaRPr lang="es-E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12097B6-DCE4-1744-5F95-E99BF029BD1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14</a:t>
            </a:fld>
            <a:endParaRPr lang="es-ES"/>
          </a:p>
        </p:txBody>
      </p:sp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7E7F66A3-AE44-FEF1-4F2E-6A7C2AF65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14</a:t>
            </a:fld>
            <a:endParaRPr lang="es-ES" dirty="0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94807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 </a:t>
            </a:r>
            <a:r>
              <a:rPr lang="es-ES_tradn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· </a:t>
            </a:r>
            <a:r>
              <a:rPr lang="es-ES_tradnl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Acercándonos a la realidad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E7E884-FE7C-DEAF-46AD-04D9AC96094B}"/>
              </a:ext>
            </a:extLst>
          </p:cNvPr>
          <p:cNvSpPr txBox="1"/>
          <p:nvPr/>
        </p:nvSpPr>
        <p:spPr>
          <a:xfrm>
            <a:off x="785238" y="1151545"/>
            <a:ext cx="4386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latin typeface="Baskerville" panose="02020502070401020303" pitchFamily="18" charset="0"/>
                <a:ea typeface="Baskerville" panose="02020502070401020303" pitchFamily="18" charset="0"/>
              </a:rPr>
              <a:t>Nuestra realidad es más compleja…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3BF261-3030-A916-7E58-156AA1D72EF3}"/>
              </a:ext>
            </a:extLst>
          </p:cNvPr>
          <p:cNvSpPr txBox="1"/>
          <p:nvPr/>
        </p:nvSpPr>
        <p:spPr>
          <a:xfrm>
            <a:off x="585513" y="5473375"/>
            <a:ext cx="25891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MODELO FINAL CON 7 PARÁMETROS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C8389E-4F13-87D9-2F52-1E5198445B9C}"/>
              </a:ext>
            </a:extLst>
          </p:cNvPr>
          <p:cNvSpPr txBox="1"/>
          <p:nvPr/>
        </p:nvSpPr>
        <p:spPr>
          <a:xfrm>
            <a:off x="10472560" y="1759027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2.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91145C-6951-A05F-B4B8-50C40E8F11AB}"/>
              </a:ext>
            </a:extLst>
          </p:cNvPr>
          <p:cNvSpPr txBox="1"/>
          <p:nvPr/>
        </p:nvSpPr>
        <p:spPr>
          <a:xfrm>
            <a:off x="10472560" y="2472122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4.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62B647-DA94-87EF-1AAE-8E1DD198DE0E}"/>
              </a:ext>
            </a:extLst>
          </p:cNvPr>
          <p:cNvSpPr txBox="1"/>
          <p:nvPr/>
        </p:nvSpPr>
        <p:spPr>
          <a:xfrm>
            <a:off x="10472560" y="2892543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5.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714706-111A-73E6-5A6E-697F55BD38E9}"/>
              </a:ext>
            </a:extLst>
          </p:cNvPr>
          <p:cNvSpPr txBox="1"/>
          <p:nvPr/>
        </p:nvSpPr>
        <p:spPr>
          <a:xfrm>
            <a:off x="10472560" y="3542689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6.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0DDAED-724C-B922-29ED-2FEB07F837E1}"/>
              </a:ext>
            </a:extLst>
          </p:cNvPr>
          <p:cNvSpPr txBox="1"/>
          <p:nvPr/>
        </p:nvSpPr>
        <p:spPr>
          <a:xfrm>
            <a:off x="10466179" y="3823140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7.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4A70C2-D7C1-A93C-2464-D67A1ED7D792}"/>
              </a:ext>
            </a:extLst>
          </p:cNvPr>
          <p:cNvSpPr txBox="1"/>
          <p:nvPr/>
        </p:nvSpPr>
        <p:spPr>
          <a:xfrm>
            <a:off x="10472560" y="2112144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3.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BFC932-1697-B62C-C34D-4DD8C470508C}"/>
              </a:ext>
            </a:extLst>
          </p:cNvPr>
          <p:cNvSpPr txBox="1"/>
          <p:nvPr/>
        </p:nvSpPr>
        <p:spPr>
          <a:xfrm>
            <a:off x="10510322" y="4645354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8. </a:t>
            </a:r>
          </a:p>
        </p:txBody>
      </p:sp>
    </p:spTree>
    <p:extLst>
      <p:ext uri="{BB962C8B-B14F-4D97-AF65-F5344CB8AC3E}">
        <p14:creationId xmlns:p14="http://schemas.microsoft.com/office/powerpoint/2010/main" val="1154096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C8D168-6BA3-131D-A6DA-682F34301B16}"/>
                  </a:ext>
                </a:extLst>
              </p:cNvPr>
              <p:cNvSpPr txBox="1"/>
              <p:nvPr/>
            </p:nvSpPr>
            <p:spPr>
              <a:xfrm>
                <a:off x="585513" y="5698935"/>
                <a:ext cx="55617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cs-CZ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cs-CZ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cs-CZ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b="0" i="1" smtClean="0">
                                  <a:latin typeface="Cambria Math" panose="02040503050406030204" pitchFamily="18" charset="0"/>
                                </a:rPr>
                                <m:t>𝑟𝑡</m:t>
                              </m:r>
                              <m:r>
                                <a:rPr lang="cs-CZ" b="0" i="1" baseline="-25000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e>
                          </m:d>
                        </m:e>
                      </m:func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𝑢𝑜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𝑤𝑜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𝑐𝑜𝑛𝑑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𝑐𝑜𝑑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C8D168-6BA3-131D-A6DA-682F34301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13" y="5698935"/>
                <a:ext cx="5561715" cy="369332"/>
              </a:xfrm>
              <a:prstGeom prst="rect">
                <a:avLst/>
              </a:prstGeom>
              <a:blipFill>
                <a:blip r:embed="rId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372AEB8-EE03-0CFF-8FF6-9474654F5DFC}"/>
              </a:ext>
            </a:extLst>
          </p:cNvPr>
          <p:cNvSpPr txBox="1"/>
          <p:nvPr/>
        </p:nvSpPr>
        <p:spPr>
          <a:xfrm>
            <a:off x="740829" y="2448033"/>
            <a:ext cx="11114510" cy="369332"/>
          </a:xfrm>
          <a:prstGeom prst="rect">
            <a:avLst/>
          </a:prstGeom>
          <a:solidFill>
            <a:srgbClr val="FDECEA"/>
          </a:solidFill>
        </p:spPr>
        <p:txBody>
          <a:bodyPr wrap="square" rtlCol="0">
            <a:spAutoFit/>
          </a:bodyPr>
          <a:lstStyle/>
          <a:p>
            <a:endParaRPr lang="en-AU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E395C1-2044-7602-CB3B-42069607BB35}"/>
              </a:ext>
            </a:extLst>
          </p:cNvPr>
          <p:cNvSpPr txBox="1"/>
          <p:nvPr/>
        </p:nvSpPr>
        <p:spPr>
          <a:xfrm>
            <a:off x="740829" y="1628382"/>
            <a:ext cx="9670267" cy="3376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2.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Podemos asumir que el tiempo basal es idéntico para todos los participantes? (interceptos) 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3. Los participantes responden a múltiples ensayos.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rgbClr val="C00000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4. ¿</a:t>
            </a:r>
            <a:r>
              <a:rPr lang="es-ES_tradnl" sz="1600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Podemos asumir que todos los sujetos van a reaccionar de forma igual a nuestra manipulación? (las pendientes) 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5. Y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si los participantes, que son más lentos, muestran efectos más pequeños? (</a:t>
            </a:r>
            <a:r>
              <a:rPr lang="es-ES_tradnl" sz="1600" u="sng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la correlación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entre los interceptos y las pendientes)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6.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Existe variabilidad para los ítems (palabras), igual que entre los participantes? (interceptos para las palabras)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7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¿Los tiempos de reacción, se distribuyen de forma normal?</a:t>
            </a:r>
          </a:p>
          <a:p>
            <a:pPr>
              <a:lnSpc>
                <a:spcPct val="150000"/>
              </a:lnSpc>
            </a:pPr>
            <a:endParaRPr lang="es-ES_tradnl" sz="1600" dirty="0">
              <a:solidFill>
                <a:schemeClr val="bg2">
                  <a:lumMod val="90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8.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¿C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uántos datos (participantes/ensayos) debo recoger para detectar los efectos repetidamente (80/95%)?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FE1CF-DFD2-13B3-040A-1C57EE23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15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D73CE48-D701-8CFC-6AFD-741BDD1BA2E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15</a:t>
            </a:fld>
            <a:endParaRPr lang="es-E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12097B6-DCE4-1744-5F95-E99BF029BD1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15</a:t>
            </a:fld>
            <a:endParaRPr lang="es-ES"/>
          </a:p>
        </p:txBody>
      </p:sp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7E7F66A3-AE44-FEF1-4F2E-6A7C2AF65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15</a:t>
            </a:fld>
            <a:endParaRPr lang="es-ES" dirty="0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94807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 </a:t>
            </a:r>
            <a:r>
              <a:rPr lang="es-ES_tradn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· </a:t>
            </a:r>
            <a:r>
              <a:rPr lang="es-ES_tradnl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Acercándonos a la realidad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E7E884-FE7C-DEAF-46AD-04D9AC96094B}"/>
              </a:ext>
            </a:extLst>
          </p:cNvPr>
          <p:cNvSpPr txBox="1"/>
          <p:nvPr/>
        </p:nvSpPr>
        <p:spPr>
          <a:xfrm>
            <a:off x="785238" y="1151545"/>
            <a:ext cx="4386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latin typeface="Baskerville" panose="02020502070401020303" pitchFamily="18" charset="0"/>
                <a:ea typeface="Baskerville" panose="02020502070401020303" pitchFamily="18" charset="0"/>
              </a:rPr>
              <a:t>Nuestra realidad es más compleja…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3BF261-3030-A916-7E58-156AA1D72EF3}"/>
              </a:ext>
            </a:extLst>
          </p:cNvPr>
          <p:cNvSpPr txBox="1"/>
          <p:nvPr/>
        </p:nvSpPr>
        <p:spPr>
          <a:xfrm>
            <a:off x="585513" y="5473375"/>
            <a:ext cx="25891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MODELO FINAL CON 7 PARÁMETROS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C8389E-4F13-87D9-2F52-1E5198445B9C}"/>
              </a:ext>
            </a:extLst>
          </p:cNvPr>
          <p:cNvSpPr txBox="1"/>
          <p:nvPr/>
        </p:nvSpPr>
        <p:spPr>
          <a:xfrm>
            <a:off x="10472560" y="1759027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2.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91145C-6951-A05F-B4B8-50C40E8F11AB}"/>
              </a:ext>
            </a:extLst>
          </p:cNvPr>
          <p:cNvSpPr txBox="1"/>
          <p:nvPr/>
        </p:nvSpPr>
        <p:spPr>
          <a:xfrm>
            <a:off x="10472560" y="2472122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4.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62B647-DA94-87EF-1AAE-8E1DD198DE0E}"/>
              </a:ext>
            </a:extLst>
          </p:cNvPr>
          <p:cNvSpPr txBox="1"/>
          <p:nvPr/>
        </p:nvSpPr>
        <p:spPr>
          <a:xfrm>
            <a:off x="10472560" y="2892543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5.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714706-111A-73E6-5A6E-697F55BD38E9}"/>
              </a:ext>
            </a:extLst>
          </p:cNvPr>
          <p:cNvSpPr txBox="1"/>
          <p:nvPr/>
        </p:nvSpPr>
        <p:spPr>
          <a:xfrm>
            <a:off x="10472560" y="3542689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6.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0DDAED-724C-B922-29ED-2FEB07F837E1}"/>
              </a:ext>
            </a:extLst>
          </p:cNvPr>
          <p:cNvSpPr txBox="1"/>
          <p:nvPr/>
        </p:nvSpPr>
        <p:spPr>
          <a:xfrm>
            <a:off x="10466179" y="3823140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7.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4A70C2-D7C1-A93C-2464-D67A1ED7D792}"/>
              </a:ext>
            </a:extLst>
          </p:cNvPr>
          <p:cNvSpPr txBox="1"/>
          <p:nvPr/>
        </p:nvSpPr>
        <p:spPr>
          <a:xfrm>
            <a:off x="10472560" y="2112144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3.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BFC932-1697-B62C-C34D-4DD8C470508C}"/>
              </a:ext>
            </a:extLst>
          </p:cNvPr>
          <p:cNvSpPr txBox="1"/>
          <p:nvPr/>
        </p:nvSpPr>
        <p:spPr>
          <a:xfrm>
            <a:off x="10510322" y="4645354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8. </a:t>
            </a:r>
          </a:p>
        </p:txBody>
      </p:sp>
    </p:spTree>
    <p:extLst>
      <p:ext uri="{BB962C8B-B14F-4D97-AF65-F5344CB8AC3E}">
        <p14:creationId xmlns:p14="http://schemas.microsoft.com/office/powerpoint/2010/main" val="3633583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FE1CF-DFD2-13B3-040A-1C57EE23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16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D73CE48-D701-8CFC-6AFD-741BDD1BA2E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16</a:t>
            </a:fld>
            <a:endParaRPr lang="es-E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12097B6-DCE4-1744-5F95-E99BF029BD1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16</a:t>
            </a:fld>
            <a:endParaRPr lang="es-ES"/>
          </a:p>
        </p:txBody>
      </p:sp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7E7F66A3-AE44-FEF1-4F2E-6A7C2AF65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16</a:t>
            </a:fld>
            <a:endParaRPr lang="es-ES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9519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 </a:t>
            </a:r>
            <a:r>
              <a:rPr lang="es-ES_tradn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· </a:t>
            </a:r>
            <a:r>
              <a:rPr lang="es-ES_tradnl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acercándonos a la realidad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74399E-B7DD-E968-AA26-0B6C5B676967}"/>
              </a:ext>
            </a:extLst>
          </p:cNvPr>
          <p:cNvSpPr txBox="1"/>
          <p:nvPr/>
        </p:nvSpPr>
        <p:spPr>
          <a:xfrm>
            <a:off x="676859" y="1028967"/>
            <a:ext cx="9922012" cy="464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800" i="1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4. ¿</a:t>
            </a:r>
            <a:r>
              <a:rPr lang="es-ES_tradnl" sz="1800" i="1" dirty="0">
                <a:latin typeface="Baskerville" panose="02020502070401020303" pitchFamily="18" charset="0"/>
                <a:ea typeface="Baskerville" panose="02020502070401020303" pitchFamily="18" charset="0"/>
              </a:rPr>
              <a:t>Podemos asumir que todos los sujetos van a reaccionar de forma igual a nuestra manipulación? (las pendientes aleatorias)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B68FC2F-26FC-7AB5-BB08-64B9E9B27683}"/>
              </a:ext>
            </a:extLst>
          </p:cNvPr>
          <p:cNvSpPr txBox="1"/>
          <p:nvPr/>
        </p:nvSpPr>
        <p:spPr>
          <a:xfrm>
            <a:off x="10494080" y="1171889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4. </a:t>
            </a:r>
          </a:p>
        </p:txBody>
      </p:sp>
      <p:pic>
        <p:nvPicPr>
          <p:cNvPr id="67" name="Picture 66" descr="A graph of different subject lines&#10;&#10;Description automatically generated with medium confidence">
            <a:extLst>
              <a:ext uri="{FF2B5EF4-FFF2-40B4-BE49-F238E27FC236}">
                <a16:creationId xmlns:a16="http://schemas.microsoft.com/office/drawing/2014/main" id="{29A658DE-39F9-C429-A8F3-788F9662A4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9888" y="1691517"/>
            <a:ext cx="6782075" cy="40692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7286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0688425-02C5-0E58-9143-CD13EDD927FA}"/>
              </a:ext>
            </a:extLst>
          </p:cNvPr>
          <p:cNvSpPr txBox="1"/>
          <p:nvPr/>
        </p:nvSpPr>
        <p:spPr>
          <a:xfrm>
            <a:off x="4152103" y="3414435"/>
            <a:ext cx="598715" cy="369332"/>
          </a:xfrm>
          <a:prstGeom prst="rect">
            <a:avLst/>
          </a:prstGeom>
          <a:solidFill>
            <a:srgbClr val="FDECEA"/>
          </a:solidFill>
        </p:spPr>
        <p:txBody>
          <a:bodyPr wrap="square" rtlCol="0">
            <a:spAutoFit/>
          </a:bodyPr>
          <a:lstStyle/>
          <a:p>
            <a:endParaRPr lang="en-AU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FE1CF-DFD2-13B3-040A-1C57EE23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17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D73CE48-D701-8CFC-6AFD-741BDD1BA2E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17</a:t>
            </a:fld>
            <a:endParaRPr lang="es-E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12097B6-DCE4-1744-5F95-E99BF029BD1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17</a:t>
            </a:fld>
            <a:endParaRPr lang="es-ES"/>
          </a:p>
        </p:txBody>
      </p:sp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7E7F66A3-AE44-FEF1-4F2E-6A7C2AF65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17</a:t>
            </a:fld>
            <a:endParaRPr lang="es-ES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9519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 </a:t>
            </a:r>
            <a:r>
              <a:rPr lang="es-ES_tradn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· </a:t>
            </a:r>
            <a:r>
              <a:rPr lang="es-ES_tradnl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acercándonos a la realidad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74399E-B7DD-E968-AA26-0B6C5B676967}"/>
              </a:ext>
            </a:extLst>
          </p:cNvPr>
          <p:cNvSpPr txBox="1"/>
          <p:nvPr/>
        </p:nvSpPr>
        <p:spPr>
          <a:xfrm>
            <a:off x="676859" y="1028967"/>
            <a:ext cx="9922012" cy="464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800" i="1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4. ¿</a:t>
            </a:r>
            <a:r>
              <a:rPr lang="es-ES_tradnl" sz="1800" i="1" dirty="0">
                <a:latin typeface="Baskerville" panose="02020502070401020303" pitchFamily="18" charset="0"/>
                <a:ea typeface="Baskerville" panose="02020502070401020303" pitchFamily="18" charset="0"/>
              </a:rPr>
              <a:t>Podemos asumir que todos los sujetos van a reaccionar de forma igual a nuestra manipulación? (las pendientes aleatorias)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BCC1F2-9BB8-1CF0-1C90-726A938BB5B5}"/>
              </a:ext>
            </a:extLst>
          </p:cNvPr>
          <p:cNvSpPr txBox="1"/>
          <p:nvPr/>
        </p:nvSpPr>
        <p:spPr>
          <a:xfrm>
            <a:off x="780172" y="1652380"/>
            <a:ext cx="1677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NUESTRA REALIDAD: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C76C094-DCC1-B3AC-D9FD-F7D57351336D}"/>
                  </a:ext>
                </a:extLst>
              </p:cNvPr>
              <p:cNvSpPr txBox="1"/>
              <p:nvPr/>
            </p:nvSpPr>
            <p:spPr>
              <a:xfrm>
                <a:off x="2457699" y="2602377"/>
                <a:ext cx="2478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Baskerville" panose="02020502070401020303" pitchFamily="18" charset="0"/>
                    <a:ea typeface="Baskerville" panose="02020502070401020303" pitchFamily="18" charset="0"/>
                  </a:rPr>
                  <a:t>pendiente (50 ms) </a:t>
                </a:r>
                <a14:m>
                  <m:oMath xmlns:m="http://schemas.openxmlformats.org/officeDocument/2006/math">
                    <m:r>
                      <a:rPr lang="es-ES_tradnl" sz="1400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s-ES_tradnl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Baskerville" panose="02020502070401020303" pitchFamily="18" charset="0"/>
                    <a:ea typeface="Baskerville" panose="02020502070401020303" pitchFamily="18" charset="0"/>
                  </a:rPr>
                  <a:t> (-0.5/+0.5)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C76C094-DCC1-B3AC-D9FD-F7D573513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699" y="2602377"/>
                <a:ext cx="2478564" cy="307777"/>
              </a:xfrm>
              <a:prstGeom prst="rect">
                <a:avLst/>
              </a:prstGeom>
              <a:blipFill>
                <a:blip r:embed="rId6"/>
                <a:stretch>
                  <a:fillRect l="-51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FFC976A6-1642-0A3E-EF36-13AAE8CDF56B}"/>
              </a:ext>
            </a:extLst>
          </p:cNvPr>
          <p:cNvSpPr txBox="1"/>
          <p:nvPr/>
        </p:nvSpPr>
        <p:spPr>
          <a:xfrm>
            <a:off x="1345597" y="2088369"/>
            <a:ext cx="15615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intercepto (725 ms)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75D0C3-9528-4131-F410-2F3982E89F70}"/>
              </a:ext>
            </a:extLst>
          </p:cNvPr>
          <p:cNvSpPr txBox="1"/>
          <p:nvPr/>
        </p:nvSpPr>
        <p:spPr>
          <a:xfrm>
            <a:off x="2328190" y="1652380"/>
            <a:ext cx="1236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 PARÁMETROS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519BD4-8DA8-C06C-D6B0-1A42A9BE1ACF}"/>
                  </a:ext>
                </a:extLst>
              </p:cNvPr>
              <p:cNvSpPr txBox="1"/>
              <p:nvPr/>
            </p:nvSpPr>
            <p:spPr>
              <a:xfrm>
                <a:off x="780172" y="3403324"/>
                <a:ext cx="45357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𝑟𝑡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𝑢𝑜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𝑐𝑜𝑛𝑑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𝑐𝑜𝑑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519BD4-8DA8-C06C-D6B0-1A42A9BE1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172" y="3403324"/>
                <a:ext cx="4535793" cy="369332"/>
              </a:xfrm>
              <a:prstGeom prst="rect">
                <a:avLst/>
              </a:prstGeom>
              <a:blipFill>
                <a:blip r:embed="rId7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50453655-62BA-4C44-0DDD-F819B00CDD2A}"/>
              </a:ext>
            </a:extLst>
          </p:cNvPr>
          <p:cNvSpPr txBox="1"/>
          <p:nvPr/>
        </p:nvSpPr>
        <p:spPr>
          <a:xfrm>
            <a:off x="4892753" y="2956320"/>
            <a:ext cx="548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error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5A6814F-C5B3-8C97-896D-A006BFB25DC2}"/>
              </a:ext>
            </a:extLst>
          </p:cNvPr>
          <p:cNvCxnSpPr/>
          <p:nvPr/>
        </p:nvCxnSpPr>
        <p:spPr>
          <a:xfrm flipV="1">
            <a:off x="1577940" y="2396146"/>
            <a:ext cx="0" cy="1007178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3367CEF-CB34-52CF-C1E8-078B355CCBF3}"/>
              </a:ext>
            </a:extLst>
          </p:cNvPr>
          <p:cNvCxnSpPr>
            <a:cxnSpLocks/>
          </p:cNvCxnSpPr>
          <p:nvPr/>
        </p:nvCxnSpPr>
        <p:spPr>
          <a:xfrm flipV="1">
            <a:off x="5098255" y="3273606"/>
            <a:ext cx="0" cy="140829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1AA2F8F-AEF2-CFFB-885F-8E06B8C6EE8F}"/>
              </a:ext>
            </a:extLst>
          </p:cNvPr>
          <p:cNvCxnSpPr>
            <a:cxnSpLocks/>
          </p:cNvCxnSpPr>
          <p:nvPr/>
        </p:nvCxnSpPr>
        <p:spPr>
          <a:xfrm flipV="1">
            <a:off x="2684667" y="2910154"/>
            <a:ext cx="0" cy="404427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4DCCC81-3839-9851-8323-BB6E98C3211C}"/>
              </a:ext>
            </a:extLst>
          </p:cNvPr>
          <p:cNvCxnSpPr>
            <a:cxnSpLocks/>
          </p:cNvCxnSpPr>
          <p:nvPr/>
        </p:nvCxnSpPr>
        <p:spPr>
          <a:xfrm>
            <a:off x="2126387" y="3772656"/>
            <a:ext cx="0" cy="200835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BDAD2A6-8570-4304-FC77-7BCEF0698570}"/>
              </a:ext>
            </a:extLst>
          </p:cNvPr>
          <p:cNvSpPr txBox="1"/>
          <p:nvPr/>
        </p:nvSpPr>
        <p:spPr>
          <a:xfrm>
            <a:off x="1637770" y="3889481"/>
            <a:ext cx="2510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interceptos aleatorios por sujeto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B68FC2F-26FC-7AB5-BB08-64B9E9B27683}"/>
              </a:ext>
            </a:extLst>
          </p:cNvPr>
          <p:cNvSpPr txBox="1"/>
          <p:nvPr/>
        </p:nvSpPr>
        <p:spPr>
          <a:xfrm>
            <a:off x="10494080" y="1171889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4.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030355-0465-3FE9-165D-E91C3C698478}"/>
              </a:ext>
            </a:extLst>
          </p:cNvPr>
          <p:cNvCxnSpPr>
            <a:cxnSpLocks/>
          </p:cNvCxnSpPr>
          <p:nvPr/>
        </p:nvCxnSpPr>
        <p:spPr>
          <a:xfrm>
            <a:off x="4444248" y="3772656"/>
            <a:ext cx="7213" cy="401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777B65A-B033-6B17-11D2-C063836B22A9}"/>
              </a:ext>
            </a:extLst>
          </p:cNvPr>
          <p:cNvSpPr txBox="1"/>
          <p:nvPr/>
        </p:nvSpPr>
        <p:spPr>
          <a:xfrm>
            <a:off x="3564132" y="4278874"/>
            <a:ext cx="17330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1400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pendientes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s-ES_tradnl" sz="1400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aleatorias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</a:p>
          <a:p>
            <a:pPr algn="ctr"/>
            <a:r>
              <a:rPr lang="es-ES_tradnl" sz="1400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por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s-ES_tradnl" sz="1400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sujeto</a:t>
            </a:r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</a:p>
        </p:txBody>
      </p:sp>
      <p:pic>
        <p:nvPicPr>
          <p:cNvPr id="2" name="Picture 1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3E12845D-800F-4386-B49B-6054C8AAF0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3422" y="1731219"/>
            <a:ext cx="5109246" cy="4180292"/>
          </a:xfrm>
          <a:prstGeom prst="rect">
            <a:avLst/>
          </a:prstGeom>
        </p:spPr>
      </p:pic>
      <p:pic>
        <p:nvPicPr>
          <p:cNvPr id="35" name="Picture 34" descr="A graph with a red line&#10;&#10;Description automatically generated">
            <a:extLst>
              <a:ext uri="{FF2B5EF4-FFF2-40B4-BE49-F238E27FC236}">
                <a16:creationId xmlns:a16="http://schemas.microsoft.com/office/drawing/2014/main" id="{8C3B8A5F-1F91-48EF-7C23-9C6A055DA0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1300974" y="3753323"/>
            <a:ext cx="295664" cy="588149"/>
          </a:xfrm>
          <a:prstGeom prst="rect">
            <a:avLst/>
          </a:prstGeom>
        </p:spPr>
      </p:pic>
      <p:pic>
        <p:nvPicPr>
          <p:cNvPr id="36" name="Picture 35" descr="A graph with a green line&#10;&#10;Description automatically generated">
            <a:extLst>
              <a:ext uri="{FF2B5EF4-FFF2-40B4-BE49-F238E27FC236}">
                <a16:creationId xmlns:a16="http://schemas.microsoft.com/office/drawing/2014/main" id="{60D84F3A-889D-60FC-8D1E-E9383676717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6236" y="3725490"/>
            <a:ext cx="676205" cy="405460"/>
          </a:xfrm>
          <a:prstGeom prst="rect">
            <a:avLst/>
          </a:prstGeom>
        </p:spPr>
      </p:pic>
      <p:pic>
        <p:nvPicPr>
          <p:cNvPr id="39" name="Picture 38" descr="A graph with a red curve and a line&#10;&#10;Description automatically generated">
            <a:extLst>
              <a:ext uri="{FF2B5EF4-FFF2-40B4-BE49-F238E27FC236}">
                <a16:creationId xmlns:a16="http://schemas.microsoft.com/office/drawing/2014/main" id="{AB331445-380F-702F-57D3-B737225AF99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46308" y="4539162"/>
            <a:ext cx="952184" cy="33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128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2372AEB8-EE03-0CFF-8FF6-9474654F5DFC}"/>
              </a:ext>
            </a:extLst>
          </p:cNvPr>
          <p:cNvSpPr txBox="1"/>
          <p:nvPr/>
        </p:nvSpPr>
        <p:spPr>
          <a:xfrm>
            <a:off x="785238" y="2814836"/>
            <a:ext cx="11114510" cy="646331"/>
          </a:xfrm>
          <a:prstGeom prst="rect">
            <a:avLst/>
          </a:prstGeom>
          <a:solidFill>
            <a:srgbClr val="FDECEA"/>
          </a:solidFill>
        </p:spPr>
        <p:txBody>
          <a:bodyPr wrap="square" rtlCol="0">
            <a:spAutoFit/>
          </a:bodyPr>
          <a:lstStyle/>
          <a:p>
            <a:endParaRPr lang="en-AU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endParaRPr lang="en-AU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E395C1-2044-7602-CB3B-42069607BB35}"/>
              </a:ext>
            </a:extLst>
          </p:cNvPr>
          <p:cNvSpPr txBox="1"/>
          <p:nvPr/>
        </p:nvSpPr>
        <p:spPr>
          <a:xfrm>
            <a:off x="740829" y="1628382"/>
            <a:ext cx="9670267" cy="3376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2.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Podemos asumir que el tiempo basal es idéntico para todos los participantes? (interceptos) 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3. Los participantes responden a múltiples ensayos.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4. ¿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Podemos asumir que todos los sujetos van a reaccionar de forma igual a nuestra manipulación? (las pendientes) 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5. Y </a:t>
            </a:r>
            <a:r>
              <a:rPr lang="es-ES_tradnl" sz="1600" dirty="0">
                <a:solidFill>
                  <a:srgbClr val="C00000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 </a:t>
            </a:r>
            <a:r>
              <a:rPr lang="es-ES_tradnl" sz="1600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si los participantes, que son más lentos, muestran efectos más pequeños? (</a:t>
            </a:r>
            <a:r>
              <a:rPr lang="es-ES_tradnl" sz="1600" u="sng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la correlación </a:t>
            </a:r>
            <a:r>
              <a:rPr lang="es-ES_tradnl" sz="1600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entre los interceptos y las pendientes)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6.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Existe variabilidad para los ítems (palabras), igual que entre los participantes? (interceptos para las palabras)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7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¿Los tiempos de reacción, se distribuyen de forma normal?</a:t>
            </a:r>
          </a:p>
          <a:p>
            <a:pPr>
              <a:lnSpc>
                <a:spcPct val="150000"/>
              </a:lnSpc>
            </a:pPr>
            <a:endParaRPr lang="es-ES_tradnl" sz="1600" dirty="0">
              <a:solidFill>
                <a:schemeClr val="bg2">
                  <a:lumMod val="90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8.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¿C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uántos datos (participantes/ensayos) debo recoger para detectar los efectos repetidamente (80/95%)?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FE1CF-DFD2-13B3-040A-1C57EE23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18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D73CE48-D701-8CFC-6AFD-741BDD1BA2E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18</a:t>
            </a:fld>
            <a:endParaRPr lang="es-E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12097B6-DCE4-1744-5F95-E99BF029BD1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18</a:t>
            </a:fld>
            <a:endParaRPr lang="es-ES"/>
          </a:p>
        </p:txBody>
      </p:sp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7E7F66A3-AE44-FEF1-4F2E-6A7C2AF65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18</a:t>
            </a:fld>
            <a:endParaRPr lang="es-ES" dirty="0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94807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 </a:t>
            </a:r>
            <a:r>
              <a:rPr lang="es-ES_tradn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· </a:t>
            </a:r>
            <a:r>
              <a:rPr lang="es-ES_tradnl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Acercándonos a la realidad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E7E884-FE7C-DEAF-46AD-04D9AC96094B}"/>
              </a:ext>
            </a:extLst>
          </p:cNvPr>
          <p:cNvSpPr txBox="1"/>
          <p:nvPr/>
        </p:nvSpPr>
        <p:spPr>
          <a:xfrm>
            <a:off x="785238" y="1151545"/>
            <a:ext cx="4386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latin typeface="Baskerville" panose="02020502070401020303" pitchFamily="18" charset="0"/>
                <a:ea typeface="Baskerville" panose="02020502070401020303" pitchFamily="18" charset="0"/>
              </a:rPr>
              <a:t>Nuestra realidad es más compleja…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C8389E-4F13-87D9-2F52-1E5198445B9C}"/>
              </a:ext>
            </a:extLst>
          </p:cNvPr>
          <p:cNvSpPr txBox="1"/>
          <p:nvPr/>
        </p:nvSpPr>
        <p:spPr>
          <a:xfrm>
            <a:off x="10472560" y="1759027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2.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91145C-6951-A05F-B4B8-50C40E8F11AB}"/>
              </a:ext>
            </a:extLst>
          </p:cNvPr>
          <p:cNvSpPr txBox="1"/>
          <p:nvPr/>
        </p:nvSpPr>
        <p:spPr>
          <a:xfrm>
            <a:off x="10472560" y="2472122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4.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62B647-DA94-87EF-1AAE-8E1DD198DE0E}"/>
              </a:ext>
            </a:extLst>
          </p:cNvPr>
          <p:cNvSpPr txBox="1"/>
          <p:nvPr/>
        </p:nvSpPr>
        <p:spPr>
          <a:xfrm>
            <a:off x="10472560" y="2892543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5.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714706-111A-73E6-5A6E-697F55BD38E9}"/>
              </a:ext>
            </a:extLst>
          </p:cNvPr>
          <p:cNvSpPr txBox="1"/>
          <p:nvPr/>
        </p:nvSpPr>
        <p:spPr>
          <a:xfrm>
            <a:off x="10472560" y="3542689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6.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0DDAED-724C-B922-29ED-2FEB07F837E1}"/>
              </a:ext>
            </a:extLst>
          </p:cNvPr>
          <p:cNvSpPr txBox="1"/>
          <p:nvPr/>
        </p:nvSpPr>
        <p:spPr>
          <a:xfrm>
            <a:off x="10466179" y="3823140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7.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4A70C2-D7C1-A93C-2464-D67A1ED7D792}"/>
              </a:ext>
            </a:extLst>
          </p:cNvPr>
          <p:cNvSpPr txBox="1"/>
          <p:nvPr/>
        </p:nvSpPr>
        <p:spPr>
          <a:xfrm>
            <a:off x="10472560" y="2112144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3.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BFC932-1697-B62C-C34D-4DD8C470508C}"/>
              </a:ext>
            </a:extLst>
          </p:cNvPr>
          <p:cNvSpPr txBox="1"/>
          <p:nvPr/>
        </p:nvSpPr>
        <p:spPr>
          <a:xfrm>
            <a:off x="10510322" y="4645354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8.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CAC1B2-2045-11F0-89D0-5C45705EF422}"/>
              </a:ext>
            </a:extLst>
          </p:cNvPr>
          <p:cNvSpPr txBox="1"/>
          <p:nvPr/>
        </p:nvSpPr>
        <p:spPr>
          <a:xfrm>
            <a:off x="585513" y="5473375"/>
            <a:ext cx="25891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MODELO FINAL CON 7 PARÁMETROS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E324896-2D3A-CBD1-4463-0103ECDF13C5}"/>
                  </a:ext>
                </a:extLst>
              </p:cNvPr>
              <p:cNvSpPr txBox="1"/>
              <p:nvPr/>
            </p:nvSpPr>
            <p:spPr>
              <a:xfrm>
                <a:off x="585513" y="5698935"/>
                <a:ext cx="5612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cs-CZ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cs-CZ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cs-CZ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b="0" i="1" smtClean="0">
                                  <a:latin typeface="Cambria Math" panose="02040503050406030204" pitchFamily="18" charset="0"/>
                                </a:rPr>
                                <m:t>𝑟𝑡</m:t>
                              </m:r>
                              <m:r>
                                <a:rPr lang="cs-CZ" b="0" i="1" baseline="-25000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e>
                          </m:d>
                        </m:e>
                      </m:func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𝑢𝑜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𝑤𝑜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𝑐𝑜𝑛𝑑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𝑐𝑜𝑑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E324896-2D3A-CBD1-4463-0103ECDF1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13" y="5698935"/>
                <a:ext cx="5612883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5150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4518EC-80BE-DD52-DE7D-4E260F8B1D38}"/>
              </a:ext>
            </a:extLst>
          </p:cNvPr>
          <p:cNvSpPr txBox="1"/>
          <p:nvPr/>
        </p:nvSpPr>
        <p:spPr>
          <a:xfrm>
            <a:off x="5712405" y="4415144"/>
            <a:ext cx="598715" cy="369332"/>
          </a:xfrm>
          <a:prstGeom prst="rect">
            <a:avLst/>
          </a:prstGeom>
          <a:solidFill>
            <a:srgbClr val="FDECEA"/>
          </a:solidFill>
        </p:spPr>
        <p:txBody>
          <a:bodyPr wrap="square" rtlCol="0">
            <a:spAutoFit/>
          </a:bodyPr>
          <a:lstStyle/>
          <a:p>
            <a:endParaRPr lang="en-AU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519BD4-8DA8-C06C-D6B0-1A42A9BE1ACF}"/>
                  </a:ext>
                </a:extLst>
              </p:cNvPr>
              <p:cNvSpPr txBox="1"/>
              <p:nvPr/>
            </p:nvSpPr>
            <p:spPr>
              <a:xfrm>
                <a:off x="780172" y="3403324"/>
                <a:ext cx="45357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𝑟𝑡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𝑢𝑜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𝑐𝑜𝑛𝑑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𝑐𝑜𝑑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519BD4-8DA8-C06C-D6B0-1A42A9BE1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172" y="3403324"/>
                <a:ext cx="4535793" cy="369332"/>
              </a:xfrm>
              <a:prstGeom prst="rect">
                <a:avLst/>
              </a:prstGeom>
              <a:blipFill>
                <a:blip r:embed="rId3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FE1CF-DFD2-13B3-040A-1C57EE23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19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D73CE48-D701-8CFC-6AFD-741BDD1BA2E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19</a:t>
            </a:fld>
            <a:endParaRPr lang="es-E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12097B6-DCE4-1744-5F95-E99BF029BD1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19</a:t>
            </a:fld>
            <a:endParaRPr lang="es-ES"/>
          </a:p>
        </p:txBody>
      </p:sp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7E7F66A3-AE44-FEF1-4F2E-6A7C2AF657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19</a:t>
            </a:fld>
            <a:endParaRPr lang="es-ES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9519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 </a:t>
            </a:r>
            <a:r>
              <a:rPr lang="es-ES_tradn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· </a:t>
            </a:r>
            <a:r>
              <a:rPr lang="es-ES_tradnl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acercándonos a la realidad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74399E-B7DD-E968-AA26-0B6C5B676967}"/>
              </a:ext>
            </a:extLst>
          </p:cNvPr>
          <p:cNvSpPr txBox="1"/>
          <p:nvPr/>
        </p:nvSpPr>
        <p:spPr>
          <a:xfrm>
            <a:off x="676859" y="1028967"/>
            <a:ext cx="9163086" cy="423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600" i="1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5. Y </a:t>
            </a:r>
            <a:r>
              <a:rPr lang="es-ES_tradnl" sz="1600" i="1" dirty="0">
                <a:solidFill>
                  <a:srgbClr val="C00000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 </a:t>
            </a:r>
            <a:r>
              <a:rPr lang="es-ES_tradnl" sz="1600" i="1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si los participantes que son más lentos, muestran efectos más pequeños? (</a:t>
            </a:r>
            <a:r>
              <a:rPr lang="es-ES_tradnl" sz="1600" i="1" u="sng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la correlación </a:t>
            </a:r>
            <a:r>
              <a:rPr lang="es-ES_tradnl" sz="1600" i="1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entre los interceptos y las pendientes)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BCC1F2-9BB8-1CF0-1C90-726A938BB5B5}"/>
              </a:ext>
            </a:extLst>
          </p:cNvPr>
          <p:cNvSpPr txBox="1"/>
          <p:nvPr/>
        </p:nvSpPr>
        <p:spPr>
          <a:xfrm>
            <a:off x="780172" y="1652380"/>
            <a:ext cx="1677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NUESTRA REALIDAD: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C76C094-DCC1-B3AC-D9FD-F7D57351336D}"/>
                  </a:ext>
                </a:extLst>
              </p:cNvPr>
              <p:cNvSpPr txBox="1"/>
              <p:nvPr/>
            </p:nvSpPr>
            <p:spPr>
              <a:xfrm>
                <a:off x="2457699" y="2602377"/>
                <a:ext cx="2478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Baskerville" panose="02020502070401020303" pitchFamily="18" charset="0"/>
                    <a:ea typeface="Baskerville" panose="02020502070401020303" pitchFamily="18" charset="0"/>
                  </a:rPr>
                  <a:t>pendiente (50 ms) </a:t>
                </a:r>
                <a14:m>
                  <m:oMath xmlns:m="http://schemas.openxmlformats.org/officeDocument/2006/math">
                    <m:r>
                      <a:rPr lang="es-ES_tradnl" sz="1400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s-ES_tradnl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Baskerville" panose="02020502070401020303" pitchFamily="18" charset="0"/>
                    <a:ea typeface="Baskerville" panose="02020502070401020303" pitchFamily="18" charset="0"/>
                  </a:rPr>
                  <a:t> (-0.5/+0.5)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C76C094-DCC1-B3AC-D9FD-F7D573513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699" y="2602377"/>
                <a:ext cx="2478564" cy="307777"/>
              </a:xfrm>
              <a:prstGeom prst="rect">
                <a:avLst/>
              </a:prstGeom>
              <a:blipFill>
                <a:blip r:embed="rId7"/>
                <a:stretch>
                  <a:fillRect l="-51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FFC976A6-1642-0A3E-EF36-13AAE8CDF56B}"/>
              </a:ext>
            </a:extLst>
          </p:cNvPr>
          <p:cNvSpPr txBox="1"/>
          <p:nvPr/>
        </p:nvSpPr>
        <p:spPr>
          <a:xfrm>
            <a:off x="1345597" y="2088369"/>
            <a:ext cx="15615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intercepto (725 ms)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75D0C3-9528-4131-F410-2F3982E89F70}"/>
              </a:ext>
            </a:extLst>
          </p:cNvPr>
          <p:cNvSpPr txBox="1"/>
          <p:nvPr/>
        </p:nvSpPr>
        <p:spPr>
          <a:xfrm>
            <a:off x="2328190" y="1652380"/>
            <a:ext cx="1236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 PARÁMETROS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453655-62BA-4C44-0DDD-F819B00CDD2A}"/>
              </a:ext>
            </a:extLst>
          </p:cNvPr>
          <p:cNvSpPr txBox="1"/>
          <p:nvPr/>
        </p:nvSpPr>
        <p:spPr>
          <a:xfrm>
            <a:off x="4892753" y="2956320"/>
            <a:ext cx="548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error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5A6814F-C5B3-8C97-896D-A006BFB25DC2}"/>
              </a:ext>
            </a:extLst>
          </p:cNvPr>
          <p:cNvCxnSpPr/>
          <p:nvPr/>
        </p:nvCxnSpPr>
        <p:spPr>
          <a:xfrm flipV="1">
            <a:off x="1577940" y="2396146"/>
            <a:ext cx="0" cy="1007178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3367CEF-CB34-52CF-C1E8-078B355CCBF3}"/>
              </a:ext>
            </a:extLst>
          </p:cNvPr>
          <p:cNvCxnSpPr>
            <a:cxnSpLocks/>
          </p:cNvCxnSpPr>
          <p:nvPr/>
        </p:nvCxnSpPr>
        <p:spPr>
          <a:xfrm flipV="1">
            <a:off x="5098255" y="3273606"/>
            <a:ext cx="0" cy="140829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1AA2F8F-AEF2-CFFB-885F-8E06B8C6EE8F}"/>
              </a:ext>
            </a:extLst>
          </p:cNvPr>
          <p:cNvCxnSpPr>
            <a:cxnSpLocks/>
          </p:cNvCxnSpPr>
          <p:nvPr/>
        </p:nvCxnSpPr>
        <p:spPr>
          <a:xfrm flipV="1">
            <a:off x="2684667" y="2910154"/>
            <a:ext cx="0" cy="404427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4DCCC81-3839-9851-8323-BB6E98C3211C}"/>
              </a:ext>
            </a:extLst>
          </p:cNvPr>
          <p:cNvCxnSpPr>
            <a:cxnSpLocks/>
          </p:cNvCxnSpPr>
          <p:nvPr/>
        </p:nvCxnSpPr>
        <p:spPr>
          <a:xfrm>
            <a:off x="2126387" y="3772656"/>
            <a:ext cx="0" cy="200835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BDAD2A6-8570-4304-FC77-7BCEF0698570}"/>
              </a:ext>
            </a:extLst>
          </p:cNvPr>
          <p:cNvSpPr txBox="1"/>
          <p:nvPr/>
        </p:nvSpPr>
        <p:spPr>
          <a:xfrm>
            <a:off x="1637770" y="3889481"/>
            <a:ext cx="2510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interceptos aleatorios por sujeto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B68FC2F-26FC-7AB5-BB08-64B9E9B27683}"/>
              </a:ext>
            </a:extLst>
          </p:cNvPr>
          <p:cNvSpPr txBox="1"/>
          <p:nvPr/>
        </p:nvSpPr>
        <p:spPr>
          <a:xfrm>
            <a:off x="10494080" y="1171889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5.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030355-0465-3FE9-165D-E91C3C698478}"/>
              </a:ext>
            </a:extLst>
          </p:cNvPr>
          <p:cNvCxnSpPr>
            <a:cxnSpLocks/>
          </p:cNvCxnSpPr>
          <p:nvPr/>
        </p:nvCxnSpPr>
        <p:spPr>
          <a:xfrm>
            <a:off x="4444248" y="3772656"/>
            <a:ext cx="7213" cy="401671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777B65A-B033-6B17-11D2-C063836B22A9}"/>
              </a:ext>
            </a:extLst>
          </p:cNvPr>
          <p:cNvSpPr txBox="1"/>
          <p:nvPr/>
        </p:nvSpPr>
        <p:spPr>
          <a:xfrm>
            <a:off x="3564133" y="4278874"/>
            <a:ext cx="1733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pendientes aleatorias </a:t>
            </a:r>
          </a:p>
          <a:p>
            <a:pPr algn="ctr"/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por sujeto 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1DBEB75B-605B-27F5-145A-D6DEFBBE82BD}"/>
              </a:ext>
            </a:extLst>
          </p:cNvPr>
          <p:cNvSpPr/>
          <p:nvPr/>
        </p:nvSpPr>
        <p:spPr>
          <a:xfrm>
            <a:off x="5315965" y="3889481"/>
            <a:ext cx="186635" cy="97416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BF313D-C2F3-FE7B-2FAF-85A3E5181E51}"/>
              </a:ext>
            </a:extLst>
          </p:cNvPr>
          <p:cNvSpPr txBox="1"/>
          <p:nvPr/>
        </p:nvSpPr>
        <p:spPr>
          <a:xfrm>
            <a:off x="5502600" y="4174327"/>
            <a:ext cx="1265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correlacionado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7B2864-C641-58B5-BFDD-7DA95D3DD587}"/>
              </a:ext>
            </a:extLst>
          </p:cNvPr>
          <p:cNvSpPr txBox="1"/>
          <p:nvPr/>
        </p:nvSpPr>
        <p:spPr>
          <a:xfrm>
            <a:off x="5969726" y="2037806"/>
            <a:ext cx="32412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   </a:t>
            </a:r>
          </a:p>
        </p:txBody>
      </p:sp>
      <p:pic>
        <p:nvPicPr>
          <p:cNvPr id="24" name="Picture 23" descr="A screenshot of a graph&#10;&#10;Description automatically generated">
            <a:extLst>
              <a:ext uri="{FF2B5EF4-FFF2-40B4-BE49-F238E27FC236}">
                <a16:creationId xmlns:a16="http://schemas.microsoft.com/office/drawing/2014/main" id="{5540F606-413B-4F79-442E-1CC752E8B1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1527" y="1899538"/>
            <a:ext cx="4760547" cy="366195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081A6A1-6290-9371-468F-CFEDE8049EC8}"/>
              </a:ext>
            </a:extLst>
          </p:cNvPr>
          <p:cNvSpPr txBox="1"/>
          <p:nvPr/>
        </p:nvSpPr>
        <p:spPr>
          <a:xfrm>
            <a:off x="5630071" y="4445922"/>
            <a:ext cx="13889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i="1" dirty="0">
                <a:latin typeface="Baskerville" panose="02020502070401020303" pitchFamily="18" charset="0"/>
                <a:ea typeface="Baskerville" panose="02020502070401020303" pitchFamily="18" charset="0"/>
              </a:rPr>
              <a:t>“rho” </a:t>
            </a:r>
            <a:r>
              <a:rPr lang="es-ES_tradnl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= -0.5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73C34BE-D72E-C982-018E-4457C62F6328}"/>
              </a:ext>
            </a:extLst>
          </p:cNvPr>
          <p:cNvCxnSpPr>
            <a:cxnSpLocks/>
          </p:cNvCxnSpPr>
          <p:nvPr/>
        </p:nvCxnSpPr>
        <p:spPr>
          <a:xfrm>
            <a:off x="5969726" y="4784476"/>
            <a:ext cx="0" cy="2889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4B53AE1-6A94-6E29-E0A4-CEC9E0EF3877}"/>
              </a:ext>
            </a:extLst>
          </p:cNvPr>
          <p:cNvCxnSpPr/>
          <p:nvPr/>
        </p:nvCxnSpPr>
        <p:spPr>
          <a:xfrm>
            <a:off x="5969726" y="5063446"/>
            <a:ext cx="10492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Picture 50" descr="A graph with a green line&#10;&#10;Description automatically generated">
            <a:extLst>
              <a:ext uri="{FF2B5EF4-FFF2-40B4-BE49-F238E27FC236}">
                <a16:creationId xmlns:a16="http://schemas.microsoft.com/office/drawing/2014/main" id="{208CDD82-1C94-28EA-1AEC-E522129C99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7816" y="3029305"/>
            <a:ext cx="435994" cy="261427"/>
          </a:xfrm>
          <a:prstGeom prst="rect">
            <a:avLst/>
          </a:prstGeom>
        </p:spPr>
      </p:pic>
      <p:pic>
        <p:nvPicPr>
          <p:cNvPr id="52" name="Picture 51" descr="A graph with a red curve and a line&#10;&#10;Description automatically generated">
            <a:extLst>
              <a:ext uri="{FF2B5EF4-FFF2-40B4-BE49-F238E27FC236}">
                <a16:creationId xmlns:a16="http://schemas.microsoft.com/office/drawing/2014/main" id="{EB6C7037-A0A0-E9B0-262D-A877A6279F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46308" y="4539162"/>
            <a:ext cx="952184" cy="338554"/>
          </a:xfrm>
          <a:prstGeom prst="rect">
            <a:avLst/>
          </a:prstGeom>
        </p:spPr>
      </p:pic>
      <p:pic>
        <p:nvPicPr>
          <p:cNvPr id="53" name="Picture 52" descr="A graph with a red line&#10;&#10;Description automatically generated">
            <a:extLst>
              <a:ext uri="{FF2B5EF4-FFF2-40B4-BE49-F238E27FC236}">
                <a16:creationId xmlns:a16="http://schemas.microsoft.com/office/drawing/2014/main" id="{17B710C6-3E05-BD29-AD3D-E492E8C8E8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0">
            <a:off x="1300974" y="3753323"/>
            <a:ext cx="295664" cy="58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509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2372AEB8-EE03-0CFF-8FF6-9474654F5DFC}"/>
              </a:ext>
            </a:extLst>
          </p:cNvPr>
          <p:cNvSpPr txBox="1"/>
          <p:nvPr/>
        </p:nvSpPr>
        <p:spPr>
          <a:xfrm>
            <a:off x="740829" y="3506497"/>
            <a:ext cx="11114510" cy="369332"/>
          </a:xfrm>
          <a:prstGeom prst="rect">
            <a:avLst/>
          </a:prstGeom>
          <a:solidFill>
            <a:srgbClr val="FDECEA"/>
          </a:solidFill>
        </p:spPr>
        <p:txBody>
          <a:bodyPr wrap="square" rtlCol="0">
            <a:spAutoFit/>
          </a:bodyPr>
          <a:lstStyle/>
          <a:p>
            <a:endParaRPr lang="en-AU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E395C1-2044-7602-CB3B-42069607BB35}"/>
              </a:ext>
            </a:extLst>
          </p:cNvPr>
          <p:cNvSpPr txBox="1"/>
          <p:nvPr/>
        </p:nvSpPr>
        <p:spPr>
          <a:xfrm>
            <a:off x="740829" y="1628382"/>
            <a:ext cx="9670267" cy="3376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2.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Podemos asumir que el tiempo basal es idéntico para todos los participantes? (interceptos) 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3. Los participantes responden a múltiples ensayos.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4. ¿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Podemos asumir que todos los sujetos van a reaccionar de forma igual a nuestra manipulación? (las pendientes) 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5. Y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si los participantes que son más lentos, muestran efectos más pequeños? (</a:t>
            </a:r>
            <a:r>
              <a:rPr lang="es-ES_tradnl" sz="1600" u="sng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la correlación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entre los interceptos y las pendientes)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6. </a:t>
            </a:r>
            <a:r>
              <a:rPr lang="es-ES_tradnl" sz="1600" dirty="0">
                <a:solidFill>
                  <a:srgbClr val="C00000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 </a:t>
            </a:r>
            <a:r>
              <a:rPr lang="es-ES_tradnl" sz="1600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Existe variabilidad para los ítems (palabras), igual que entre los participantes? (interceptos para las palabras)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7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¿Los tiempos de reacción, se distribuyen de forma normal?</a:t>
            </a:r>
          </a:p>
          <a:p>
            <a:pPr>
              <a:lnSpc>
                <a:spcPct val="150000"/>
              </a:lnSpc>
            </a:pPr>
            <a:endParaRPr lang="es-ES_tradnl" sz="1600" dirty="0">
              <a:solidFill>
                <a:schemeClr val="bg2">
                  <a:lumMod val="90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8.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¿C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uántos datos (participantes/ensayos) debo recoger para detectar los efectos repetidamente (80/95%)?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FE1CF-DFD2-13B3-040A-1C57EE23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20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D73CE48-D701-8CFC-6AFD-741BDD1BA2E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20</a:t>
            </a:fld>
            <a:endParaRPr lang="es-E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12097B6-DCE4-1744-5F95-E99BF029BD1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20</a:t>
            </a:fld>
            <a:endParaRPr lang="es-ES"/>
          </a:p>
        </p:txBody>
      </p:sp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7E7F66A3-AE44-FEF1-4F2E-6A7C2AF65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20</a:t>
            </a:fld>
            <a:endParaRPr lang="es-ES" dirty="0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94807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 </a:t>
            </a:r>
            <a:r>
              <a:rPr lang="es-ES_tradn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· </a:t>
            </a:r>
            <a:r>
              <a:rPr lang="es-ES_tradnl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Acercándonos a la realidad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E7E884-FE7C-DEAF-46AD-04D9AC96094B}"/>
              </a:ext>
            </a:extLst>
          </p:cNvPr>
          <p:cNvSpPr txBox="1"/>
          <p:nvPr/>
        </p:nvSpPr>
        <p:spPr>
          <a:xfrm>
            <a:off x="785238" y="1151545"/>
            <a:ext cx="4386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latin typeface="Baskerville" panose="02020502070401020303" pitchFamily="18" charset="0"/>
                <a:ea typeface="Baskerville" panose="02020502070401020303" pitchFamily="18" charset="0"/>
              </a:rPr>
              <a:t>Nuestra realidad es más compleja…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C8389E-4F13-87D9-2F52-1E5198445B9C}"/>
              </a:ext>
            </a:extLst>
          </p:cNvPr>
          <p:cNvSpPr txBox="1"/>
          <p:nvPr/>
        </p:nvSpPr>
        <p:spPr>
          <a:xfrm>
            <a:off x="10472560" y="1759027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2.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91145C-6951-A05F-B4B8-50C40E8F11AB}"/>
              </a:ext>
            </a:extLst>
          </p:cNvPr>
          <p:cNvSpPr txBox="1"/>
          <p:nvPr/>
        </p:nvSpPr>
        <p:spPr>
          <a:xfrm>
            <a:off x="10472560" y="2472122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4.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62B647-DA94-87EF-1AAE-8E1DD198DE0E}"/>
              </a:ext>
            </a:extLst>
          </p:cNvPr>
          <p:cNvSpPr txBox="1"/>
          <p:nvPr/>
        </p:nvSpPr>
        <p:spPr>
          <a:xfrm>
            <a:off x="10472560" y="2892543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5.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714706-111A-73E6-5A6E-697F55BD38E9}"/>
              </a:ext>
            </a:extLst>
          </p:cNvPr>
          <p:cNvSpPr txBox="1"/>
          <p:nvPr/>
        </p:nvSpPr>
        <p:spPr>
          <a:xfrm>
            <a:off x="10472560" y="3542689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6.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0DDAED-724C-B922-29ED-2FEB07F837E1}"/>
              </a:ext>
            </a:extLst>
          </p:cNvPr>
          <p:cNvSpPr txBox="1"/>
          <p:nvPr/>
        </p:nvSpPr>
        <p:spPr>
          <a:xfrm>
            <a:off x="10466179" y="3823140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7.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4A70C2-D7C1-A93C-2464-D67A1ED7D792}"/>
              </a:ext>
            </a:extLst>
          </p:cNvPr>
          <p:cNvSpPr txBox="1"/>
          <p:nvPr/>
        </p:nvSpPr>
        <p:spPr>
          <a:xfrm>
            <a:off x="10472560" y="2112144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3.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BFC932-1697-B62C-C34D-4DD8C470508C}"/>
              </a:ext>
            </a:extLst>
          </p:cNvPr>
          <p:cNvSpPr txBox="1"/>
          <p:nvPr/>
        </p:nvSpPr>
        <p:spPr>
          <a:xfrm>
            <a:off x="10510322" y="4645354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8.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840FD9-2060-B1A5-9988-A3C43B442907}"/>
              </a:ext>
            </a:extLst>
          </p:cNvPr>
          <p:cNvSpPr txBox="1"/>
          <p:nvPr/>
        </p:nvSpPr>
        <p:spPr>
          <a:xfrm>
            <a:off x="585513" y="5473375"/>
            <a:ext cx="25891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MODELO FINAL CON 7 PARÁMETROS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839D890-0438-3735-4627-F52B424CF0C5}"/>
                  </a:ext>
                </a:extLst>
              </p:cNvPr>
              <p:cNvSpPr txBox="1"/>
              <p:nvPr/>
            </p:nvSpPr>
            <p:spPr>
              <a:xfrm>
                <a:off x="585513" y="5698935"/>
                <a:ext cx="5612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cs-CZ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cs-CZ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cs-CZ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b="0" i="1" smtClean="0">
                                  <a:latin typeface="Cambria Math" panose="02040503050406030204" pitchFamily="18" charset="0"/>
                                </a:rPr>
                                <m:t>𝑟𝑡</m:t>
                              </m:r>
                              <m:r>
                                <a:rPr lang="cs-CZ" b="0" i="1" baseline="-25000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e>
                          </m:d>
                        </m:e>
                      </m:func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𝑢𝑜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𝑤𝑜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𝑐𝑜𝑛𝑑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𝑐𝑜𝑑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839D890-0438-3735-4627-F52B424CF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13" y="5698935"/>
                <a:ext cx="5612883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2804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519523-CCE3-D303-7A18-C90A2E414273}"/>
              </a:ext>
            </a:extLst>
          </p:cNvPr>
          <p:cNvSpPr txBox="1"/>
          <p:nvPr/>
        </p:nvSpPr>
        <p:spPr>
          <a:xfrm>
            <a:off x="2420617" y="3440669"/>
            <a:ext cx="598715" cy="369332"/>
          </a:xfrm>
          <a:prstGeom prst="rect">
            <a:avLst/>
          </a:prstGeom>
          <a:solidFill>
            <a:srgbClr val="FDECEA"/>
          </a:solidFill>
        </p:spPr>
        <p:txBody>
          <a:bodyPr wrap="square" rtlCol="0">
            <a:spAutoFit/>
          </a:bodyPr>
          <a:lstStyle/>
          <a:p>
            <a:endParaRPr lang="en-AU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519BD4-8DA8-C06C-D6B0-1A42A9BE1ACF}"/>
                  </a:ext>
                </a:extLst>
              </p:cNvPr>
              <p:cNvSpPr txBox="1"/>
              <p:nvPr/>
            </p:nvSpPr>
            <p:spPr>
              <a:xfrm>
                <a:off x="780172" y="3403324"/>
                <a:ext cx="51737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𝑟𝑡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𝑢𝑜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cs-CZ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cs-CZ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cs-CZ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 </m:t>
                          </m:r>
                          <m:r>
                            <a:rPr lang="cs-CZ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𝑐𝑜𝑛𝑑</m:t>
                          </m:r>
                          <m:r>
                            <a:rPr lang="cs-CZ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cs-CZ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𝑐𝑜𝑑</m:t>
                          </m:r>
                          <m:r>
                            <a:rPr lang="cs-CZ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cs-CZ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cs-CZ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cs-CZ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519BD4-8DA8-C06C-D6B0-1A42A9BE1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172" y="3403324"/>
                <a:ext cx="5173789" cy="369332"/>
              </a:xfrm>
              <a:prstGeom prst="rect">
                <a:avLst/>
              </a:prstGeom>
              <a:blipFill>
                <a:blip r:embed="rId3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FE1CF-DFD2-13B3-040A-1C57EE23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21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D73CE48-D701-8CFC-6AFD-741BDD1BA2E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21</a:t>
            </a:fld>
            <a:endParaRPr lang="es-E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12097B6-DCE4-1744-5F95-E99BF029BD1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21</a:t>
            </a:fld>
            <a:endParaRPr lang="es-ES"/>
          </a:p>
        </p:txBody>
      </p:sp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7E7F66A3-AE44-FEF1-4F2E-6A7C2AF657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21</a:t>
            </a:fld>
            <a:endParaRPr lang="es-ES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9519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 </a:t>
            </a:r>
            <a:r>
              <a:rPr lang="es-ES_tradn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· </a:t>
            </a:r>
            <a:r>
              <a:rPr lang="es-ES_tradnl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acercándonos a la realidad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74399E-B7DD-E968-AA26-0B6C5B676967}"/>
              </a:ext>
            </a:extLst>
          </p:cNvPr>
          <p:cNvSpPr txBox="1"/>
          <p:nvPr/>
        </p:nvSpPr>
        <p:spPr>
          <a:xfrm>
            <a:off x="676859" y="1028967"/>
            <a:ext cx="8116133" cy="423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600" i="1" dirty="0">
                <a:latin typeface="Baskerville" panose="02020502070401020303" pitchFamily="18" charset="0"/>
                <a:ea typeface="Baskerville" panose="02020502070401020303" pitchFamily="18" charset="0"/>
              </a:rPr>
              <a:t>6. </a:t>
            </a:r>
            <a:r>
              <a:rPr lang="es-ES_tradnl" sz="1600" i="1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 </a:t>
            </a:r>
            <a:r>
              <a:rPr lang="es-ES_tradnl" sz="1600" i="1" dirty="0">
                <a:latin typeface="Baskerville" panose="02020502070401020303" pitchFamily="18" charset="0"/>
                <a:ea typeface="Baskerville" panose="02020502070401020303" pitchFamily="18" charset="0"/>
              </a:rPr>
              <a:t>Existe variabilidad para los ítems (palabras), igual que entre los participantes? (interceptos para las palabras)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BCC1F2-9BB8-1CF0-1C90-726A938BB5B5}"/>
              </a:ext>
            </a:extLst>
          </p:cNvPr>
          <p:cNvSpPr txBox="1"/>
          <p:nvPr/>
        </p:nvSpPr>
        <p:spPr>
          <a:xfrm>
            <a:off x="780172" y="1652380"/>
            <a:ext cx="1677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NUESTRA REALIDAD: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C76C094-DCC1-B3AC-D9FD-F7D57351336D}"/>
                  </a:ext>
                </a:extLst>
              </p:cNvPr>
              <p:cNvSpPr txBox="1"/>
              <p:nvPr/>
            </p:nvSpPr>
            <p:spPr>
              <a:xfrm>
                <a:off x="3075095" y="2853941"/>
                <a:ext cx="24785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Baskerville" panose="02020502070401020303" pitchFamily="18" charset="0"/>
                    <a:ea typeface="Baskerville" panose="02020502070401020303" pitchFamily="18" charset="0"/>
                  </a:rPr>
                  <a:t>pendiente (50 ms) </a:t>
                </a:r>
                <a14:m>
                  <m:oMath xmlns:m="http://schemas.openxmlformats.org/officeDocument/2006/math">
                    <m:r>
                      <a:rPr lang="es-ES_tradnl" sz="1400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s-ES_tradnl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Baskerville" panose="02020502070401020303" pitchFamily="18" charset="0"/>
                    <a:ea typeface="Baskerville" panose="02020502070401020303" pitchFamily="18" charset="0"/>
                  </a:rPr>
                  <a:t> (-0.5/+0.5)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C76C094-DCC1-B3AC-D9FD-F7D573513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095" y="2853941"/>
                <a:ext cx="2478564" cy="307777"/>
              </a:xfrm>
              <a:prstGeom prst="rect">
                <a:avLst/>
              </a:prstGeom>
              <a:blipFill>
                <a:blip r:embed="rId7"/>
                <a:stretch>
                  <a:fillRect l="-508" t="-3846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FFC976A6-1642-0A3E-EF36-13AAE8CDF56B}"/>
              </a:ext>
            </a:extLst>
          </p:cNvPr>
          <p:cNvSpPr txBox="1"/>
          <p:nvPr/>
        </p:nvSpPr>
        <p:spPr>
          <a:xfrm>
            <a:off x="1345597" y="2088369"/>
            <a:ext cx="15615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intercepto (725 ms)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75D0C3-9528-4131-F410-2F3982E89F70}"/>
              </a:ext>
            </a:extLst>
          </p:cNvPr>
          <p:cNvSpPr txBox="1"/>
          <p:nvPr/>
        </p:nvSpPr>
        <p:spPr>
          <a:xfrm>
            <a:off x="2328190" y="1652380"/>
            <a:ext cx="1236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7 PARÁMETROS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453655-62BA-4C44-0DDD-F819B00CDD2A}"/>
              </a:ext>
            </a:extLst>
          </p:cNvPr>
          <p:cNvSpPr txBox="1"/>
          <p:nvPr/>
        </p:nvSpPr>
        <p:spPr>
          <a:xfrm>
            <a:off x="5514145" y="3009982"/>
            <a:ext cx="548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error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5A6814F-C5B3-8C97-896D-A006BFB25DC2}"/>
              </a:ext>
            </a:extLst>
          </p:cNvPr>
          <p:cNvCxnSpPr/>
          <p:nvPr/>
        </p:nvCxnSpPr>
        <p:spPr>
          <a:xfrm flipV="1">
            <a:off x="1577940" y="2396146"/>
            <a:ext cx="0" cy="1007178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3367CEF-CB34-52CF-C1E8-078B355CCBF3}"/>
              </a:ext>
            </a:extLst>
          </p:cNvPr>
          <p:cNvCxnSpPr>
            <a:cxnSpLocks/>
          </p:cNvCxnSpPr>
          <p:nvPr/>
        </p:nvCxnSpPr>
        <p:spPr>
          <a:xfrm flipV="1">
            <a:off x="5719647" y="3327268"/>
            <a:ext cx="0" cy="140829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1AA2F8F-AEF2-CFFB-885F-8E06B8C6EE8F}"/>
              </a:ext>
            </a:extLst>
          </p:cNvPr>
          <p:cNvCxnSpPr>
            <a:cxnSpLocks/>
          </p:cNvCxnSpPr>
          <p:nvPr/>
        </p:nvCxnSpPr>
        <p:spPr>
          <a:xfrm flipV="1">
            <a:off x="3306059" y="3179259"/>
            <a:ext cx="0" cy="188984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4DCCC81-3839-9851-8323-BB6E98C3211C}"/>
              </a:ext>
            </a:extLst>
          </p:cNvPr>
          <p:cNvCxnSpPr>
            <a:cxnSpLocks/>
          </p:cNvCxnSpPr>
          <p:nvPr/>
        </p:nvCxnSpPr>
        <p:spPr>
          <a:xfrm>
            <a:off x="2126387" y="3772656"/>
            <a:ext cx="0" cy="200835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BDAD2A6-8570-4304-FC77-7BCEF0698570}"/>
              </a:ext>
            </a:extLst>
          </p:cNvPr>
          <p:cNvSpPr txBox="1"/>
          <p:nvPr/>
        </p:nvSpPr>
        <p:spPr>
          <a:xfrm>
            <a:off x="1637770" y="3889481"/>
            <a:ext cx="2510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interceptos aleatorios por sujeto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B68FC2F-26FC-7AB5-BB08-64B9E9B27683}"/>
              </a:ext>
            </a:extLst>
          </p:cNvPr>
          <p:cNvSpPr txBox="1"/>
          <p:nvPr/>
        </p:nvSpPr>
        <p:spPr>
          <a:xfrm>
            <a:off x="10494080" y="1171889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6.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030355-0465-3FE9-165D-E91C3C698478}"/>
              </a:ext>
            </a:extLst>
          </p:cNvPr>
          <p:cNvCxnSpPr>
            <a:cxnSpLocks/>
          </p:cNvCxnSpPr>
          <p:nvPr/>
        </p:nvCxnSpPr>
        <p:spPr>
          <a:xfrm>
            <a:off x="5082299" y="3772656"/>
            <a:ext cx="7213" cy="401671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777B65A-B033-6B17-11D2-C063836B22A9}"/>
              </a:ext>
            </a:extLst>
          </p:cNvPr>
          <p:cNvSpPr txBox="1"/>
          <p:nvPr/>
        </p:nvSpPr>
        <p:spPr>
          <a:xfrm>
            <a:off x="3564132" y="4278874"/>
            <a:ext cx="17330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pendientes aleatorias </a:t>
            </a:r>
          </a:p>
          <a:p>
            <a:pPr algn="ctr"/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por sujeto 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1DBEB75B-605B-27F5-145A-D6DEFBBE82BD}"/>
              </a:ext>
            </a:extLst>
          </p:cNvPr>
          <p:cNvSpPr/>
          <p:nvPr/>
        </p:nvSpPr>
        <p:spPr>
          <a:xfrm>
            <a:off x="5315965" y="3889481"/>
            <a:ext cx="186635" cy="974168"/>
          </a:xfrm>
          <a:prstGeom prst="rightBrac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BF313D-C2F3-FE7B-2FAF-85A3E5181E51}"/>
              </a:ext>
            </a:extLst>
          </p:cNvPr>
          <p:cNvSpPr txBox="1"/>
          <p:nvPr/>
        </p:nvSpPr>
        <p:spPr>
          <a:xfrm>
            <a:off x="5502600" y="4174327"/>
            <a:ext cx="1265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correlacionado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7B2864-C641-58B5-BFDD-7DA95D3DD587}"/>
              </a:ext>
            </a:extLst>
          </p:cNvPr>
          <p:cNvSpPr txBox="1"/>
          <p:nvPr/>
        </p:nvSpPr>
        <p:spPr>
          <a:xfrm>
            <a:off x="5969726" y="2037806"/>
            <a:ext cx="32412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 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40B755-3331-1773-67A9-57178FDF6946}"/>
              </a:ext>
            </a:extLst>
          </p:cNvPr>
          <p:cNvSpPr txBox="1"/>
          <p:nvPr/>
        </p:nvSpPr>
        <p:spPr>
          <a:xfrm>
            <a:off x="1828760" y="2412162"/>
            <a:ext cx="24126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interceptos aleatorios por ítem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0A88B38-2D86-9871-0B81-26DB267EE379}"/>
              </a:ext>
            </a:extLst>
          </p:cNvPr>
          <p:cNvCxnSpPr>
            <a:cxnSpLocks/>
          </p:cNvCxnSpPr>
          <p:nvPr/>
        </p:nvCxnSpPr>
        <p:spPr>
          <a:xfrm flipV="1">
            <a:off x="2719975" y="2750716"/>
            <a:ext cx="0" cy="71738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A close up of words&#10;&#10;Description automatically generated">
            <a:extLst>
              <a:ext uri="{FF2B5EF4-FFF2-40B4-BE49-F238E27FC236}">
                <a16:creationId xmlns:a16="http://schemas.microsoft.com/office/drawing/2014/main" id="{7AEDC537-E04A-FEDB-244C-A10C6B255A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8595" y="1653873"/>
            <a:ext cx="3317219" cy="100717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F23B6E0-657B-610C-1D34-CF63649EF76B}"/>
              </a:ext>
            </a:extLst>
          </p:cNvPr>
          <p:cNvSpPr txBox="1"/>
          <p:nvPr/>
        </p:nvSpPr>
        <p:spPr>
          <a:xfrm>
            <a:off x="7758108" y="4343604"/>
            <a:ext cx="141897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subj1 sofá</a:t>
            </a:r>
          </a:p>
          <a:p>
            <a:r>
              <a:rPr lang="es-ES_tradnl" sz="16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subj2 sofá</a:t>
            </a:r>
          </a:p>
          <a:p>
            <a:r>
              <a:rPr lang="es-ES_tradnl" sz="16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subj3 sofá</a:t>
            </a:r>
          </a:p>
          <a:p>
            <a:r>
              <a:rPr lang="es-ES_tradnl" sz="16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subj4 sofá</a:t>
            </a:r>
          </a:p>
          <a:p>
            <a:r>
              <a:rPr lang="es-ES_tradnl" sz="16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subj5 sofá</a:t>
            </a:r>
          </a:p>
          <a:p>
            <a:endParaRPr lang="en-US" sz="1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EC9DFB-9135-595F-ABA4-E7115CB5E07E}"/>
              </a:ext>
            </a:extLst>
          </p:cNvPr>
          <p:cNvSpPr txBox="1"/>
          <p:nvPr/>
        </p:nvSpPr>
        <p:spPr>
          <a:xfrm>
            <a:off x="7758108" y="2790261"/>
            <a:ext cx="40058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latin typeface="Baskerville" panose="02020502070401020303" pitchFamily="18" charset="0"/>
                <a:ea typeface="Baskerville" panose="02020502070401020303" pitchFamily="18" charset="0"/>
              </a:rPr>
              <a:t>Las palabras no son estímulos idénticos (como lo son </a:t>
            </a:r>
          </a:p>
          <a:p>
            <a:r>
              <a:rPr lang="es-ES_tradnl" sz="1400" dirty="0">
                <a:latin typeface="Baskerville" panose="02020502070401020303" pitchFamily="18" charset="0"/>
                <a:ea typeface="Baskerville" panose="02020502070401020303" pitchFamily="18" charset="0"/>
              </a:rPr>
              <a:t>las flechas en una tarea de flancos, por ejemplo) </a:t>
            </a:r>
          </a:p>
          <a:p>
            <a:r>
              <a:rPr lang="es-ES_tradnl" sz="1400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tienen su propia variabilidad</a:t>
            </a:r>
            <a:r>
              <a:rPr lang="es-ES_tradnl" sz="1400" dirty="0">
                <a:latin typeface="Baskerville" panose="02020502070401020303" pitchFamily="18" charset="0"/>
                <a:ea typeface="Baskerville" panose="02020502070401020303" pitchFamily="18" charset="0"/>
              </a:rPr>
              <a:t>…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6EDF55-24C5-5472-0077-E72EF89EE083}"/>
              </a:ext>
            </a:extLst>
          </p:cNvPr>
          <p:cNvSpPr txBox="1"/>
          <p:nvPr/>
        </p:nvSpPr>
        <p:spPr>
          <a:xfrm>
            <a:off x="7740541" y="3528925"/>
            <a:ext cx="3991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400" dirty="0">
                <a:latin typeface="Baskerville" panose="02020502070401020303" pitchFamily="18" charset="0"/>
                <a:ea typeface="Baskerville" panose="02020502070401020303" pitchFamily="18" charset="0"/>
              </a:rPr>
              <a:t>Además, diferentes sujetos responden al mismo estímulo, </a:t>
            </a:r>
            <a:r>
              <a:rPr lang="es-ES_tradnl" sz="1400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no se trata de datos independientes</a:t>
            </a:r>
            <a:r>
              <a:rPr lang="es-ES_tradnl" sz="1400" dirty="0">
                <a:latin typeface="Baskerville" panose="02020502070401020303" pitchFamily="18" charset="0"/>
                <a:ea typeface="Baskerville" panose="02020502070401020303" pitchFamily="18" charset="0"/>
              </a:rPr>
              <a:t>:</a:t>
            </a:r>
          </a:p>
        </p:txBody>
      </p:sp>
      <p:pic>
        <p:nvPicPr>
          <p:cNvPr id="52" name="Picture 51" descr="A graph with a green line&#10;&#10;Description automatically generated">
            <a:extLst>
              <a:ext uri="{FF2B5EF4-FFF2-40B4-BE49-F238E27FC236}">
                <a16:creationId xmlns:a16="http://schemas.microsoft.com/office/drawing/2014/main" id="{3949AE6D-F6F7-96C1-2582-C99365C5BF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9925" y="3009983"/>
            <a:ext cx="564622" cy="338554"/>
          </a:xfrm>
          <a:prstGeom prst="rect">
            <a:avLst/>
          </a:prstGeom>
        </p:spPr>
      </p:pic>
      <p:pic>
        <p:nvPicPr>
          <p:cNvPr id="53" name="Picture 52" descr="A graph with a red curve and a line&#10;&#10;Description automatically generated">
            <a:extLst>
              <a:ext uri="{FF2B5EF4-FFF2-40B4-BE49-F238E27FC236}">
                <a16:creationId xmlns:a16="http://schemas.microsoft.com/office/drawing/2014/main" id="{D16E8E7B-071A-DE08-1E50-6DD04C64E3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46308" y="4539162"/>
            <a:ext cx="952184" cy="338554"/>
          </a:xfrm>
          <a:prstGeom prst="rect">
            <a:avLst/>
          </a:prstGeom>
        </p:spPr>
      </p:pic>
      <p:pic>
        <p:nvPicPr>
          <p:cNvPr id="54" name="Picture 53" descr="A graph with a red line&#10;&#10;Description automatically generated">
            <a:extLst>
              <a:ext uri="{FF2B5EF4-FFF2-40B4-BE49-F238E27FC236}">
                <a16:creationId xmlns:a16="http://schemas.microsoft.com/office/drawing/2014/main" id="{8F00FCB7-25E3-AA50-60AF-A9CE9237E53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0">
            <a:off x="1300974" y="3753323"/>
            <a:ext cx="295664" cy="588149"/>
          </a:xfrm>
          <a:prstGeom prst="rect">
            <a:avLst/>
          </a:prstGeom>
        </p:spPr>
      </p:pic>
      <p:pic>
        <p:nvPicPr>
          <p:cNvPr id="56" name="Picture 55" descr="A red circle with green and purple dots&#10;&#10;Description automatically generated">
            <a:extLst>
              <a:ext uri="{FF2B5EF4-FFF2-40B4-BE49-F238E27FC236}">
                <a16:creationId xmlns:a16="http://schemas.microsoft.com/office/drawing/2014/main" id="{58DAF1CC-5F26-EF9C-CDE6-9AA4E1F3F63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0208" y="4450663"/>
            <a:ext cx="700188" cy="46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5805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2372AEB8-EE03-0CFF-8FF6-9474654F5DFC}"/>
              </a:ext>
            </a:extLst>
          </p:cNvPr>
          <p:cNvSpPr txBox="1"/>
          <p:nvPr/>
        </p:nvSpPr>
        <p:spPr>
          <a:xfrm>
            <a:off x="785238" y="3846396"/>
            <a:ext cx="11114510" cy="369332"/>
          </a:xfrm>
          <a:prstGeom prst="rect">
            <a:avLst/>
          </a:prstGeom>
          <a:solidFill>
            <a:srgbClr val="FDECEA"/>
          </a:solidFill>
        </p:spPr>
        <p:txBody>
          <a:bodyPr wrap="square" rtlCol="0">
            <a:spAutoFit/>
          </a:bodyPr>
          <a:lstStyle/>
          <a:p>
            <a:endParaRPr lang="en-AU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E395C1-2044-7602-CB3B-42069607BB35}"/>
              </a:ext>
            </a:extLst>
          </p:cNvPr>
          <p:cNvSpPr txBox="1"/>
          <p:nvPr/>
        </p:nvSpPr>
        <p:spPr>
          <a:xfrm>
            <a:off x="740829" y="1628382"/>
            <a:ext cx="9670267" cy="3376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2.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Podemos asumir que el tiempo basal es idéntico para todos los participantes? (interceptos) 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3. Los participantes responden a múltiples ensayos.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4. ¿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Podemos asumir que todos los sujetos van a reaccionar de forma igual a nuestra manipulación? (las pendientes) 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5. Y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si los participantes que son más lentos, muestran efectos más pequeños? (</a:t>
            </a:r>
            <a:r>
              <a:rPr lang="es-ES_tradnl" sz="1600" u="sng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la correlación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entre los interceptos y las pendientes)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6.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Existe variabilidad para los ítems (palabras), igual que entre los participantes? (interceptos para las palabras)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7 </a:t>
            </a:r>
            <a:r>
              <a:rPr lang="es-ES_tradnl" sz="1600" dirty="0">
                <a:solidFill>
                  <a:srgbClr val="C00000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¿Los tiempos de reacción, se distribuyen de forma normal?</a:t>
            </a:r>
          </a:p>
          <a:p>
            <a:pPr>
              <a:lnSpc>
                <a:spcPct val="150000"/>
              </a:lnSpc>
            </a:pPr>
            <a:endParaRPr lang="es-ES_tradnl" sz="1600" dirty="0">
              <a:solidFill>
                <a:schemeClr val="bg2">
                  <a:lumMod val="90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8.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¿C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uántos datos (participantes/ensayos) debo recoger para detectar los efectos repetidamente (80/95%)?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FE1CF-DFD2-13B3-040A-1C57EE23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22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D73CE48-D701-8CFC-6AFD-741BDD1BA2E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22</a:t>
            </a:fld>
            <a:endParaRPr lang="es-E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12097B6-DCE4-1744-5F95-E99BF029BD1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22</a:t>
            </a:fld>
            <a:endParaRPr lang="es-ES"/>
          </a:p>
        </p:txBody>
      </p:sp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7E7F66A3-AE44-FEF1-4F2E-6A7C2AF65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22</a:t>
            </a:fld>
            <a:endParaRPr lang="es-ES" dirty="0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94807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 </a:t>
            </a:r>
            <a:r>
              <a:rPr lang="es-ES_tradn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· </a:t>
            </a:r>
            <a:r>
              <a:rPr lang="es-ES_tradnl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Acercándonos a la realidad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E7E884-FE7C-DEAF-46AD-04D9AC96094B}"/>
              </a:ext>
            </a:extLst>
          </p:cNvPr>
          <p:cNvSpPr txBox="1"/>
          <p:nvPr/>
        </p:nvSpPr>
        <p:spPr>
          <a:xfrm>
            <a:off x="785238" y="1151545"/>
            <a:ext cx="4386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latin typeface="Baskerville" panose="02020502070401020303" pitchFamily="18" charset="0"/>
                <a:ea typeface="Baskerville" panose="02020502070401020303" pitchFamily="18" charset="0"/>
              </a:rPr>
              <a:t>Nuestra realidad es más compleja…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C8389E-4F13-87D9-2F52-1E5198445B9C}"/>
              </a:ext>
            </a:extLst>
          </p:cNvPr>
          <p:cNvSpPr txBox="1"/>
          <p:nvPr/>
        </p:nvSpPr>
        <p:spPr>
          <a:xfrm>
            <a:off x="10472560" y="1759027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2.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91145C-6951-A05F-B4B8-50C40E8F11AB}"/>
              </a:ext>
            </a:extLst>
          </p:cNvPr>
          <p:cNvSpPr txBox="1"/>
          <p:nvPr/>
        </p:nvSpPr>
        <p:spPr>
          <a:xfrm>
            <a:off x="10472560" y="2472122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4.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62B647-DA94-87EF-1AAE-8E1DD198DE0E}"/>
              </a:ext>
            </a:extLst>
          </p:cNvPr>
          <p:cNvSpPr txBox="1"/>
          <p:nvPr/>
        </p:nvSpPr>
        <p:spPr>
          <a:xfrm>
            <a:off x="10472560" y="2892543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5.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714706-111A-73E6-5A6E-697F55BD38E9}"/>
              </a:ext>
            </a:extLst>
          </p:cNvPr>
          <p:cNvSpPr txBox="1"/>
          <p:nvPr/>
        </p:nvSpPr>
        <p:spPr>
          <a:xfrm>
            <a:off x="10472560" y="3542689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6.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0DDAED-724C-B922-29ED-2FEB07F837E1}"/>
              </a:ext>
            </a:extLst>
          </p:cNvPr>
          <p:cNvSpPr txBox="1"/>
          <p:nvPr/>
        </p:nvSpPr>
        <p:spPr>
          <a:xfrm>
            <a:off x="10459853" y="3898597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7.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4A70C2-D7C1-A93C-2464-D67A1ED7D792}"/>
              </a:ext>
            </a:extLst>
          </p:cNvPr>
          <p:cNvSpPr txBox="1"/>
          <p:nvPr/>
        </p:nvSpPr>
        <p:spPr>
          <a:xfrm>
            <a:off x="10472560" y="2112144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3.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BFC932-1697-B62C-C34D-4DD8C470508C}"/>
              </a:ext>
            </a:extLst>
          </p:cNvPr>
          <p:cNvSpPr txBox="1"/>
          <p:nvPr/>
        </p:nvSpPr>
        <p:spPr>
          <a:xfrm>
            <a:off x="10510322" y="4645354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8.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7F6776-0FD0-FFED-ABC0-0B5C5467FD18}"/>
              </a:ext>
            </a:extLst>
          </p:cNvPr>
          <p:cNvSpPr txBox="1"/>
          <p:nvPr/>
        </p:nvSpPr>
        <p:spPr>
          <a:xfrm>
            <a:off x="585513" y="5473375"/>
            <a:ext cx="25891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MODELO FINAL CON 7 PARÁMETROS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A317608-9DFA-5221-ED2A-817FDEC7348F}"/>
                  </a:ext>
                </a:extLst>
              </p:cNvPr>
              <p:cNvSpPr txBox="1"/>
              <p:nvPr/>
            </p:nvSpPr>
            <p:spPr>
              <a:xfrm>
                <a:off x="585513" y="5698935"/>
                <a:ext cx="5612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cs-CZ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cs-CZ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cs-CZ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b="0" i="1" smtClean="0">
                                  <a:latin typeface="Cambria Math" panose="02040503050406030204" pitchFamily="18" charset="0"/>
                                </a:rPr>
                                <m:t>𝑟𝑡</m:t>
                              </m:r>
                              <m:r>
                                <a:rPr lang="cs-CZ" b="0" i="1" baseline="-25000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e>
                          </m:d>
                        </m:e>
                      </m:func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𝑢𝑜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𝑤𝑜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𝑐𝑜𝑛𝑑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𝑐𝑜𝑑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A317608-9DFA-5221-ED2A-817FDEC73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13" y="5698935"/>
                <a:ext cx="5612883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59730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>
            <a:extLst>
              <a:ext uri="{FF2B5EF4-FFF2-40B4-BE49-F238E27FC236}">
                <a16:creationId xmlns:a16="http://schemas.microsoft.com/office/drawing/2014/main" id="{3C21207D-AC09-7FD5-38EE-1B3BADECE7C8}"/>
              </a:ext>
            </a:extLst>
          </p:cNvPr>
          <p:cNvSpPr/>
          <p:nvPr/>
        </p:nvSpPr>
        <p:spPr>
          <a:xfrm>
            <a:off x="271836" y="3426917"/>
            <a:ext cx="395127" cy="407896"/>
          </a:xfrm>
          <a:prstGeom prst="rect">
            <a:avLst/>
          </a:prstGeom>
          <a:solidFill>
            <a:srgbClr val="FDECEA">
              <a:alpha val="712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B17C639-B67A-6C58-4D18-9A1D86D99F14}"/>
              </a:ext>
            </a:extLst>
          </p:cNvPr>
          <p:cNvSpPr/>
          <p:nvPr/>
        </p:nvSpPr>
        <p:spPr>
          <a:xfrm>
            <a:off x="3880687" y="2764303"/>
            <a:ext cx="678229" cy="44052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67897B3-87FC-84E6-ACEC-D674F93A905D}"/>
              </a:ext>
            </a:extLst>
          </p:cNvPr>
          <p:cNvSpPr/>
          <p:nvPr/>
        </p:nvSpPr>
        <p:spPr>
          <a:xfrm>
            <a:off x="2152569" y="2033463"/>
            <a:ext cx="1104062" cy="407896"/>
          </a:xfrm>
          <a:prstGeom prst="rect">
            <a:avLst/>
          </a:prstGeom>
          <a:solidFill>
            <a:srgbClr val="FDECEA">
              <a:alpha val="712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FE1CF-DFD2-13B3-040A-1C57EE23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23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D73CE48-D701-8CFC-6AFD-741BDD1BA2E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23</a:t>
            </a:fld>
            <a:endParaRPr lang="es-E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12097B6-DCE4-1744-5F95-E99BF029BD1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23</a:t>
            </a:fld>
            <a:endParaRPr lang="es-ES"/>
          </a:p>
        </p:txBody>
      </p:sp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7E7F66A3-AE44-FEF1-4F2E-6A7C2AF65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solidFill>
                  <a:schemeClr val="tx1"/>
                </a:solidFill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23</a:t>
            </a:fld>
            <a:endParaRPr lang="es-ES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9519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 </a:t>
            </a:r>
            <a:r>
              <a:rPr lang="es-ES_tradn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· </a:t>
            </a:r>
            <a:r>
              <a:rPr lang="es-ES_tradnl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acercándonos a la realidad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9E0BC9-E577-30AA-B281-15260501EA32}"/>
                  </a:ext>
                </a:extLst>
              </p:cNvPr>
              <p:cNvSpPr txBox="1"/>
              <p:nvPr/>
            </p:nvSpPr>
            <p:spPr>
              <a:xfrm>
                <a:off x="270712" y="3431083"/>
                <a:ext cx="5696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s-CZ" dirty="0">
                    <a:latin typeface="Baskerville" panose="02020502070401020303" pitchFamily="18" charset="0"/>
                    <a:ea typeface="Baskerville" panose="02020502070401020303" pitchFamily="18" charset="0"/>
                  </a:rPr>
                  <a:t>l</a:t>
                </a:r>
                <a:r>
                  <a:rPr lang="cs-CZ" b="0" dirty="0">
                    <a:solidFill>
                      <a:schemeClr val="tx1"/>
                    </a:solidFill>
                    <a:latin typeface="Baskerville" panose="02020502070401020303" pitchFamily="18" charset="0"/>
                    <a:ea typeface="Baskerville" panose="02020502070401020303" pitchFamily="18" charset="0"/>
                  </a:rPr>
                  <a:t>og</a:t>
                </a:r>
                <a:r>
                  <a:rPr lang="cs-CZ" b="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cs-CZ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𝑟𝑡</m:t>
                    </m:r>
                    <m:r>
                      <a:rPr lang="cs-CZ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𝑖𝑗</m:t>
                    </m:r>
                    <m:r>
                      <a:rPr lang="cs-CZ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 </m:t>
                    </m:r>
                    <m:r>
                      <a:rPr lang="cs-CZ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cs-CZ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cs-CZ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cs-CZ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𝑢𝑜</m:t>
                    </m:r>
                    <m:r>
                      <a:rPr lang="cs-CZ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cs-CZ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+</m:t>
                    </m:r>
                    <m:r>
                      <a:rPr lang="cs-CZ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cs-CZ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cs-CZ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cs-CZ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cs-CZ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cs-CZ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cs-CZ" b="0" i="1" baseline="-25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cs-CZ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</m:t>
                        </m:r>
                        <m:r>
                          <a:rPr lang="cs-CZ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𝑐𝑜𝑛𝑑</m:t>
                        </m:r>
                        <m:r>
                          <a:rPr lang="cs-CZ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cs-CZ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𝑐𝑜𝑑</m:t>
                        </m:r>
                        <m:r>
                          <a:rPr lang="cs-CZ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cs-CZ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cs-CZ" b="0" i="1" baseline="-25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cs-CZ" b="0" i="1" baseline="-25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cs-CZ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 </m:t>
                    </m:r>
                    <m:r>
                      <a:rPr lang="cs-CZ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9E0BC9-E577-30AA-B281-15260501E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12" y="3431083"/>
                <a:ext cx="5696816" cy="369332"/>
              </a:xfrm>
              <a:prstGeom prst="rect">
                <a:avLst/>
              </a:prstGeom>
              <a:blipFill>
                <a:blip r:embed="rId6"/>
                <a:stretch>
                  <a:fillRect l="-891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237B2B-28D2-D9AA-3DA1-C8EC80385D27}"/>
                  </a:ext>
                </a:extLst>
              </p:cNvPr>
              <p:cNvSpPr txBox="1"/>
              <p:nvPr/>
            </p:nvSpPr>
            <p:spPr>
              <a:xfrm>
                <a:off x="3075095" y="2853941"/>
                <a:ext cx="28745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1400" dirty="0">
                    <a:solidFill>
                      <a:schemeClr val="tx1"/>
                    </a:solidFill>
                    <a:latin typeface="Baskerville" panose="02020502070401020303" pitchFamily="18" charset="0"/>
                    <a:ea typeface="Baskerville" panose="02020502070401020303" pitchFamily="18" charset="0"/>
                  </a:rPr>
                  <a:t>pendiente (0.10 log(ms) </a:t>
                </a:r>
                <a14:m>
                  <m:oMath xmlns:m="http://schemas.openxmlformats.org/officeDocument/2006/math">
                    <m:r>
                      <a:rPr lang="es-ES_tradnl" sz="1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s-ES_tradnl" sz="1400" dirty="0">
                    <a:solidFill>
                      <a:schemeClr val="tx1"/>
                    </a:solidFill>
                    <a:latin typeface="Baskerville" panose="02020502070401020303" pitchFamily="18" charset="0"/>
                    <a:ea typeface="Baskerville" panose="02020502070401020303" pitchFamily="18" charset="0"/>
                  </a:rPr>
                  <a:t> (-0.5/+0.5)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237B2B-28D2-D9AA-3DA1-C8EC80385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095" y="2853941"/>
                <a:ext cx="2874505" cy="307777"/>
              </a:xfrm>
              <a:prstGeom prst="rect">
                <a:avLst/>
              </a:prstGeom>
              <a:blipFill>
                <a:blip r:embed="rId7"/>
                <a:stretch>
                  <a:fillRect l="-439" t="-3846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7BEA395-8C17-219B-0191-7107DCB265F2}"/>
              </a:ext>
            </a:extLst>
          </p:cNvPr>
          <p:cNvSpPr txBox="1"/>
          <p:nvPr/>
        </p:nvSpPr>
        <p:spPr>
          <a:xfrm>
            <a:off x="1345597" y="2088369"/>
            <a:ext cx="1911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latin typeface="Baskerville" panose="02020502070401020303" pitchFamily="18" charset="0"/>
                <a:ea typeface="Baskerville" panose="02020502070401020303" pitchFamily="18" charset="0"/>
              </a:rPr>
              <a:t>intercepto (6.59 log(ms))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5A3D67-F642-448F-4365-D2A1794A9C6C}"/>
              </a:ext>
            </a:extLst>
          </p:cNvPr>
          <p:cNvSpPr txBox="1"/>
          <p:nvPr/>
        </p:nvSpPr>
        <p:spPr>
          <a:xfrm>
            <a:off x="5514145" y="3064770"/>
            <a:ext cx="6098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error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D7CAEEC-FC54-1C68-E289-AF66419AE240}"/>
              </a:ext>
            </a:extLst>
          </p:cNvPr>
          <p:cNvCxnSpPr/>
          <p:nvPr/>
        </p:nvCxnSpPr>
        <p:spPr>
          <a:xfrm flipV="1">
            <a:off x="1577940" y="2396146"/>
            <a:ext cx="0" cy="100717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29E5894-CE7B-4948-A39E-99E459755030}"/>
              </a:ext>
            </a:extLst>
          </p:cNvPr>
          <p:cNvCxnSpPr>
            <a:cxnSpLocks/>
          </p:cNvCxnSpPr>
          <p:nvPr/>
        </p:nvCxnSpPr>
        <p:spPr>
          <a:xfrm flipV="1">
            <a:off x="5719647" y="3382056"/>
            <a:ext cx="0" cy="14082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BE19DE5-E47A-3476-74EC-8981E06B5360}"/>
              </a:ext>
            </a:extLst>
          </p:cNvPr>
          <p:cNvCxnSpPr>
            <a:cxnSpLocks/>
          </p:cNvCxnSpPr>
          <p:nvPr/>
        </p:nvCxnSpPr>
        <p:spPr>
          <a:xfrm flipV="1">
            <a:off x="3306059" y="3179259"/>
            <a:ext cx="0" cy="18898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2EC19F6-FD24-A58D-C5EB-A735BB549471}"/>
              </a:ext>
            </a:extLst>
          </p:cNvPr>
          <p:cNvCxnSpPr>
            <a:cxnSpLocks/>
          </p:cNvCxnSpPr>
          <p:nvPr/>
        </p:nvCxnSpPr>
        <p:spPr>
          <a:xfrm>
            <a:off x="2126387" y="3772656"/>
            <a:ext cx="0" cy="20083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F442BD1-1336-5A9F-6099-B26FEBCC9BE7}"/>
              </a:ext>
            </a:extLst>
          </p:cNvPr>
          <p:cNvSpPr txBox="1"/>
          <p:nvPr/>
        </p:nvSpPr>
        <p:spPr>
          <a:xfrm>
            <a:off x="1637770" y="3889481"/>
            <a:ext cx="28433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interceptos aleatorios por sujeto 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7E66197-BE21-8933-F862-63D00DA501CE}"/>
              </a:ext>
            </a:extLst>
          </p:cNvPr>
          <p:cNvCxnSpPr>
            <a:cxnSpLocks/>
          </p:cNvCxnSpPr>
          <p:nvPr/>
        </p:nvCxnSpPr>
        <p:spPr>
          <a:xfrm>
            <a:off x="4962516" y="3772656"/>
            <a:ext cx="7213" cy="40167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E67F88F-97EF-B745-6685-AB735CF31CB2}"/>
              </a:ext>
            </a:extLst>
          </p:cNvPr>
          <p:cNvSpPr txBox="1"/>
          <p:nvPr/>
        </p:nvSpPr>
        <p:spPr>
          <a:xfrm>
            <a:off x="3451250" y="4278874"/>
            <a:ext cx="19588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pendientes aleatorios </a:t>
            </a:r>
          </a:p>
          <a:p>
            <a:pPr algn="ctr"/>
            <a:r>
              <a:rPr lang="es-ES_tradnl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por sujeto </a:t>
            </a:r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F18B37DD-1A08-03DD-DA0B-E6E1406B287E}"/>
              </a:ext>
            </a:extLst>
          </p:cNvPr>
          <p:cNvSpPr/>
          <p:nvPr/>
        </p:nvSpPr>
        <p:spPr>
          <a:xfrm>
            <a:off x="5315965" y="3889481"/>
            <a:ext cx="186635" cy="974168"/>
          </a:xfrm>
          <a:prstGeom prst="rightBrac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A23D52D-34CE-D686-7AE0-0D561CD93A90}"/>
              </a:ext>
            </a:extLst>
          </p:cNvPr>
          <p:cNvSpPr txBox="1"/>
          <p:nvPr/>
        </p:nvSpPr>
        <p:spPr>
          <a:xfrm>
            <a:off x="5502600" y="4174327"/>
            <a:ext cx="1418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correlacionado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A56E4B-A7B6-B666-6D95-E4B215CBF35C}"/>
              </a:ext>
            </a:extLst>
          </p:cNvPr>
          <p:cNvSpPr txBox="1"/>
          <p:nvPr/>
        </p:nvSpPr>
        <p:spPr>
          <a:xfrm>
            <a:off x="1828760" y="2412162"/>
            <a:ext cx="27295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interceptos aleatorios por ítem 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1365DE6-78C2-928B-3B06-4F4E1251B0F8}"/>
              </a:ext>
            </a:extLst>
          </p:cNvPr>
          <p:cNvCxnSpPr>
            <a:cxnSpLocks/>
          </p:cNvCxnSpPr>
          <p:nvPr/>
        </p:nvCxnSpPr>
        <p:spPr>
          <a:xfrm flipV="1">
            <a:off x="2719975" y="2750716"/>
            <a:ext cx="0" cy="71738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F891D29-FC5A-31B0-33B9-5F0A7B1FFC3C}"/>
              </a:ext>
            </a:extLst>
          </p:cNvPr>
          <p:cNvSpPr txBox="1"/>
          <p:nvPr/>
        </p:nvSpPr>
        <p:spPr>
          <a:xfrm>
            <a:off x="735767" y="1158258"/>
            <a:ext cx="6799216" cy="463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800" i="1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7 </a:t>
            </a:r>
            <a:r>
              <a:rPr lang="es-ES_tradnl" sz="1800" i="1" dirty="0">
                <a:solidFill>
                  <a:srgbClr val="C00000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¿Los tiempos de reacción, se distribuyen de forma normal?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88A52C6-EBB7-0B41-B972-00ED2AE44FFF}"/>
              </a:ext>
            </a:extLst>
          </p:cNvPr>
          <p:cNvSpPr txBox="1"/>
          <p:nvPr/>
        </p:nvSpPr>
        <p:spPr>
          <a:xfrm>
            <a:off x="10135899" y="1318164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7. </a:t>
            </a:r>
          </a:p>
        </p:txBody>
      </p:sp>
      <p:sp>
        <p:nvSpPr>
          <p:cNvPr id="75" name="Rectángulo redondeado 17">
            <a:hlinkClick r:id="rId8"/>
            <a:extLst>
              <a:ext uri="{FF2B5EF4-FFF2-40B4-BE49-F238E27FC236}">
                <a16:creationId xmlns:a16="http://schemas.microsoft.com/office/drawing/2014/main" id="{60985C33-30F0-5418-FB57-4ECFD147891C}"/>
              </a:ext>
            </a:extLst>
          </p:cNvPr>
          <p:cNvSpPr/>
          <p:nvPr/>
        </p:nvSpPr>
        <p:spPr>
          <a:xfrm>
            <a:off x="7265280" y="5311137"/>
            <a:ext cx="4707132" cy="423746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00" i="1" dirty="0">
                <a:latin typeface="Baskerville" panose="02020502070401020303" pitchFamily="18" charset="0"/>
                <a:ea typeface="Baskerville" panose="02020502070401020303" pitchFamily="18" charset="0"/>
              </a:rPr>
              <a:t>        </a:t>
            </a:r>
            <a:r>
              <a:rPr lang="es-ES" sz="1300" i="1" dirty="0" err="1">
                <a:latin typeface="Baskerville" panose="02020502070401020303" pitchFamily="18" charset="0"/>
                <a:ea typeface="Baskerville" panose="02020502070401020303" pitchFamily="18" charset="0"/>
              </a:rPr>
              <a:t>Shiny</a:t>
            </a:r>
            <a:r>
              <a:rPr lang="es-ES" sz="1300" i="1" dirty="0">
                <a:latin typeface="Baskerville" panose="02020502070401020303" pitchFamily="18" charset="0"/>
                <a:ea typeface="Baskerville" panose="02020502070401020303" pitchFamily="18" charset="0"/>
              </a:rPr>
              <a:t> app → </a:t>
            </a:r>
            <a:r>
              <a:rPr lang="en-US" sz="1400" dirty="0">
                <a:latin typeface="Baskerville" panose="02020502070401020303" pitchFamily="18" charset="0"/>
                <a:ea typeface="Baskerville" panose="02020502070401020303" pitchFamily="18" charset="0"/>
              </a:rPr>
              <a:t>https://</a:t>
            </a:r>
            <a:r>
              <a:rPr lang="en-US" sz="14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lindeloev.shinyapps.io</a:t>
            </a:r>
            <a:r>
              <a:rPr lang="en-US" sz="1400" dirty="0">
                <a:latin typeface="Baskerville" panose="02020502070401020303" pitchFamily="18" charset="0"/>
                <a:ea typeface="Baskerville" panose="02020502070401020303" pitchFamily="18" charset="0"/>
              </a:rPr>
              <a:t>/shiny-rt/</a:t>
            </a:r>
          </a:p>
        </p:txBody>
      </p:sp>
      <p:pic>
        <p:nvPicPr>
          <p:cNvPr id="78" name="Picture 77" descr="A graph of a graph showing a number of times&#10;&#10;Description automatically generated with medium confidence">
            <a:extLst>
              <a:ext uri="{FF2B5EF4-FFF2-40B4-BE49-F238E27FC236}">
                <a16:creationId xmlns:a16="http://schemas.microsoft.com/office/drawing/2014/main" id="{D2CA6EDC-CC66-5806-5AFB-F121ED3766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2939" y="1328974"/>
            <a:ext cx="2854463" cy="1816874"/>
          </a:xfrm>
          <a:prstGeom prst="rect">
            <a:avLst/>
          </a:prstGeom>
        </p:spPr>
      </p:pic>
      <p:pic>
        <p:nvPicPr>
          <p:cNvPr id="80" name="Picture 79" descr="A graph of a distribution of rts&#10;&#10;Description automatically generated">
            <a:extLst>
              <a:ext uri="{FF2B5EF4-FFF2-40B4-BE49-F238E27FC236}">
                <a16:creationId xmlns:a16="http://schemas.microsoft.com/office/drawing/2014/main" id="{275C6B2D-723A-CFCD-63F3-B4AB2C366BF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3367" y="3028283"/>
            <a:ext cx="2944519" cy="1890416"/>
          </a:xfrm>
          <a:prstGeom prst="rect">
            <a:avLst/>
          </a:prstGeom>
        </p:spPr>
      </p:pic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CAACC48-1D01-E6E6-8D2C-545A1286F92B}"/>
              </a:ext>
            </a:extLst>
          </p:cNvPr>
          <p:cNvCxnSpPr/>
          <p:nvPr/>
        </p:nvCxnSpPr>
        <p:spPr>
          <a:xfrm>
            <a:off x="7594169" y="3403324"/>
            <a:ext cx="0" cy="5701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FD55ECF-3085-71A0-621C-415AE78BD1C2}"/>
              </a:ext>
            </a:extLst>
          </p:cNvPr>
          <p:cNvCxnSpPr/>
          <p:nvPr/>
        </p:nvCxnSpPr>
        <p:spPr>
          <a:xfrm>
            <a:off x="7594169" y="3973491"/>
            <a:ext cx="6974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9" name="Picture 88" descr="A green circle with a white check mark&#10;&#10;Description automatically generated">
            <a:extLst>
              <a:ext uri="{FF2B5EF4-FFF2-40B4-BE49-F238E27FC236}">
                <a16:creationId xmlns:a16="http://schemas.microsoft.com/office/drawing/2014/main" id="{946B150C-9B4C-B2CF-9987-FD9E645F626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73088" y="3500310"/>
            <a:ext cx="511808" cy="473181"/>
          </a:xfrm>
          <a:prstGeom prst="rect">
            <a:avLst/>
          </a:prstGeom>
        </p:spPr>
      </p:pic>
      <p:pic>
        <p:nvPicPr>
          <p:cNvPr id="91" name="Picture 90" descr="A white line in a brown circle&#10;&#10;Description automatically generated">
            <a:extLst>
              <a:ext uri="{FF2B5EF4-FFF2-40B4-BE49-F238E27FC236}">
                <a16:creationId xmlns:a16="http://schemas.microsoft.com/office/drawing/2014/main" id="{8EBB0AB3-D4B7-8797-C3A8-32A81159491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77403" y="1743986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7696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8E9AB012-DF7E-3836-811B-5EF67BDB220C}"/>
              </a:ext>
            </a:extLst>
          </p:cNvPr>
          <p:cNvSpPr txBox="1"/>
          <p:nvPr/>
        </p:nvSpPr>
        <p:spPr>
          <a:xfrm>
            <a:off x="1313185" y="2069239"/>
            <a:ext cx="1992874" cy="369332"/>
          </a:xfrm>
          <a:prstGeom prst="rect">
            <a:avLst/>
          </a:prstGeom>
          <a:solidFill>
            <a:srgbClr val="FDECEA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F08C12D-0C29-1032-9531-D77D29696CED}"/>
              </a:ext>
            </a:extLst>
          </p:cNvPr>
          <p:cNvSpPr txBox="1"/>
          <p:nvPr/>
        </p:nvSpPr>
        <p:spPr>
          <a:xfrm>
            <a:off x="3138936" y="2749415"/>
            <a:ext cx="1757976" cy="369332"/>
          </a:xfrm>
          <a:prstGeom prst="rect">
            <a:avLst/>
          </a:prstGeom>
          <a:solidFill>
            <a:srgbClr val="FDECEA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     </a:t>
            </a:r>
          </a:p>
        </p:txBody>
      </p:sp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solidFill>
                  <a:schemeClr val="tx1"/>
                </a:solidFill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24</a:t>
            </a:fld>
            <a:endParaRPr lang="es-ES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9519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 </a:t>
            </a:r>
            <a:r>
              <a:rPr lang="es-ES_tradn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· </a:t>
            </a:r>
            <a:r>
              <a:rPr lang="es-ES_tradnl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acercándonos a la realidad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9E0BC9-E577-30AA-B281-15260501EA32}"/>
                  </a:ext>
                </a:extLst>
              </p:cNvPr>
              <p:cNvSpPr txBox="1"/>
              <p:nvPr/>
            </p:nvSpPr>
            <p:spPr>
              <a:xfrm>
                <a:off x="270712" y="3431083"/>
                <a:ext cx="5696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s-CZ" dirty="0">
                    <a:latin typeface="Baskerville" panose="02020502070401020303" pitchFamily="18" charset="0"/>
                    <a:ea typeface="Baskerville" panose="02020502070401020303" pitchFamily="18" charset="0"/>
                  </a:rPr>
                  <a:t>l</a:t>
                </a:r>
                <a:r>
                  <a:rPr lang="cs-CZ" b="0" dirty="0">
                    <a:solidFill>
                      <a:schemeClr val="tx1"/>
                    </a:solidFill>
                    <a:latin typeface="Baskerville" panose="02020502070401020303" pitchFamily="18" charset="0"/>
                    <a:ea typeface="Baskerville" panose="02020502070401020303" pitchFamily="18" charset="0"/>
                  </a:rPr>
                  <a:t>og</a:t>
                </a:r>
                <a:r>
                  <a:rPr lang="cs-CZ" b="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cs-CZ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𝑟𝑡</m:t>
                    </m:r>
                    <m:r>
                      <a:rPr lang="cs-CZ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𝑖𝑗</m:t>
                    </m:r>
                    <m:r>
                      <a:rPr lang="cs-CZ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 </m:t>
                    </m:r>
                    <m:r>
                      <a:rPr lang="cs-CZ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cs-CZ" i="1" baseline="-2500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cs-CZ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cs-CZ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𝑢𝑜</m:t>
                    </m:r>
                    <m:r>
                      <a:rPr lang="cs-CZ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cs-CZ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 </m:t>
                    </m:r>
                    <m:r>
                      <a:rPr lang="cs-CZ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cs-CZ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cs-CZ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cs-CZ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cs-CZ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cs-CZ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cs-CZ" b="0" i="1" baseline="-2500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cs-CZ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</m:t>
                        </m:r>
                        <m:r>
                          <a:rPr lang="cs-CZ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𝑐𝑜𝑛𝑑</m:t>
                        </m:r>
                        <m:r>
                          <a:rPr lang="cs-CZ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cs-CZ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𝑐𝑜𝑑</m:t>
                        </m:r>
                        <m:r>
                          <a:rPr lang="cs-CZ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cs-CZ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cs-CZ" b="0" i="1" baseline="-25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cs-CZ" b="0" i="1" baseline="-25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cs-CZ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 </m:t>
                    </m:r>
                    <m:r>
                      <a:rPr lang="cs-CZ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9E0BC9-E577-30AA-B281-15260501E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12" y="3431083"/>
                <a:ext cx="5696816" cy="369332"/>
              </a:xfrm>
              <a:prstGeom prst="rect">
                <a:avLst/>
              </a:prstGeom>
              <a:blipFill>
                <a:blip r:embed="rId3"/>
                <a:stretch>
                  <a:fillRect l="-891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237B2B-28D2-D9AA-3DA1-C8EC80385D27}"/>
                  </a:ext>
                </a:extLst>
              </p:cNvPr>
              <p:cNvSpPr txBox="1"/>
              <p:nvPr/>
            </p:nvSpPr>
            <p:spPr>
              <a:xfrm>
                <a:off x="3088123" y="2784054"/>
                <a:ext cx="329874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_tradnl" sz="1400" dirty="0">
                    <a:solidFill>
                      <a:srgbClr val="C04E15"/>
                    </a:solidFill>
                    <a:latin typeface="Baskerville" panose="02020502070401020303" pitchFamily="18" charset="0"/>
                    <a:ea typeface="Baskerville" panose="02020502070401020303" pitchFamily="18" charset="0"/>
                  </a:rPr>
                  <a:t>pendiente (0.10 log(ms)) </a:t>
                </a:r>
                <a14:m>
                  <m:oMath xmlns:m="http://schemas.openxmlformats.org/officeDocument/2006/math">
                    <m:r>
                      <a:rPr lang="es-ES_tradnl" sz="1400" i="1" dirty="0" smtClean="0">
                        <a:solidFill>
                          <a:schemeClr val="bg2">
                            <a:lumMod val="9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s-ES_tradnl" sz="1400" dirty="0">
                    <a:solidFill>
                      <a:schemeClr val="bg2">
                        <a:lumMod val="90000"/>
                      </a:schemeClr>
                    </a:solidFill>
                    <a:latin typeface="Baskerville" panose="02020502070401020303" pitchFamily="18" charset="0"/>
                    <a:ea typeface="Baskerville" panose="02020502070401020303" pitchFamily="18" charset="0"/>
                  </a:rPr>
                  <a:t> (-0.5/+0.5)</a:t>
                </a:r>
                <a:endParaRPr lang="es-ES_tradnl" sz="1400" dirty="0">
                  <a:solidFill>
                    <a:srgbClr val="C04E15"/>
                  </a:solidFill>
                  <a:latin typeface="Baskerville" panose="02020502070401020303" pitchFamily="18" charset="0"/>
                  <a:ea typeface="Baskerville" panose="02020502070401020303" pitchFamily="18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237B2B-28D2-D9AA-3DA1-C8EC80385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123" y="2784054"/>
                <a:ext cx="3298747" cy="307777"/>
              </a:xfrm>
              <a:prstGeom prst="rect">
                <a:avLst/>
              </a:prstGeom>
              <a:blipFill>
                <a:blip r:embed="rId4"/>
                <a:stretch>
                  <a:fillRect l="-766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7BEA395-8C17-219B-0191-7107DCB265F2}"/>
              </a:ext>
            </a:extLst>
          </p:cNvPr>
          <p:cNvSpPr txBox="1"/>
          <p:nvPr/>
        </p:nvSpPr>
        <p:spPr>
          <a:xfrm>
            <a:off x="1345597" y="2088369"/>
            <a:ext cx="1911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rgbClr val="C04E15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intercepto (6.59 log(ms))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5A3D67-F642-448F-4365-D2A1794A9C6C}"/>
              </a:ext>
            </a:extLst>
          </p:cNvPr>
          <p:cNvSpPr txBox="1"/>
          <p:nvPr/>
        </p:nvSpPr>
        <p:spPr>
          <a:xfrm>
            <a:off x="5514145" y="3009982"/>
            <a:ext cx="548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error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D7CAEEC-FC54-1C68-E289-AF66419AE240}"/>
              </a:ext>
            </a:extLst>
          </p:cNvPr>
          <p:cNvCxnSpPr/>
          <p:nvPr/>
        </p:nvCxnSpPr>
        <p:spPr>
          <a:xfrm flipV="1">
            <a:off x="1577940" y="2396146"/>
            <a:ext cx="0" cy="100717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29E5894-CE7B-4948-A39E-99E459755030}"/>
              </a:ext>
            </a:extLst>
          </p:cNvPr>
          <p:cNvCxnSpPr>
            <a:cxnSpLocks/>
          </p:cNvCxnSpPr>
          <p:nvPr/>
        </p:nvCxnSpPr>
        <p:spPr>
          <a:xfrm flipV="1">
            <a:off x="5719647" y="3327268"/>
            <a:ext cx="0" cy="14082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BE19DE5-E47A-3476-74EC-8981E06B5360}"/>
              </a:ext>
            </a:extLst>
          </p:cNvPr>
          <p:cNvCxnSpPr>
            <a:cxnSpLocks/>
          </p:cNvCxnSpPr>
          <p:nvPr/>
        </p:nvCxnSpPr>
        <p:spPr>
          <a:xfrm flipV="1">
            <a:off x="3306059" y="3179259"/>
            <a:ext cx="0" cy="18898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2EC19F6-FD24-A58D-C5EB-A735BB549471}"/>
              </a:ext>
            </a:extLst>
          </p:cNvPr>
          <p:cNvCxnSpPr>
            <a:cxnSpLocks/>
          </p:cNvCxnSpPr>
          <p:nvPr/>
        </p:nvCxnSpPr>
        <p:spPr>
          <a:xfrm>
            <a:off x="2126387" y="3772656"/>
            <a:ext cx="0" cy="20083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F442BD1-1336-5A9F-6099-B26FEBCC9BE7}"/>
              </a:ext>
            </a:extLst>
          </p:cNvPr>
          <p:cNvSpPr txBox="1"/>
          <p:nvPr/>
        </p:nvSpPr>
        <p:spPr>
          <a:xfrm>
            <a:off x="1637770" y="3889481"/>
            <a:ext cx="2510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interceptos aleatorios por sujeto 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7E66197-BE21-8933-F862-63D00DA501CE}"/>
              </a:ext>
            </a:extLst>
          </p:cNvPr>
          <p:cNvCxnSpPr>
            <a:cxnSpLocks/>
          </p:cNvCxnSpPr>
          <p:nvPr/>
        </p:nvCxnSpPr>
        <p:spPr>
          <a:xfrm>
            <a:off x="4962516" y="3800415"/>
            <a:ext cx="7213" cy="40167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E67F88F-97EF-B745-6685-AB735CF31CB2}"/>
              </a:ext>
            </a:extLst>
          </p:cNvPr>
          <p:cNvSpPr txBox="1"/>
          <p:nvPr/>
        </p:nvSpPr>
        <p:spPr>
          <a:xfrm>
            <a:off x="3561729" y="4278874"/>
            <a:ext cx="1737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14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pendientes aleatorios </a:t>
            </a:r>
          </a:p>
          <a:p>
            <a:pPr algn="ctr"/>
            <a:r>
              <a:rPr lang="es-ES_tradnl" sz="14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por sujeto </a:t>
            </a:r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F18B37DD-1A08-03DD-DA0B-E6E1406B287E}"/>
              </a:ext>
            </a:extLst>
          </p:cNvPr>
          <p:cNvSpPr/>
          <p:nvPr/>
        </p:nvSpPr>
        <p:spPr>
          <a:xfrm rot="5400000">
            <a:off x="3456503" y="3201805"/>
            <a:ext cx="139454" cy="3546691"/>
          </a:xfrm>
          <a:prstGeom prst="rightBrac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A23D52D-34CE-D686-7AE0-0D561CD93A90}"/>
              </a:ext>
            </a:extLst>
          </p:cNvPr>
          <p:cNvSpPr txBox="1"/>
          <p:nvPr/>
        </p:nvSpPr>
        <p:spPr>
          <a:xfrm>
            <a:off x="2870285" y="5086379"/>
            <a:ext cx="1265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correlacionado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A56E4B-A7B6-B666-6D95-E4B215CBF35C}"/>
              </a:ext>
            </a:extLst>
          </p:cNvPr>
          <p:cNvSpPr txBox="1"/>
          <p:nvPr/>
        </p:nvSpPr>
        <p:spPr>
          <a:xfrm>
            <a:off x="1828760" y="2412162"/>
            <a:ext cx="24126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interceptos aleatorios por ítem 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1365DE6-78C2-928B-3B06-4F4E1251B0F8}"/>
              </a:ext>
            </a:extLst>
          </p:cNvPr>
          <p:cNvCxnSpPr>
            <a:cxnSpLocks/>
          </p:cNvCxnSpPr>
          <p:nvPr/>
        </p:nvCxnSpPr>
        <p:spPr>
          <a:xfrm flipV="1">
            <a:off x="2719975" y="2750716"/>
            <a:ext cx="0" cy="71738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F891D29-FC5A-31B0-33B9-5F0A7B1FFC3C}"/>
              </a:ext>
            </a:extLst>
          </p:cNvPr>
          <p:cNvSpPr txBox="1"/>
          <p:nvPr/>
        </p:nvSpPr>
        <p:spPr>
          <a:xfrm>
            <a:off x="735767" y="1158258"/>
            <a:ext cx="6799216" cy="463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800" dirty="0">
                <a:solidFill>
                  <a:srgbClr val="C00000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</a:t>
            </a:r>
            <a:r>
              <a:rPr lang="es-ES_tradnl" sz="1800" i="1" dirty="0">
                <a:solidFill>
                  <a:srgbClr val="C00000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Qué parámetros queremos estimar?</a:t>
            </a:r>
          </a:p>
        </p:txBody>
      </p:sp>
      <p:pic>
        <p:nvPicPr>
          <p:cNvPr id="30" name="Picture 29" descr="A screenshot of a graph&#10;&#10;Description automatically generated">
            <a:extLst>
              <a:ext uri="{FF2B5EF4-FFF2-40B4-BE49-F238E27FC236}">
                <a16:creationId xmlns:a16="http://schemas.microsoft.com/office/drawing/2014/main" id="{C2EDCCA9-C2D6-D741-BD44-E7A091A5E24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4654" b="41156"/>
          <a:stretch/>
        </p:blipFill>
        <p:spPr>
          <a:xfrm>
            <a:off x="8791407" y="5180819"/>
            <a:ext cx="535773" cy="956807"/>
          </a:xfrm>
          <a:prstGeom prst="rect">
            <a:avLst/>
          </a:prstGeom>
        </p:spPr>
      </p:pic>
      <p:pic>
        <p:nvPicPr>
          <p:cNvPr id="31" name="Picture 30" descr="A screenshot of a graph&#10;&#10;Description automatically generated">
            <a:extLst>
              <a:ext uri="{FF2B5EF4-FFF2-40B4-BE49-F238E27FC236}">
                <a16:creationId xmlns:a16="http://schemas.microsoft.com/office/drawing/2014/main" id="{C1A4F39E-3023-DC54-851D-4869BD182E4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3849" r="57099"/>
          <a:stretch/>
        </p:blipFill>
        <p:spPr>
          <a:xfrm>
            <a:off x="7522705" y="5354091"/>
            <a:ext cx="1145826" cy="742732"/>
          </a:xfrm>
          <a:prstGeom prst="rect">
            <a:avLst/>
          </a:prstGeom>
        </p:spPr>
      </p:pic>
      <p:pic>
        <p:nvPicPr>
          <p:cNvPr id="32" name="Picture 31" descr="A graph with a red line&#10;&#10;Description automatically generated">
            <a:extLst>
              <a:ext uri="{FF2B5EF4-FFF2-40B4-BE49-F238E27FC236}">
                <a16:creationId xmlns:a16="http://schemas.microsoft.com/office/drawing/2014/main" id="{44F5C092-06BC-AC15-C450-AD157B1BF7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7745842" y="4221140"/>
            <a:ext cx="699551" cy="1391579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83C689B-746C-6851-D0C7-BFFEE990AB15}"/>
              </a:ext>
            </a:extLst>
          </p:cNvPr>
          <p:cNvCxnSpPr>
            <a:cxnSpLocks/>
          </p:cNvCxnSpPr>
          <p:nvPr/>
        </p:nvCxnSpPr>
        <p:spPr>
          <a:xfrm>
            <a:off x="4164522" y="2589060"/>
            <a:ext cx="242611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Picture 49" descr="A graph with a green line&#10;&#10;Description automatically generated">
            <a:extLst>
              <a:ext uri="{FF2B5EF4-FFF2-40B4-BE49-F238E27FC236}">
                <a16:creationId xmlns:a16="http://schemas.microsoft.com/office/drawing/2014/main" id="{E3B5C34A-7C49-C1F7-39A9-CA67946DD1D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18223"/>
          <a:stretch/>
        </p:blipFill>
        <p:spPr>
          <a:xfrm>
            <a:off x="7045496" y="3096111"/>
            <a:ext cx="1986723" cy="974169"/>
          </a:xfrm>
          <a:prstGeom prst="rect">
            <a:avLst/>
          </a:prstGeom>
        </p:spPr>
      </p:pic>
      <p:pic>
        <p:nvPicPr>
          <p:cNvPr id="51" name="Picture 50" descr="A graph with a red line&#10;&#10;Description automatically generated">
            <a:extLst>
              <a:ext uri="{FF2B5EF4-FFF2-40B4-BE49-F238E27FC236}">
                <a16:creationId xmlns:a16="http://schemas.microsoft.com/office/drawing/2014/main" id="{CC9D4AB9-08E6-E0C1-C557-C749D7EF49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7600577" y="1187080"/>
            <a:ext cx="998726" cy="1986713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6328C0C-4D95-B921-F202-126C33924E2E}"/>
              </a:ext>
            </a:extLst>
          </p:cNvPr>
          <p:cNvCxnSpPr>
            <a:cxnSpLocks/>
          </p:cNvCxnSpPr>
          <p:nvPr/>
        </p:nvCxnSpPr>
        <p:spPr>
          <a:xfrm>
            <a:off x="8040366" y="2679800"/>
            <a:ext cx="29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165FA1A-9A5A-10CC-479E-FCDCB727A6F0}"/>
              </a:ext>
            </a:extLst>
          </p:cNvPr>
          <p:cNvCxnSpPr>
            <a:cxnSpLocks/>
          </p:cNvCxnSpPr>
          <p:nvPr/>
        </p:nvCxnSpPr>
        <p:spPr>
          <a:xfrm>
            <a:off x="8065538" y="4046568"/>
            <a:ext cx="2684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F217C1C-A717-9EEB-8DEE-B8B0B3B11F8A}"/>
              </a:ext>
            </a:extLst>
          </p:cNvPr>
          <p:cNvCxnSpPr>
            <a:cxnSpLocks/>
          </p:cNvCxnSpPr>
          <p:nvPr/>
        </p:nvCxnSpPr>
        <p:spPr>
          <a:xfrm>
            <a:off x="8083569" y="5349976"/>
            <a:ext cx="2234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B7C9FD1-93D4-24B2-4443-7075C8DA238A}"/>
              </a:ext>
            </a:extLst>
          </p:cNvPr>
          <p:cNvCxnSpPr>
            <a:cxnSpLocks/>
          </p:cNvCxnSpPr>
          <p:nvPr/>
        </p:nvCxnSpPr>
        <p:spPr>
          <a:xfrm>
            <a:off x="8793768" y="5780147"/>
            <a:ext cx="0" cy="1598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A3F6BE0-8716-8722-59D2-726385F95473}"/>
              </a:ext>
            </a:extLst>
          </p:cNvPr>
          <p:cNvCxnSpPr>
            <a:cxnSpLocks/>
          </p:cNvCxnSpPr>
          <p:nvPr/>
        </p:nvCxnSpPr>
        <p:spPr>
          <a:xfrm>
            <a:off x="5862518" y="3615749"/>
            <a:ext cx="8031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629D594-F0F8-D909-2979-B841A7C1BFAA}"/>
              </a:ext>
            </a:extLst>
          </p:cNvPr>
          <p:cNvCxnSpPr>
            <a:cxnSpLocks/>
          </p:cNvCxnSpPr>
          <p:nvPr/>
        </p:nvCxnSpPr>
        <p:spPr>
          <a:xfrm>
            <a:off x="4241408" y="5240267"/>
            <a:ext cx="242421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3EBB2CF-D400-4DB1-4F36-B769643C0440}"/>
              </a:ext>
            </a:extLst>
          </p:cNvPr>
          <p:cNvSpPr txBox="1"/>
          <p:nvPr/>
        </p:nvSpPr>
        <p:spPr>
          <a:xfrm>
            <a:off x="7971952" y="2678083"/>
            <a:ext cx="8194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i="1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“sigma_w0”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5C78E16-BFF4-D7E2-B341-EFD4C2B3F3DD}"/>
              </a:ext>
            </a:extLst>
          </p:cNvPr>
          <p:cNvSpPr txBox="1"/>
          <p:nvPr/>
        </p:nvSpPr>
        <p:spPr>
          <a:xfrm>
            <a:off x="7573666" y="5777831"/>
            <a:ext cx="4651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“rho”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C5CB26E-8B18-106C-6C68-BF8DDB4AE003}"/>
              </a:ext>
            </a:extLst>
          </p:cNvPr>
          <p:cNvSpPr txBox="1"/>
          <p:nvPr/>
        </p:nvSpPr>
        <p:spPr>
          <a:xfrm>
            <a:off x="8254515" y="5207245"/>
            <a:ext cx="7922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“sigma_u0”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CC40F-48CF-FA91-753A-2733731B26A4}"/>
              </a:ext>
            </a:extLst>
          </p:cNvPr>
          <p:cNvSpPr txBox="1"/>
          <p:nvPr/>
        </p:nvSpPr>
        <p:spPr>
          <a:xfrm>
            <a:off x="8544310" y="5988642"/>
            <a:ext cx="7922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“sigma_u1”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84F8AA5-D580-9C0D-EEF5-3E5ACBCFB872}"/>
              </a:ext>
            </a:extLst>
          </p:cNvPr>
          <p:cNvSpPr txBox="1"/>
          <p:nvPr/>
        </p:nvSpPr>
        <p:spPr>
          <a:xfrm>
            <a:off x="7886317" y="134956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03ACDAC-1DD5-2B0F-CC7F-C8C22C5DCB0E}"/>
              </a:ext>
            </a:extLst>
          </p:cNvPr>
          <p:cNvSpPr txBox="1"/>
          <p:nvPr/>
        </p:nvSpPr>
        <p:spPr>
          <a:xfrm>
            <a:off x="8038857" y="4025532"/>
            <a:ext cx="5902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“sigma”</a:t>
            </a:r>
          </a:p>
        </p:txBody>
      </p:sp>
      <p:pic>
        <p:nvPicPr>
          <p:cNvPr id="69" name="Picture 68" descr="A green circle with a white check mark&#10;&#10;Description automatically generated">
            <a:extLst>
              <a:ext uri="{FF2B5EF4-FFF2-40B4-BE49-F238E27FC236}">
                <a16:creationId xmlns:a16="http://schemas.microsoft.com/office/drawing/2014/main" id="{E6EF4D2B-0CA8-F9C7-136E-9A452C1636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8471" y="2084608"/>
            <a:ext cx="257956" cy="238488"/>
          </a:xfrm>
          <a:prstGeom prst="rect">
            <a:avLst/>
          </a:prstGeom>
        </p:spPr>
      </p:pic>
      <p:pic>
        <p:nvPicPr>
          <p:cNvPr id="70" name="Picture 69" descr="A green circle with a white check mark&#10;&#10;Description automatically generated">
            <a:extLst>
              <a:ext uri="{FF2B5EF4-FFF2-40B4-BE49-F238E27FC236}">
                <a16:creationId xmlns:a16="http://schemas.microsoft.com/office/drawing/2014/main" id="{1DA379A3-1EC6-F0CF-0C51-EAA18209F1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4396" y="2692886"/>
            <a:ext cx="257956" cy="238488"/>
          </a:xfrm>
          <a:prstGeom prst="rect">
            <a:avLst/>
          </a:prstGeom>
        </p:spPr>
      </p:pic>
      <p:pic>
        <p:nvPicPr>
          <p:cNvPr id="71" name="Picture 70" descr="A green circle with a white check mark&#10;&#10;Description automatically generated">
            <a:extLst>
              <a:ext uri="{FF2B5EF4-FFF2-40B4-BE49-F238E27FC236}">
                <a16:creationId xmlns:a16="http://schemas.microsoft.com/office/drawing/2014/main" id="{06D9494B-1E2D-8B5D-54C5-A6AACAF490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8306" y="3135933"/>
            <a:ext cx="257956" cy="238488"/>
          </a:xfrm>
          <a:prstGeom prst="rect">
            <a:avLst/>
          </a:prstGeom>
          <a:solidFill>
            <a:schemeClr val="bg1">
              <a:alpha val="47644"/>
            </a:schemeClr>
          </a:solidFill>
        </p:spPr>
      </p:pic>
      <p:pic>
        <p:nvPicPr>
          <p:cNvPr id="72" name="Picture 71" descr="A green circle with a white check mark&#10;&#10;Description automatically generated">
            <a:extLst>
              <a:ext uri="{FF2B5EF4-FFF2-40B4-BE49-F238E27FC236}">
                <a16:creationId xmlns:a16="http://schemas.microsoft.com/office/drawing/2014/main" id="{33DA5D76-E51A-634E-0D56-35914F4EB2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9083" y="4068772"/>
            <a:ext cx="257956" cy="238488"/>
          </a:xfrm>
          <a:prstGeom prst="rect">
            <a:avLst/>
          </a:prstGeom>
        </p:spPr>
      </p:pic>
      <p:pic>
        <p:nvPicPr>
          <p:cNvPr id="73" name="Picture 72" descr="A green circle with a white check mark&#10;&#10;Description automatically generated">
            <a:extLst>
              <a:ext uri="{FF2B5EF4-FFF2-40B4-BE49-F238E27FC236}">
                <a16:creationId xmlns:a16="http://schemas.microsoft.com/office/drawing/2014/main" id="{1512D6B8-BC84-2F4E-1231-771B8E79A6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7807" y="6009502"/>
            <a:ext cx="257956" cy="238488"/>
          </a:xfrm>
          <a:prstGeom prst="rect">
            <a:avLst/>
          </a:prstGeom>
          <a:solidFill>
            <a:schemeClr val="bg1">
              <a:alpha val="47644"/>
            </a:schemeClr>
          </a:solidFill>
        </p:spPr>
      </p:pic>
      <p:pic>
        <p:nvPicPr>
          <p:cNvPr id="74" name="Picture 73" descr="A green circle with a white check mark&#10;&#10;Description automatically generated">
            <a:extLst>
              <a:ext uri="{FF2B5EF4-FFF2-40B4-BE49-F238E27FC236}">
                <a16:creationId xmlns:a16="http://schemas.microsoft.com/office/drawing/2014/main" id="{BDB4860B-CD45-1B07-8C5C-38E628ED39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5270" y="6004764"/>
            <a:ext cx="257956" cy="238488"/>
          </a:xfrm>
          <a:prstGeom prst="rect">
            <a:avLst/>
          </a:prstGeom>
          <a:solidFill>
            <a:schemeClr val="bg1">
              <a:alpha val="47644"/>
            </a:schemeClr>
          </a:solidFill>
        </p:spPr>
      </p:pic>
      <p:pic>
        <p:nvPicPr>
          <p:cNvPr id="75" name="Picture 74" descr="A green circle with a white check mark&#10;&#10;Description automatically generated">
            <a:extLst>
              <a:ext uri="{FF2B5EF4-FFF2-40B4-BE49-F238E27FC236}">
                <a16:creationId xmlns:a16="http://schemas.microsoft.com/office/drawing/2014/main" id="{EEC62E72-8CCD-AEC3-A030-48E9BF177B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1522" y="5230732"/>
            <a:ext cx="257956" cy="238488"/>
          </a:xfrm>
          <a:prstGeom prst="rect">
            <a:avLst/>
          </a:prstGeom>
          <a:solidFill>
            <a:schemeClr val="bg1">
              <a:alpha val="47644"/>
            </a:schemeClr>
          </a:solidFill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D1187FE-94D2-247F-6C93-DE635D2DADCC}"/>
                  </a:ext>
                </a:extLst>
              </p:cNvPr>
              <p:cNvSpPr txBox="1"/>
              <p:nvPr/>
            </p:nvSpPr>
            <p:spPr>
              <a:xfrm>
                <a:off x="10177533" y="2015319"/>
                <a:ext cx="140256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sz="1400" b="0" i="1" smtClean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cs-CZ" sz="1400" b="0" i="1" baseline="-25000" smtClean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𝑜𝑗</m:t>
                      </m:r>
                      <m:r>
                        <a:rPr lang="cs-CZ" sz="1400" b="0" i="1" smtClean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 </m:t>
                      </m:r>
                      <m:r>
                        <a:rPr lang="el-GR" sz="1400" b="0" i="1" smtClean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𝛮</m:t>
                      </m:r>
                      <m:d>
                        <m:dPr>
                          <m:ctrlPr>
                            <a:rPr lang="cs-CZ" sz="1400" b="0" i="1" smtClean="0">
                              <a:solidFill>
                                <a:schemeClr val="bg2">
                                  <a:lumMod val="9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1400" b="0" i="1" smtClean="0">
                              <a:solidFill>
                                <a:schemeClr val="bg2">
                                  <a:lumMod val="9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0, </m:t>
                          </m:r>
                          <m:r>
                            <a:rPr lang="cs-CZ" sz="1400" b="0" i="1" smtClean="0">
                              <a:solidFill>
                                <a:schemeClr val="bg2">
                                  <a:lumMod val="9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cs-CZ" sz="1400" b="0" i="1" baseline="-25000" smtClean="0">
                              <a:solidFill>
                                <a:schemeClr val="bg2">
                                  <a:lumMod val="9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𝑤𝑜</m:t>
                          </m:r>
                        </m:e>
                      </m:d>
                    </m:oMath>
                  </m:oMathPara>
                </a14:m>
                <a:endParaRPr lang="cs-CZ" sz="1400" i="1" dirty="0">
                  <a:solidFill>
                    <a:schemeClr val="bg2">
                      <a:lumMod val="9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D1187FE-94D2-247F-6C93-DE635D2DA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7533" y="2015319"/>
                <a:ext cx="1402563" cy="307777"/>
              </a:xfrm>
              <a:prstGeom prst="rect">
                <a:avLst/>
              </a:prstGeom>
              <a:blipFill>
                <a:blip r:embed="rId9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EAE7E7D1-5682-5171-D3C9-8197CCB0BC0F}"/>
                  </a:ext>
                </a:extLst>
              </p:cNvPr>
              <p:cNvSpPr txBox="1"/>
              <p:nvPr/>
            </p:nvSpPr>
            <p:spPr>
              <a:xfrm>
                <a:off x="10177533" y="3493891"/>
                <a:ext cx="10817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cs-CZ" sz="1400" b="0" i="1" smtClean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r>
                        <a:rPr lang="el-GR" sz="1400" b="0" i="1" smtClean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𝛮</m:t>
                      </m:r>
                      <m:d>
                        <m:dPr>
                          <m:ctrlPr>
                            <a:rPr lang="cs-CZ" sz="1400" b="0" i="1" smtClean="0">
                              <a:solidFill>
                                <a:schemeClr val="bg2">
                                  <a:lumMod val="9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1400" b="0" i="1" smtClean="0">
                              <a:solidFill>
                                <a:schemeClr val="bg2">
                                  <a:lumMod val="9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0, </m:t>
                          </m:r>
                          <m:r>
                            <a:rPr lang="cs-CZ" sz="1400" b="0" i="1" smtClean="0">
                              <a:solidFill>
                                <a:schemeClr val="bg2">
                                  <a:lumMod val="9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cs-CZ" sz="1400" i="1" dirty="0">
                  <a:solidFill>
                    <a:schemeClr val="bg2">
                      <a:lumMod val="90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EAE7E7D1-5682-5171-D3C9-8197CCB0B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7533" y="3493891"/>
                <a:ext cx="1081771" cy="307777"/>
              </a:xfrm>
              <a:prstGeom prst="rect">
                <a:avLst/>
              </a:prstGeom>
              <a:blipFill>
                <a:blip r:embed="rId10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8" name="Picture 77" descr="A group of black letters&#10;&#10;Description automatically generated with medium confidence">
            <a:extLst>
              <a:ext uri="{FF2B5EF4-FFF2-40B4-BE49-F238E27FC236}">
                <a16:creationId xmlns:a16="http://schemas.microsoft.com/office/drawing/2014/main" id="{AF0A9C4F-54B1-4A46-4ED5-352E33F6961D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42017"/>
          <a:stretch/>
        </p:blipFill>
        <p:spPr>
          <a:xfrm>
            <a:off x="9900170" y="5396750"/>
            <a:ext cx="1917577" cy="633454"/>
          </a:xfrm>
          <a:prstGeom prst="rect">
            <a:avLst/>
          </a:prstGeom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4F161F73-CF30-D4AD-5612-5A97412D5970}"/>
              </a:ext>
            </a:extLst>
          </p:cNvPr>
          <p:cNvGrpSpPr/>
          <p:nvPr/>
        </p:nvGrpSpPr>
        <p:grpSpPr>
          <a:xfrm>
            <a:off x="9932870" y="4863105"/>
            <a:ext cx="1917577" cy="531051"/>
            <a:chOff x="7965061" y="1913990"/>
            <a:chExt cx="3342772" cy="1083881"/>
          </a:xfrm>
        </p:grpSpPr>
        <p:pic>
          <p:nvPicPr>
            <p:cNvPr id="80" name="Picture 79" descr="A group of black letters&#10;&#10;Description automatically generated with medium confidence">
              <a:extLst>
                <a:ext uri="{FF2B5EF4-FFF2-40B4-BE49-F238E27FC236}">
                  <a16:creationId xmlns:a16="http://schemas.microsoft.com/office/drawing/2014/main" id="{5DAF2EA5-42AC-C552-946E-7CCCA67D42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17505" t="53049"/>
            <a:stretch/>
          </p:blipFill>
          <p:spPr>
            <a:xfrm>
              <a:off x="7965061" y="1913990"/>
              <a:ext cx="3342772" cy="108388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0565249F-9284-FD4E-71E0-9A58623C4F8D}"/>
                    </a:ext>
                  </a:extLst>
                </p:cNvPr>
                <p:cNvSpPr txBox="1"/>
                <p:nvPr/>
              </p:nvSpPr>
              <p:spPr>
                <a:xfrm>
                  <a:off x="8864807" y="2325378"/>
                  <a:ext cx="774495" cy="34549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cs-CZ" sz="1100" b="0" i="1" smtClean="0">
                            <a:solidFill>
                              <a:schemeClr val="bg2">
                                <a:lumMod val="9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cs-CZ" sz="1100" b="0" i="1" smtClean="0">
                            <a:solidFill>
                              <a:schemeClr val="bg2">
                                <a:lumMod val="9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𝑀𝑉𝑁</m:t>
                        </m:r>
                      </m:oMath>
                    </m:oMathPara>
                  </a14:m>
                  <a:endParaRPr lang="en-US" sz="1600" dirty="0">
                    <a:solidFill>
                      <a:schemeClr val="bg2">
                        <a:lumMod val="9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0565249F-9284-FD4E-71E0-9A58623C4F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4807" y="2325378"/>
                  <a:ext cx="774495" cy="345496"/>
                </a:xfrm>
                <a:prstGeom prst="rect">
                  <a:avLst/>
                </a:prstGeom>
                <a:blipFill>
                  <a:blip r:embed="rId12"/>
                  <a:stretch>
                    <a:fillRect l="-2778" r="-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93461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solidFill>
                  <a:schemeClr val="tx1"/>
                </a:solidFill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25</a:t>
            </a:fld>
            <a:endParaRPr lang="es-ES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6564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9E0BC9-E577-30AA-B281-15260501EA32}"/>
                  </a:ext>
                </a:extLst>
              </p:cNvPr>
              <p:cNvSpPr txBox="1"/>
              <p:nvPr/>
            </p:nvSpPr>
            <p:spPr>
              <a:xfrm>
                <a:off x="912286" y="1588864"/>
                <a:ext cx="44074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s-CZ" sz="1400" dirty="0">
                    <a:latin typeface="Baskerville" panose="02020502070401020303" pitchFamily="18" charset="0"/>
                    <a:ea typeface="Baskerville" panose="02020502070401020303" pitchFamily="18" charset="0"/>
                  </a:rPr>
                  <a:t>l</a:t>
                </a:r>
                <a:r>
                  <a:rPr lang="cs-CZ" sz="1400" b="0" dirty="0">
                    <a:solidFill>
                      <a:schemeClr val="tx1"/>
                    </a:solidFill>
                    <a:latin typeface="Baskerville" panose="02020502070401020303" pitchFamily="18" charset="0"/>
                    <a:ea typeface="Baskerville" panose="02020502070401020303" pitchFamily="18" charset="0"/>
                  </a:rPr>
                  <a:t>og</a:t>
                </a:r>
                <a:r>
                  <a:rPr lang="cs-CZ" sz="1400" b="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cs-CZ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𝑟𝑡</m:t>
                    </m:r>
                    <m:r>
                      <a:rPr lang="cs-CZ" sz="1400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𝑖𝑗</m:t>
                    </m:r>
                    <m:r>
                      <a:rPr lang="cs-CZ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 </m:t>
                    </m:r>
                    <m:r>
                      <a:rPr lang="cs-CZ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cs-CZ" sz="140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cs-CZ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cs-CZ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𝑢𝑜𝑖</m:t>
                    </m:r>
                    <m:r>
                      <a:rPr lang="cs-CZ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r>
                      <a:rPr lang="cs-CZ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cs-CZ" sz="1400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cs-CZ" sz="1400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cs-CZ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cs-CZ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cs-CZ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cs-CZ" sz="1400" b="0" i="1" baseline="-25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cs-CZ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</m:t>
                        </m:r>
                        <m:r>
                          <a:rPr lang="cs-CZ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𝑐𝑜𝑛𝑑</m:t>
                        </m:r>
                        <m:r>
                          <a:rPr lang="cs-CZ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cs-CZ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𝑐𝑜𝑑</m:t>
                        </m:r>
                        <m:r>
                          <a:rPr lang="cs-CZ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cs-CZ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cs-CZ" sz="1400" b="0" i="1" baseline="-25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cs-CZ" sz="1400" b="0" i="1" baseline="-25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cs-CZ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 </m:t>
                    </m:r>
                    <m:r>
                      <a:rPr lang="cs-CZ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9E0BC9-E577-30AA-B281-15260501E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286" y="1588864"/>
                <a:ext cx="4407489" cy="307777"/>
              </a:xfrm>
              <a:prstGeom prst="rect">
                <a:avLst/>
              </a:prstGeom>
              <a:blipFill>
                <a:blip r:embed="rId3"/>
                <a:stretch>
                  <a:fillRect l="-575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 descr="A green circle with a white check mark&#10;&#10;Description automatically generated">
            <a:extLst>
              <a:ext uri="{FF2B5EF4-FFF2-40B4-BE49-F238E27FC236}">
                <a16:creationId xmlns:a16="http://schemas.microsoft.com/office/drawing/2014/main" id="{DC50C410-1F88-72CC-5E86-5D6924559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322" y="2294644"/>
            <a:ext cx="511808" cy="473181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2F891D29-FC5A-31B0-33B9-5F0A7B1FFC3C}"/>
              </a:ext>
            </a:extLst>
          </p:cNvPr>
          <p:cNvSpPr txBox="1"/>
          <p:nvPr/>
        </p:nvSpPr>
        <p:spPr>
          <a:xfrm>
            <a:off x="912285" y="979425"/>
            <a:ext cx="9520187" cy="463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Ejemplo de un set de da</a:t>
            </a:r>
            <a:r>
              <a:rPr lang="es-ES_tradnl" dirty="0">
                <a:solidFill>
                  <a:srgbClr val="C00000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tos generados </a:t>
            </a:r>
            <a:r>
              <a:rPr lang="es-ES_tradnl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con</a:t>
            </a:r>
            <a:r>
              <a:rPr lang="es-ES_tradnl" dirty="0">
                <a:solidFill>
                  <a:srgbClr val="C00000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lang="es-ES_tradnl" dirty="0">
                <a:latin typeface="Baskerville" panose="02020502070401020303" pitchFamily="18" charset="0"/>
                <a:ea typeface="Baskerville" panose="02020502070401020303" pitchFamily="18" charset="0"/>
              </a:rPr>
              <a:t>100 participantes y 100 ensayos por condición: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FC07F5-D500-5366-5D42-07B0C1C0D448}"/>
              </a:ext>
            </a:extLst>
          </p:cNvPr>
          <p:cNvSpPr txBox="1"/>
          <p:nvPr/>
        </p:nvSpPr>
        <p:spPr>
          <a:xfrm>
            <a:off x="813580" y="5551019"/>
            <a:ext cx="905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</a:t>
            </a:r>
            <a:r>
              <a:rPr lang="es-ES_tradnl" dirty="0">
                <a:latin typeface="Baskerville" panose="02020502070401020303" pitchFamily="18" charset="0"/>
                <a:ea typeface="Baskerville" panose="02020502070401020303" pitchFamily="18" charset="0"/>
              </a:rPr>
              <a:t>Puedo replicar el efecto 80/95% de las veces? </a:t>
            </a:r>
            <a:r>
              <a:rPr lang="es-ES_tradnl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</a:t>
            </a:r>
            <a:r>
              <a:rPr lang="es-ES_tradnl" dirty="0">
                <a:latin typeface="Baskerville" panose="02020502070401020303" pitchFamily="18" charset="0"/>
                <a:ea typeface="Baskerville" panose="02020502070401020303" pitchFamily="18" charset="0"/>
              </a:rPr>
              <a:t>Controlando el error Tipo II (falsos negativos)?</a:t>
            </a:r>
          </a:p>
        </p:txBody>
      </p:sp>
      <p:pic>
        <p:nvPicPr>
          <p:cNvPr id="17" name="Picture 16" descr="A diagram of a graph&#10;&#10;Description automatically generated">
            <a:extLst>
              <a:ext uri="{FF2B5EF4-FFF2-40B4-BE49-F238E27FC236}">
                <a16:creationId xmlns:a16="http://schemas.microsoft.com/office/drawing/2014/main" id="{C1255FFA-1D1A-D848-51A8-511C40D9FC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585" y="2145526"/>
            <a:ext cx="3707061" cy="27832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2" name="Picture 21" descr="A close-up of a number&#10;&#10;Description automatically generated">
            <a:extLst>
              <a:ext uri="{FF2B5EF4-FFF2-40B4-BE49-F238E27FC236}">
                <a16:creationId xmlns:a16="http://schemas.microsoft.com/office/drawing/2014/main" id="{74E41FBA-4C96-B070-FDCF-75B3351595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5098" y="2294645"/>
            <a:ext cx="5104409" cy="1677301"/>
          </a:xfrm>
          <a:prstGeom prst="rect">
            <a:avLst/>
          </a:prstGeom>
        </p:spPr>
      </p:pic>
      <p:pic>
        <p:nvPicPr>
          <p:cNvPr id="30" name="Picture 29" descr="A green circle with a white check mark&#10;&#10;Description automatically generated">
            <a:extLst>
              <a:ext uri="{FF2B5EF4-FFF2-40B4-BE49-F238E27FC236}">
                <a16:creationId xmlns:a16="http://schemas.microsoft.com/office/drawing/2014/main" id="{A20E7734-4D70-6B1E-A049-9B98DD5B8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7571" y="2294643"/>
            <a:ext cx="511808" cy="47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2566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2372AEB8-EE03-0CFF-8FF6-9474654F5DFC}"/>
              </a:ext>
            </a:extLst>
          </p:cNvPr>
          <p:cNvSpPr txBox="1"/>
          <p:nvPr/>
        </p:nvSpPr>
        <p:spPr>
          <a:xfrm>
            <a:off x="785238" y="4614576"/>
            <a:ext cx="11114510" cy="369332"/>
          </a:xfrm>
          <a:prstGeom prst="rect">
            <a:avLst/>
          </a:prstGeom>
          <a:solidFill>
            <a:srgbClr val="FDECEA"/>
          </a:solidFill>
        </p:spPr>
        <p:txBody>
          <a:bodyPr wrap="square" rtlCol="0">
            <a:spAutoFit/>
          </a:bodyPr>
          <a:lstStyle/>
          <a:p>
            <a:endParaRPr lang="en-AU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E395C1-2044-7602-CB3B-42069607BB35}"/>
              </a:ext>
            </a:extLst>
          </p:cNvPr>
          <p:cNvSpPr txBox="1"/>
          <p:nvPr/>
        </p:nvSpPr>
        <p:spPr>
          <a:xfrm>
            <a:off x="740829" y="1628382"/>
            <a:ext cx="9670267" cy="3376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2.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Podemos asumir que el tiempo basal es idéntico para todos los participantes? (interceptos) 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3. Los participantes responden a múltiples ensayos.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4. ¿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Podemos asumir que todos los sujetos van a reaccionar de forma igual a nuestra manipulación? (las pendientes) 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5. Y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si los participantes que son más lentos, muestran efectos más pequeños? (</a:t>
            </a:r>
            <a:r>
              <a:rPr lang="es-ES_tradnl" sz="1600" u="sng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la correlación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entre los interceptos y las pendientes)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6.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Existe variabilidad para los ítems (palabras), igual que entre los participantes? (interceptos para las palabras)</a:t>
            </a: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7 </a:t>
            </a:r>
            <a:r>
              <a:rPr lang="es-ES_tradnl" sz="1600" dirty="0">
                <a:solidFill>
                  <a:schemeClr val="bg2">
                    <a:lumMod val="90000"/>
                  </a:schemeClr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¿Los tiempos de reacción, se distribuyen de forma normal?</a:t>
            </a:r>
          </a:p>
          <a:p>
            <a:pPr>
              <a:lnSpc>
                <a:spcPct val="150000"/>
              </a:lnSpc>
            </a:pPr>
            <a:endParaRPr lang="es-ES_tradnl" sz="1600" dirty="0">
              <a:solidFill>
                <a:schemeClr val="bg2">
                  <a:lumMod val="90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8. </a:t>
            </a:r>
            <a:r>
              <a:rPr lang="es-ES_tradnl" sz="1600" dirty="0">
                <a:solidFill>
                  <a:srgbClr val="C00000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¿C</a:t>
            </a:r>
            <a:r>
              <a:rPr lang="es-ES_tradnl" sz="1600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uántos datos (participantes/ensayos) debo recoger para detectar los efectos repetidamente (80/95%)?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FE1CF-DFD2-13B3-040A-1C57EE23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26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D73CE48-D701-8CFC-6AFD-741BDD1BA2E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26</a:t>
            </a:fld>
            <a:endParaRPr lang="es-E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12097B6-DCE4-1744-5F95-E99BF029BD1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26</a:t>
            </a:fld>
            <a:endParaRPr lang="es-ES"/>
          </a:p>
        </p:txBody>
      </p:sp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7E7F66A3-AE44-FEF1-4F2E-6A7C2AF65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26</a:t>
            </a:fld>
            <a:endParaRPr lang="es-ES" dirty="0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94807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 </a:t>
            </a:r>
            <a:r>
              <a:rPr lang="es-ES_tradn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· </a:t>
            </a:r>
            <a:r>
              <a:rPr lang="es-ES_tradnl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Acercándonos a la realidad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E7E884-FE7C-DEAF-46AD-04D9AC96094B}"/>
              </a:ext>
            </a:extLst>
          </p:cNvPr>
          <p:cNvSpPr txBox="1"/>
          <p:nvPr/>
        </p:nvSpPr>
        <p:spPr>
          <a:xfrm>
            <a:off x="785238" y="1151545"/>
            <a:ext cx="4386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latin typeface="Baskerville" panose="02020502070401020303" pitchFamily="18" charset="0"/>
                <a:ea typeface="Baskerville" panose="02020502070401020303" pitchFamily="18" charset="0"/>
              </a:rPr>
              <a:t>Nuestra realidad es más compleja…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3BF261-3030-A916-7E58-156AA1D72EF3}"/>
              </a:ext>
            </a:extLst>
          </p:cNvPr>
          <p:cNvSpPr txBox="1"/>
          <p:nvPr/>
        </p:nvSpPr>
        <p:spPr>
          <a:xfrm>
            <a:off x="585513" y="5473375"/>
            <a:ext cx="25891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MODELO FINAL CON 7 PARÁMETROS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C8D168-6BA3-131D-A6DA-682F34301B16}"/>
                  </a:ext>
                </a:extLst>
              </p:cNvPr>
              <p:cNvSpPr txBox="1"/>
              <p:nvPr/>
            </p:nvSpPr>
            <p:spPr>
              <a:xfrm>
                <a:off x="585513" y="5698935"/>
                <a:ext cx="55617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cs-CZ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cs-CZ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cs-CZ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b="0" i="1" smtClean="0">
                                  <a:latin typeface="Cambria Math" panose="02040503050406030204" pitchFamily="18" charset="0"/>
                                </a:rPr>
                                <m:t>𝑟𝑡</m:t>
                              </m:r>
                              <m:r>
                                <a:rPr lang="cs-CZ" b="0" i="1" baseline="-2500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func>
                      <m:r>
                        <a:rPr lang="cs-CZ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𝑢𝑜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𝑤𝑜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𝑐𝑜𝑛𝑑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𝑐𝑜𝑑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cs-CZ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 </m:t>
                      </m:r>
                      <m:r>
                        <a:rPr lang="cs-C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C8D168-6BA3-131D-A6DA-682F34301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13" y="5698935"/>
                <a:ext cx="5561715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7EC8389E-4F13-87D9-2F52-1E5198445B9C}"/>
              </a:ext>
            </a:extLst>
          </p:cNvPr>
          <p:cNvSpPr txBox="1"/>
          <p:nvPr/>
        </p:nvSpPr>
        <p:spPr>
          <a:xfrm>
            <a:off x="10472560" y="1759027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2.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91145C-6951-A05F-B4B8-50C40E8F11AB}"/>
              </a:ext>
            </a:extLst>
          </p:cNvPr>
          <p:cNvSpPr txBox="1"/>
          <p:nvPr/>
        </p:nvSpPr>
        <p:spPr>
          <a:xfrm>
            <a:off x="10472560" y="2472122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4.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62B647-DA94-87EF-1AAE-8E1DD198DE0E}"/>
              </a:ext>
            </a:extLst>
          </p:cNvPr>
          <p:cNvSpPr txBox="1"/>
          <p:nvPr/>
        </p:nvSpPr>
        <p:spPr>
          <a:xfrm>
            <a:off x="10472560" y="2892543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5.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714706-111A-73E6-5A6E-697F55BD38E9}"/>
              </a:ext>
            </a:extLst>
          </p:cNvPr>
          <p:cNvSpPr txBox="1"/>
          <p:nvPr/>
        </p:nvSpPr>
        <p:spPr>
          <a:xfrm>
            <a:off x="10472560" y="3542689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6.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0DDAED-724C-B922-29ED-2FEB07F837E1}"/>
              </a:ext>
            </a:extLst>
          </p:cNvPr>
          <p:cNvSpPr txBox="1"/>
          <p:nvPr/>
        </p:nvSpPr>
        <p:spPr>
          <a:xfrm>
            <a:off x="10459853" y="3898597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7.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4A70C2-D7C1-A93C-2464-D67A1ED7D792}"/>
              </a:ext>
            </a:extLst>
          </p:cNvPr>
          <p:cNvSpPr txBox="1"/>
          <p:nvPr/>
        </p:nvSpPr>
        <p:spPr>
          <a:xfrm>
            <a:off x="10472560" y="2112144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3.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BFC932-1697-B62C-C34D-4DD8C470508C}"/>
              </a:ext>
            </a:extLst>
          </p:cNvPr>
          <p:cNvSpPr txBox="1"/>
          <p:nvPr/>
        </p:nvSpPr>
        <p:spPr>
          <a:xfrm>
            <a:off x="10510322" y="4645354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8. </a:t>
            </a:r>
          </a:p>
        </p:txBody>
      </p:sp>
    </p:spTree>
    <p:extLst>
      <p:ext uri="{BB962C8B-B14F-4D97-AF65-F5344CB8AC3E}">
        <p14:creationId xmlns:p14="http://schemas.microsoft.com/office/powerpoint/2010/main" val="12266265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E5BF4EAD-99DA-D90D-97E5-70C55A5E8DA2}"/>
              </a:ext>
            </a:extLst>
          </p:cNvPr>
          <p:cNvSpPr/>
          <p:nvPr/>
        </p:nvSpPr>
        <p:spPr>
          <a:xfrm>
            <a:off x="1029585" y="1516350"/>
            <a:ext cx="9480737" cy="3983113"/>
          </a:xfrm>
          <a:prstGeom prst="rect">
            <a:avLst/>
          </a:prstGeom>
          <a:solidFill>
            <a:schemeClr val="accent1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DEF8B41-174F-9E79-A058-A3EB86BEECBB}"/>
              </a:ext>
            </a:extLst>
          </p:cNvPr>
          <p:cNvSpPr/>
          <p:nvPr/>
        </p:nvSpPr>
        <p:spPr>
          <a:xfrm>
            <a:off x="3349856" y="2118388"/>
            <a:ext cx="6241945" cy="2673413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FE1CF-DFD2-13B3-040A-1C57EE23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27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D73CE48-D701-8CFC-6AFD-741BDD1BA2E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27</a:t>
            </a:fld>
            <a:endParaRPr lang="es-E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12097B6-DCE4-1744-5F95-E99BF029BD1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27</a:t>
            </a:fld>
            <a:endParaRPr lang="es-ES"/>
          </a:p>
        </p:txBody>
      </p:sp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7E7F66A3-AE44-FEF1-4F2E-6A7C2AF65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27</a:t>
            </a:fld>
            <a:endParaRPr lang="es-ES" dirty="0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6564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C8D168-6BA3-131D-A6DA-682F34301B16}"/>
                  </a:ext>
                </a:extLst>
              </p:cNvPr>
              <p:cNvSpPr txBox="1"/>
              <p:nvPr/>
            </p:nvSpPr>
            <p:spPr>
              <a:xfrm>
                <a:off x="3349856" y="2481908"/>
                <a:ext cx="43684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cs-CZ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cs-CZ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sz="1400" b="0" i="1" smtClean="0">
                                  <a:latin typeface="Cambria Math" panose="02040503050406030204" pitchFamily="18" charset="0"/>
                                </a:rPr>
                                <m:t>𝑟𝑡</m:t>
                              </m:r>
                              <m:r>
                                <a:rPr lang="cs-CZ" sz="1400" b="0" i="1" baseline="-2500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func>
                      <m:r>
                        <a:rPr lang="cs-CZ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sz="140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𝑢𝑜</m:t>
                      </m:r>
                      <m:r>
                        <a:rPr lang="cs-CZ" sz="14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𝑤𝑜</m:t>
                      </m:r>
                      <m:r>
                        <a:rPr lang="cs-CZ" sz="14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cs-CZ" sz="14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𝑐𝑜𝑛𝑑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𝑐𝑜𝑑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cs-CZ" sz="14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cs-CZ" sz="14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 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C8D168-6BA3-131D-A6DA-682F34301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856" y="2481908"/>
                <a:ext cx="4368440" cy="307777"/>
              </a:xfrm>
              <a:prstGeom prst="rect">
                <a:avLst/>
              </a:prstGeom>
              <a:blipFill>
                <a:blip r:embed="rId5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 descr="A drawing of a person holding a shield and a graph&#10;&#10;Description automatically generated">
            <a:extLst>
              <a:ext uri="{FF2B5EF4-FFF2-40B4-BE49-F238E27FC236}">
                <a16:creationId xmlns:a16="http://schemas.microsoft.com/office/drawing/2014/main" id="{485A79F4-EAB0-A895-B953-A595BBB0C13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>
            <a:off x="11077303" y="5143242"/>
            <a:ext cx="1057531" cy="1653960"/>
          </a:xfrm>
          <a:prstGeom prst="rect">
            <a:avLst/>
          </a:prstGeom>
        </p:spPr>
      </p:pic>
      <p:sp>
        <p:nvSpPr>
          <p:cNvPr id="22" name="CuadroTexto 24">
            <a:extLst>
              <a:ext uri="{FF2B5EF4-FFF2-40B4-BE49-F238E27FC236}">
                <a16:creationId xmlns:a16="http://schemas.microsoft.com/office/drawing/2014/main" id="{01C88DF5-6901-C7F6-2B13-AE017DBB4CF0}"/>
              </a:ext>
            </a:extLst>
          </p:cNvPr>
          <p:cNvSpPr txBox="1"/>
          <p:nvPr/>
        </p:nvSpPr>
        <p:spPr>
          <a:xfrm>
            <a:off x="3320011" y="3330290"/>
            <a:ext cx="58018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p-</a:t>
            </a:r>
            <a:r>
              <a:rPr lang="es-ES" sz="10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values</a:t>
            </a:r>
            <a:r>
              <a:rPr lang="es-ES" sz="1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 ← </a:t>
            </a:r>
            <a:r>
              <a:rPr lang="es-ES" sz="10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lmer</a:t>
            </a:r>
            <a:r>
              <a:rPr lang="es-ES" sz="1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(log(</a:t>
            </a:r>
            <a:r>
              <a:rPr lang="es-ES" sz="10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rt</a:t>
            </a:r>
            <a:r>
              <a:rPr lang="es-ES" sz="1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) ~ 1 + </a:t>
            </a:r>
            <a:r>
              <a:rPr lang="es-ES" sz="10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cond.cod</a:t>
            </a:r>
            <a:r>
              <a:rPr lang="es-ES" sz="1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 + (1 + </a:t>
            </a:r>
            <a:r>
              <a:rPr lang="es-ES" sz="10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cond.cod|subj</a:t>
            </a:r>
            <a:r>
              <a:rPr lang="es-ES" sz="10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) + (1|item))</a:t>
            </a:r>
            <a:endParaRPr lang="es-ES" sz="1000" dirty="0"/>
          </a:p>
        </p:txBody>
      </p:sp>
      <p:sp>
        <p:nvSpPr>
          <p:cNvPr id="24" name="CuadroTexto 27">
            <a:extLst>
              <a:ext uri="{FF2B5EF4-FFF2-40B4-BE49-F238E27FC236}">
                <a16:creationId xmlns:a16="http://schemas.microsoft.com/office/drawing/2014/main" id="{B99CC504-82D5-7531-0B05-B3EA2EFFB95F}"/>
              </a:ext>
            </a:extLst>
          </p:cNvPr>
          <p:cNvSpPr txBox="1"/>
          <p:nvPr/>
        </p:nvSpPr>
        <p:spPr>
          <a:xfrm>
            <a:off x="3349859" y="2118388"/>
            <a:ext cx="2981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PASO I. GENERACIÓN DE DATOS</a:t>
            </a:r>
          </a:p>
        </p:txBody>
      </p:sp>
      <p:sp>
        <p:nvSpPr>
          <p:cNvPr id="25" name="CuadroTexto 30">
            <a:extLst>
              <a:ext uri="{FF2B5EF4-FFF2-40B4-BE49-F238E27FC236}">
                <a16:creationId xmlns:a16="http://schemas.microsoft.com/office/drawing/2014/main" id="{67EC8882-B538-D5C5-9388-602969A0808E}"/>
              </a:ext>
            </a:extLst>
          </p:cNvPr>
          <p:cNvSpPr txBox="1"/>
          <p:nvPr/>
        </p:nvSpPr>
        <p:spPr>
          <a:xfrm>
            <a:off x="3349859" y="2953222"/>
            <a:ext cx="47231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PASO II. REALIZACIÓN DEL TEST, EXTRAEMOS </a:t>
            </a:r>
            <a:r>
              <a:rPr lang="es-E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P-VALUES</a:t>
            </a:r>
          </a:p>
        </p:txBody>
      </p:sp>
      <p:sp>
        <p:nvSpPr>
          <p:cNvPr id="30" name="CuadroTexto 33">
            <a:extLst>
              <a:ext uri="{FF2B5EF4-FFF2-40B4-BE49-F238E27FC236}">
                <a16:creationId xmlns:a16="http://schemas.microsoft.com/office/drawing/2014/main" id="{0372ED79-C999-7D41-95E2-569A14254EF8}"/>
              </a:ext>
            </a:extLst>
          </p:cNvPr>
          <p:cNvSpPr txBox="1"/>
          <p:nvPr/>
        </p:nvSpPr>
        <p:spPr>
          <a:xfrm>
            <a:off x="3349856" y="3791402"/>
            <a:ext cx="38720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PASO III. REALIZAMOS NUMEROSAS SIMULACIONES</a:t>
            </a:r>
          </a:p>
        </p:txBody>
      </p:sp>
      <p:cxnSp>
        <p:nvCxnSpPr>
          <p:cNvPr id="31" name="Conector angular 35">
            <a:extLst>
              <a:ext uri="{FF2B5EF4-FFF2-40B4-BE49-F238E27FC236}">
                <a16:creationId xmlns:a16="http://schemas.microsoft.com/office/drawing/2014/main" id="{ECA1BDFE-A79E-5DBD-85B3-C1E68A22141C}"/>
              </a:ext>
            </a:extLst>
          </p:cNvPr>
          <p:cNvCxnSpPr>
            <a:cxnSpLocks/>
          </p:cNvCxnSpPr>
          <p:nvPr/>
        </p:nvCxnSpPr>
        <p:spPr>
          <a:xfrm flipH="1" flipV="1">
            <a:off x="7182461" y="2247721"/>
            <a:ext cx="890528" cy="1703395"/>
          </a:xfrm>
          <a:prstGeom prst="bentConnector3">
            <a:avLst>
              <a:gd name="adj1" fmla="val -10330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uadroTexto 38">
            <a:extLst>
              <a:ext uri="{FF2B5EF4-FFF2-40B4-BE49-F238E27FC236}">
                <a16:creationId xmlns:a16="http://schemas.microsoft.com/office/drawing/2014/main" id="{74CADEF5-220A-5F07-7D28-F0CF097BE604}"/>
              </a:ext>
            </a:extLst>
          </p:cNvPr>
          <p:cNvSpPr txBox="1"/>
          <p:nvPr/>
        </p:nvSpPr>
        <p:spPr>
          <a:xfrm rot="5400000">
            <a:off x="8484854" y="2831448"/>
            <a:ext cx="1690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dirty="0">
                <a:solidFill>
                  <a:schemeClr val="accent2">
                    <a:lumMod val="7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1000</a:t>
            </a:r>
          </a:p>
          <a:p>
            <a:pPr algn="ctr"/>
            <a:r>
              <a:rPr lang="es-ES" sz="1400" dirty="0">
                <a:solidFill>
                  <a:schemeClr val="accent2">
                    <a:lumMod val="7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simulaciones</a:t>
            </a:r>
            <a:endParaRPr lang="es-E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3" name="CuadroTexto 39">
            <a:extLst>
              <a:ext uri="{FF2B5EF4-FFF2-40B4-BE49-F238E27FC236}">
                <a16:creationId xmlns:a16="http://schemas.microsoft.com/office/drawing/2014/main" id="{4D6FF084-EFFE-0CDC-E0C4-74A6205FA149}"/>
              </a:ext>
            </a:extLst>
          </p:cNvPr>
          <p:cNvSpPr txBox="1"/>
          <p:nvPr/>
        </p:nvSpPr>
        <p:spPr>
          <a:xfrm>
            <a:off x="3349856" y="4201575"/>
            <a:ext cx="38720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PASO IV. CALCULAR LA POTENCIA</a:t>
            </a:r>
          </a:p>
        </p:txBody>
      </p:sp>
      <p:sp>
        <p:nvSpPr>
          <p:cNvPr id="34" name="CuadroTexto 40">
            <a:extLst>
              <a:ext uri="{FF2B5EF4-FFF2-40B4-BE49-F238E27FC236}">
                <a16:creationId xmlns:a16="http://schemas.microsoft.com/office/drawing/2014/main" id="{1D57032C-4197-6E6C-9C0E-7A388BE6E288}"/>
              </a:ext>
            </a:extLst>
          </p:cNvPr>
          <p:cNvSpPr txBox="1"/>
          <p:nvPr/>
        </p:nvSpPr>
        <p:spPr>
          <a:xfrm>
            <a:off x="3349860" y="4484024"/>
            <a:ext cx="4095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power</a:t>
            </a: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 ← (</a:t>
            </a: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p-</a:t>
            </a:r>
            <a:r>
              <a:rPr lang="es-E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values</a:t>
            </a: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 &lt; </a:t>
            </a:r>
            <a:r>
              <a:rPr lang="es-ES" sz="1400" dirty="0">
                <a:solidFill>
                  <a:schemeClr val="accent6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0.05</a:t>
            </a: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)/</a:t>
            </a:r>
            <a:r>
              <a:rPr lang="es-ES" sz="1400" dirty="0">
                <a:solidFill>
                  <a:schemeClr val="accent2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1000</a:t>
            </a:r>
            <a:endParaRPr lang="es-E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8A0007-B599-E379-8E0C-6E3F1B8BE9AC}"/>
              </a:ext>
            </a:extLst>
          </p:cNvPr>
          <p:cNvSpPr txBox="1"/>
          <p:nvPr/>
        </p:nvSpPr>
        <p:spPr>
          <a:xfrm>
            <a:off x="1213185" y="1656251"/>
            <a:ext cx="6806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Para posibles tamaños de efecto y posibles tamaños muestrales, repite: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89C294-212E-A8AB-0661-79C4DAC6216E}"/>
              </a:ext>
            </a:extLst>
          </p:cNvPr>
          <p:cNvSpPr txBox="1"/>
          <p:nvPr/>
        </p:nvSpPr>
        <p:spPr>
          <a:xfrm>
            <a:off x="1213184" y="4916534"/>
            <a:ext cx="4882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Tabla de potencias estadísticas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13A82DD-A6B8-BAB7-5E9B-E29A0BDCE859}"/>
              </a:ext>
            </a:extLst>
          </p:cNvPr>
          <p:cNvCxnSpPr/>
          <p:nvPr/>
        </p:nvCxnSpPr>
        <p:spPr>
          <a:xfrm>
            <a:off x="6700317" y="4615257"/>
            <a:ext cx="7445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DE303DB-0BCF-4F34-1FF6-954299518251}"/>
              </a:ext>
            </a:extLst>
          </p:cNvPr>
          <p:cNvCxnSpPr>
            <a:cxnSpLocks/>
          </p:cNvCxnSpPr>
          <p:nvPr/>
        </p:nvCxnSpPr>
        <p:spPr>
          <a:xfrm>
            <a:off x="7444531" y="4615257"/>
            <a:ext cx="0" cy="4926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37F3D40-284A-FF1F-A932-1F726D9717E9}"/>
              </a:ext>
            </a:extLst>
          </p:cNvPr>
          <p:cNvCxnSpPr>
            <a:cxnSpLocks/>
          </p:cNvCxnSpPr>
          <p:nvPr/>
        </p:nvCxnSpPr>
        <p:spPr>
          <a:xfrm flipH="1" flipV="1">
            <a:off x="4451461" y="5107944"/>
            <a:ext cx="2993070" cy="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4CEBE2B-13D7-7A8D-F887-A667CEC9E1CD}"/>
              </a:ext>
            </a:extLst>
          </p:cNvPr>
          <p:cNvSpPr txBox="1"/>
          <p:nvPr/>
        </p:nvSpPr>
        <p:spPr>
          <a:xfrm>
            <a:off x="974368" y="890351"/>
            <a:ext cx="7430044" cy="463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800" i="1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8. </a:t>
            </a:r>
            <a:r>
              <a:rPr lang="es-ES_tradnl" sz="1800" i="1" dirty="0">
                <a:solidFill>
                  <a:srgbClr val="C00000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</a:t>
            </a:r>
            <a:r>
              <a:rPr lang="es-ES_tradnl" i="1" dirty="0">
                <a:solidFill>
                  <a:srgbClr val="C00000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C</a:t>
            </a:r>
            <a:r>
              <a:rPr lang="es-ES_tradnl" sz="1800" i="1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uántos datos debemos recoger y para qué tamaños de efecto?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7F98C9-5295-489C-E94B-2ED9E9CF1883}"/>
              </a:ext>
            </a:extLst>
          </p:cNvPr>
          <p:cNvSpPr txBox="1"/>
          <p:nvPr/>
        </p:nvSpPr>
        <p:spPr>
          <a:xfrm>
            <a:off x="10510322" y="1061815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8.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C99103-F196-5CC9-0A95-9471D2D9DDD2}"/>
              </a:ext>
            </a:extLst>
          </p:cNvPr>
          <p:cNvSpPr txBox="1"/>
          <p:nvPr/>
        </p:nvSpPr>
        <p:spPr>
          <a:xfrm rot="16200000">
            <a:off x="2637737" y="2417784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BUCLE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F9B881-44D5-EBD0-6D30-1760F07B15D9}"/>
              </a:ext>
            </a:extLst>
          </p:cNvPr>
          <p:cNvSpPr txBox="1"/>
          <p:nvPr/>
        </p:nvSpPr>
        <p:spPr>
          <a:xfrm rot="16200000">
            <a:off x="356559" y="1802852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BUCLE 2</a:t>
            </a:r>
          </a:p>
        </p:txBody>
      </p:sp>
    </p:spTree>
    <p:extLst>
      <p:ext uri="{BB962C8B-B14F-4D97-AF65-F5344CB8AC3E}">
        <p14:creationId xmlns:p14="http://schemas.microsoft.com/office/powerpoint/2010/main" val="25463110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FE1CF-DFD2-13B3-040A-1C57EE23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28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D73CE48-D701-8CFC-6AFD-741BDD1BA2E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28</a:t>
            </a:fld>
            <a:endParaRPr lang="es-E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12097B6-DCE4-1744-5F95-E99BF029BD1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28</a:t>
            </a:fld>
            <a:endParaRPr lang="es-ES"/>
          </a:p>
        </p:txBody>
      </p:sp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7E7F66A3-AE44-FEF1-4F2E-6A7C2AF65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28</a:t>
            </a:fld>
            <a:endParaRPr lang="es-ES" dirty="0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6564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drawing of a person holding a shield and a graph&#10;&#10;Description automatically generated">
            <a:extLst>
              <a:ext uri="{FF2B5EF4-FFF2-40B4-BE49-F238E27FC236}">
                <a16:creationId xmlns:a16="http://schemas.microsoft.com/office/drawing/2014/main" id="{485A79F4-EAB0-A895-B953-A595BBB0C13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11077303" y="5143242"/>
            <a:ext cx="1057531" cy="16539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0B2DBD-A578-3BBD-1EC5-AC6115B4A903}"/>
              </a:ext>
            </a:extLst>
          </p:cNvPr>
          <p:cNvSpPr txBox="1"/>
          <p:nvPr/>
        </p:nvSpPr>
        <p:spPr>
          <a:xfrm>
            <a:off x="974367" y="890351"/>
            <a:ext cx="8138635" cy="46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800" i="1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8. </a:t>
            </a:r>
            <a:r>
              <a:rPr lang="es-ES_tradnl" sz="1800" i="1" dirty="0">
                <a:solidFill>
                  <a:srgbClr val="C00000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</a:t>
            </a:r>
            <a:r>
              <a:rPr lang="es-ES_tradnl" i="1" dirty="0">
                <a:solidFill>
                  <a:srgbClr val="C00000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C</a:t>
            </a:r>
            <a:r>
              <a:rPr lang="es-ES_tradnl" sz="1800" i="1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uántos datos debemos recoger?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224EA4-C1C5-BB6E-F23A-657C57BA235C}"/>
              </a:ext>
            </a:extLst>
          </p:cNvPr>
          <p:cNvSpPr txBox="1"/>
          <p:nvPr/>
        </p:nvSpPr>
        <p:spPr>
          <a:xfrm>
            <a:off x="10510322" y="1061815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8. </a:t>
            </a:r>
          </a:p>
        </p:txBody>
      </p:sp>
      <p:pic>
        <p:nvPicPr>
          <p:cNvPr id="16" name="Picture 15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47F318C3-7A0A-BD18-F187-C31F8D1D21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1461" y="1485683"/>
            <a:ext cx="5788212" cy="438340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570E05E-6488-5E61-E631-8515EC3D14CB}"/>
              </a:ext>
            </a:extLst>
          </p:cNvPr>
          <p:cNvSpPr txBox="1"/>
          <p:nvPr/>
        </p:nvSpPr>
        <p:spPr>
          <a:xfrm>
            <a:off x="1047490" y="1650570"/>
            <a:ext cx="24409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8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</a:t>
            </a:r>
            <a:r>
              <a:rPr lang="es-ES_tradnl" dirty="0">
                <a:latin typeface="Baskerville" panose="02020502070401020303" pitchFamily="18" charset="0"/>
                <a:ea typeface="Baskerville" panose="02020502070401020303" pitchFamily="18" charset="0"/>
              </a:rPr>
              <a:t>Cuántos participantes necesito para diferentes tamaños de efecto?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D9EA96-BE3A-DFE0-1197-25DC45909045}"/>
              </a:ext>
            </a:extLst>
          </p:cNvPr>
          <p:cNvSpPr txBox="1"/>
          <p:nvPr/>
        </p:nvSpPr>
        <p:spPr>
          <a:xfrm>
            <a:off x="4451461" y="5872967"/>
            <a:ext cx="21249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i="1" dirty="0">
                <a:latin typeface="Baskerville" panose="02020502070401020303" pitchFamily="18" charset="0"/>
                <a:ea typeface="Baskerville" panose="02020502070401020303" pitchFamily="18" charset="0"/>
              </a:rPr>
              <a:t>Nota. </a:t>
            </a:r>
            <a:r>
              <a:rPr lang="es-ES_tradnl" sz="1200" dirty="0">
                <a:latin typeface="Baskerville" panose="02020502070401020303" pitchFamily="18" charset="0"/>
                <a:ea typeface="Baskerville" panose="02020502070401020303" pitchFamily="18" charset="0"/>
              </a:rPr>
              <a:t>40 ensayos por condición</a:t>
            </a:r>
          </a:p>
        </p:txBody>
      </p:sp>
    </p:spTree>
    <p:extLst>
      <p:ext uri="{BB962C8B-B14F-4D97-AF65-F5344CB8AC3E}">
        <p14:creationId xmlns:p14="http://schemas.microsoft.com/office/powerpoint/2010/main" val="33381249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FE1CF-DFD2-13B3-040A-1C57EE23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847C6-19F4-3E4D-ABC0-9E12ED31ABB9}" type="slidenum">
              <a:rPr lang="es-ES" smtClean="0"/>
              <a:t>29</a:t>
            </a:fld>
            <a:endParaRPr lang="es-ES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D73CE48-D701-8CFC-6AFD-741BDD1BA2E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29</a:t>
            </a:fld>
            <a:endParaRPr lang="es-E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12097B6-DCE4-1744-5F95-E99BF029BD1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D847C6-19F4-3E4D-ABC0-9E12ED31ABB9}" type="slidenum">
              <a:rPr lang="es-ES" smtClean="0"/>
              <a:pPr/>
              <a:t>29</a:t>
            </a:fld>
            <a:endParaRPr lang="es-ES"/>
          </a:p>
        </p:txBody>
      </p:sp>
      <p:pic>
        <p:nvPicPr>
          <p:cNvPr id="6" name="Imagen 8">
            <a:extLst>
              <a:ext uri="{FF2B5EF4-FFF2-40B4-BE49-F238E27FC236}">
                <a16:creationId xmlns:a16="http://schemas.microsoft.com/office/drawing/2014/main" id="{94EB3DD3-BE08-CF52-6D6D-867486555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801" y="6232431"/>
            <a:ext cx="687653" cy="343827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7E7F66A3-AE44-FEF1-4F2E-6A7C2AF65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727" y="6225441"/>
            <a:ext cx="1256612" cy="349276"/>
          </a:xfrm>
          <a:prstGeom prst="rect">
            <a:avLst/>
          </a:prstGeom>
        </p:spPr>
      </p:pic>
      <p:pic>
        <p:nvPicPr>
          <p:cNvPr id="8" name="Imagen 10">
            <a:extLst>
              <a:ext uri="{FF2B5EF4-FFF2-40B4-BE49-F238E27FC236}">
                <a16:creationId xmlns:a16="http://schemas.microsoft.com/office/drawing/2014/main" id="{DB43BAD5-508E-B791-DD1C-8BC82FD26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565" y="6242053"/>
            <a:ext cx="1397327" cy="361958"/>
          </a:xfrm>
          <a:prstGeom prst="rect">
            <a:avLst/>
          </a:prstGeom>
        </p:spPr>
      </p:pic>
      <p:sp>
        <p:nvSpPr>
          <p:cNvPr id="9" name="Marcador de pie de página 12">
            <a:extLst>
              <a:ext uri="{FF2B5EF4-FFF2-40B4-BE49-F238E27FC236}">
                <a16:creationId xmlns:a16="http://schemas.microsoft.com/office/drawing/2014/main" id="{22EDCABE-B436-DB73-B543-0960ABE512D9}"/>
              </a:ext>
            </a:extLst>
          </p:cNvPr>
          <p:cNvSpPr txBox="1">
            <a:spLocks/>
          </p:cNvSpPr>
          <p:nvPr/>
        </p:nvSpPr>
        <p:spPr>
          <a:xfrm>
            <a:off x="336661" y="62832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>
                <a:latin typeface="Arial Nova" panose="020B0504020202020204" pitchFamily="34" charset="0"/>
              </a:rPr>
              <a:t>Curso de análisis de potencia estadística</a:t>
            </a:r>
          </a:p>
        </p:txBody>
      </p:sp>
      <p:sp>
        <p:nvSpPr>
          <p:cNvPr id="10" name="Marcador de número de diapositiva 13">
            <a:extLst>
              <a:ext uri="{FF2B5EF4-FFF2-40B4-BE49-F238E27FC236}">
                <a16:creationId xmlns:a16="http://schemas.microsoft.com/office/drawing/2014/main" id="{086F554C-E07A-D06F-23F0-7CFB5DE5FEF4}"/>
              </a:ext>
            </a:extLst>
          </p:cNvPr>
          <p:cNvSpPr txBox="1">
            <a:spLocks/>
          </p:cNvSpPr>
          <p:nvPr/>
        </p:nvSpPr>
        <p:spPr>
          <a:xfrm>
            <a:off x="5671457" y="6283277"/>
            <a:ext cx="838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D847C6-19F4-3E4D-ABC0-9E12ED31ABB9}" type="slidenum">
              <a:rPr lang="es-ES" smtClean="0"/>
              <a:pPr algn="ctr"/>
              <a:t>29</a:t>
            </a:fld>
            <a:endParaRPr lang="es-ES" dirty="0"/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DEBA4924-FAC6-9FC0-322B-95319F45A65F}"/>
              </a:ext>
            </a:extLst>
          </p:cNvPr>
          <p:cNvSpPr txBox="1"/>
          <p:nvPr/>
        </p:nvSpPr>
        <p:spPr>
          <a:xfrm>
            <a:off x="522987" y="421675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|</a:t>
            </a:r>
            <a:endParaRPr lang="es-ES_tradnl" sz="1000" b="1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5">
            <a:extLst>
              <a:ext uri="{FF2B5EF4-FFF2-40B4-BE49-F238E27FC236}">
                <a16:creationId xmlns:a16="http://schemas.microsoft.com/office/drawing/2014/main" id="{3B5AE662-D11C-E713-0561-3669847A5111}"/>
              </a:ext>
            </a:extLst>
          </p:cNvPr>
          <p:cNvSpPr txBox="1"/>
          <p:nvPr/>
        </p:nvSpPr>
        <p:spPr>
          <a:xfrm>
            <a:off x="1029585" y="430730"/>
            <a:ext cx="6564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Análisis de poder para diseños más complejos · </a:t>
            </a:r>
            <a:r>
              <a:rPr lang="es-ES_tradnl" i="1" dirty="0">
                <a:solidFill>
                  <a:srgbClr val="C00000"/>
                </a:solidFill>
                <a:latin typeface="Times New Roman" panose="02020603050405020304" pitchFamily="18" charset="0"/>
                <a:ea typeface="Baskerville" panose="02020502070401020303" pitchFamily="18" charset="0"/>
                <a:cs typeface="Times New Roman" panose="02020603050405020304" pitchFamily="18" charset="0"/>
              </a:rPr>
              <a:t>Simulación de datos</a:t>
            </a:r>
            <a:endParaRPr lang="es-ES_tradnl" sz="2000" i="1" dirty="0">
              <a:solidFill>
                <a:schemeClr val="accent2">
                  <a:lumMod val="75000"/>
                </a:schemeClr>
              </a:solidFill>
              <a:latin typeface="Baskerville" panose="02020502070401020303" pitchFamily="18" charset="0"/>
              <a:ea typeface="Baskerville" panose="02020502070401020303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drawing of a person holding a shield and a graph&#10;&#10;Description automatically generated">
            <a:extLst>
              <a:ext uri="{FF2B5EF4-FFF2-40B4-BE49-F238E27FC236}">
                <a16:creationId xmlns:a16="http://schemas.microsoft.com/office/drawing/2014/main" id="{485A79F4-EAB0-A895-B953-A595BBB0C13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11077303" y="5143242"/>
            <a:ext cx="1057531" cy="16539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0B2DBD-A578-3BBD-1EC5-AC6115B4A903}"/>
              </a:ext>
            </a:extLst>
          </p:cNvPr>
          <p:cNvSpPr txBox="1"/>
          <p:nvPr/>
        </p:nvSpPr>
        <p:spPr>
          <a:xfrm>
            <a:off x="974368" y="890351"/>
            <a:ext cx="7430044" cy="463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800" i="1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8. </a:t>
            </a:r>
            <a:r>
              <a:rPr lang="es-ES_tradnl" sz="1800" i="1" dirty="0">
                <a:solidFill>
                  <a:srgbClr val="C00000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¿</a:t>
            </a:r>
            <a:r>
              <a:rPr lang="es-ES_tradnl" i="1" dirty="0">
                <a:solidFill>
                  <a:srgbClr val="C00000"/>
                </a:solidFill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C</a:t>
            </a:r>
            <a:r>
              <a:rPr lang="es-ES_tradnl" sz="1800" i="1" dirty="0">
                <a:solidFill>
                  <a:srgbClr val="C00000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uántos datos debemos recoger?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224EA4-C1C5-BB6E-F23A-657C57BA235C}"/>
              </a:ext>
            </a:extLst>
          </p:cNvPr>
          <p:cNvSpPr txBox="1"/>
          <p:nvPr/>
        </p:nvSpPr>
        <p:spPr>
          <a:xfrm>
            <a:off x="10510322" y="1061815"/>
            <a:ext cx="171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 script 8.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B16A15-2EC7-45C5-9F9E-15E6DAEA8319}"/>
              </a:ext>
            </a:extLst>
          </p:cNvPr>
          <p:cNvSpPr txBox="1"/>
          <p:nvPr/>
        </p:nvSpPr>
        <p:spPr>
          <a:xfrm>
            <a:off x="1109483" y="1787938"/>
            <a:ext cx="31835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800" dirty="0">
                <a:effectLst/>
                <a:latin typeface="Baskerville" panose="02020502070401020303" pitchFamily="18" charset="0"/>
                <a:ea typeface="Baskerville" panose="02020502070401020303" pitchFamily="18" charset="0"/>
              </a:rPr>
              <a:t>Si el tamaño de efecto fuese pequeño… ¿qué combinación de </a:t>
            </a:r>
            <a:r>
              <a:rPr lang="es-ES_tradnl" dirty="0">
                <a:latin typeface="Baskerville" panose="02020502070401020303" pitchFamily="18" charset="0"/>
                <a:ea typeface="Baskerville" panose="02020502070401020303" pitchFamily="18" charset="0"/>
              </a:rPr>
              <a:t> participantes/ensayos es la óptima? </a:t>
            </a:r>
          </a:p>
          <a:p>
            <a:endParaRPr lang="es-ES_tradnl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(SESOI, recursos disponibles)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9F7D2AD-6413-5CD2-896F-36A5A69974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683" y="1215703"/>
            <a:ext cx="6018534" cy="484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1673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3546A63D-2CFD-8CFB-5599-4E0E8FE4F6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6" name="Grupo 25">
            <a:extLst>
              <a:ext uri="{FF2B5EF4-FFF2-40B4-BE49-F238E27FC236}">
                <a16:creationId xmlns:a16="http://schemas.microsoft.com/office/drawing/2014/main" id="{8A180CB6-8245-3AA0-C58B-227F5DE12D7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" y="5348941"/>
            <a:ext cx="12192000" cy="1509059"/>
            <a:chOff x="-1" y="5348941"/>
            <a:chExt cx="12192000" cy="1509059"/>
          </a:xfrm>
        </p:grpSpPr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F9CB0505-EB5A-07D6-CB72-0996C59A64E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0" y="5348941"/>
              <a:ext cx="12191999" cy="1509059"/>
              <a:chOff x="0" y="5348941"/>
              <a:chExt cx="12191999" cy="1509059"/>
            </a:xfrm>
          </p:grpSpPr>
          <p:sp>
            <p:nvSpPr>
              <p:cNvPr id="24" name="Triángulo 23">
                <a:extLst>
                  <a:ext uri="{FF2B5EF4-FFF2-40B4-BE49-F238E27FC236}">
                    <a16:creationId xmlns:a16="http://schemas.microsoft.com/office/drawing/2014/main" id="{8228780B-04CE-1CC6-D089-74569B81E99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flipH="1">
                <a:off x="0" y="5921281"/>
                <a:ext cx="8541172" cy="936719"/>
              </a:xfrm>
              <a:prstGeom prst="triangle">
                <a:avLst>
                  <a:gd name="adj" fmla="val 100000"/>
                </a:avLst>
              </a:prstGeom>
              <a:solidFill>
                <a:schemeClr val="bg2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23" name="Triángulo 22">
                <a:extLst>
                  <a:ext uri="{FF2B5EF4-FFF2-40B4-BE49-F238E27FC236}">
                    <a16:creationId xmlns:a16="http://schemas.microsoft.com/office/drawing/2014/main" id="{3C50AAFF-8B37-4D21-497C-00192AE4918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5348941"/>
                <a:ext cx="12191999" cy="1509059"/>
              </a:xfrm>
              <a:prstGeom prst="triangle">
                <a:avLst>
                  <a:gd name="adj" fmla="val 100000"/>
                </a:avLst>
              </a:prstGeom>
              <a:solidFill>
                <a:schemeClr val="bg2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22" name="Triángulo 21">
              <a:extLst>
                <a:ext uri="{FF2B5EF4-FFF2-40B4-BE49-F238E27FC236}">
                  <a16:creationId xmlns:a16="http://schemas.microsoft.com/office/drawing/2014/main" id="{39423FC1-936F-7D6A-A1F1-4095CFD6D76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" y="6073681"/>
              <a:ext cx="12191999" cy="784319"/>
            </a:xfrm>
            <a:prstGeom prst="triangle">
              <a:avLst>
                <a:gd name="adj" fmla="val 100000"/>
              </a:avLst>
            </a:prstGeom>
            <a:solidFill>
              <a:schemeClr val="bg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070ADF7-D3B4-615C-222A-3FF0159A1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69" y="1458288"/>
            <a:ext cx="5638800" cy="797242"/>
          </a:xfrm>
        </p:spPr>
        <p:txBody>
          <a:bodyPr>
            <a:normAutofit fontScale="90000"/>
          </a:bodyPr>
          <a:lstStyle/>
          <a:p>
            <a:pPr algn="l"/>
            <a:r>
              <a:rPr lang="es-ES" sz="3200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ova" panose="020B0504020202020204" pitchFamily="34" charset="0"/>
                <a:cs typeface="Arial Nova" panose="020F0502020204030204" pitchFamily="34" charset="0"/>
              </a:rPr>
              <a:t>Justificación del tamaño muestral y análisis de potencia estadística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17D4FB-5947-35BF-61C5-DB29112B8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346" y="2739819"/>
            <a:ext cx="5638800" cy="1509051"/>
          </a:xfrm>
        </p:spPr>
        <p:txBody>
          <a:bodyPr>
            <a:normAutofit/>
          </a:bodyPr>
          <a:lstStyle/>
          <a:p>
            <a:pPr algn="l"/>
            <a:r>
              <a:rPr lang="es-E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504020202020204" pitchFamily="34" charset="0"/>
              </a:rPr>
              <a:t>Impartido por: </a:t>
            </a:r>
            <a:r>
              <a:rPr lang="es-ES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Light" panose="020B0504020202020204" pitchFamily="34" charset="0"/>
              </a:rPr>
              <a:t>David López-García, Filip Andras y David Sánchez Casasola</a:t>
            </a:r>
          </a:p>
          <a:p>
            <a:pPr algn="l"/>
            <a:r>
              <a:rPr lang="es-ES" sz="1400" i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 Nova Light" panose="020B0504020202020204" pitchFamily="34" charset="0"/>
              </a:rPr>
              <a:t>v.2026–01</a:t>
            </a:r>
          </a:p>
        </p:txBody>
      </p:sp>
      <p:pic>
        <p:nvPicPr>
          <p:cNvPr id="6" name="Imagen 5" descr="Vista de un edificio&#10;&#10;El contenido generado por IA puede ser incorrecto.">
            <a:extLst>
              <a:ext uri="{FF2B5EF4-FFF2-40B4-BE49-F238E27FC236}">
                <a16:creationId xmlns:a16="http://schemas.microsoft.com/office/drawing/2014/main" id="{25DA7C1B-72D2-3F7F-66E7-CC608BA75A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41172" y="1381760"/>
            <a:ext cx="3650827" cy="547624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8B82671-ED85-DF11-3A4F-C8B264317E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2765" y="6075222"/>
            <a:ext cx="898162" cy="44908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87E4AADD-79BB-565E-9852-7610A7E21F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8146" y="6073681"/>
            <a:ext cx="1615685" cy="44908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2DA8B2F6-A1BD-D21D-0A46-A8AE6FE0ED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5936" y="6073681"/>
            <a:ext cx="1739610" cy="450622"/>
          </a:xfrm>
          <a:prstGeom prst="rect">
            <a:avLst/>
          </a:prstGeom>
        </p:spPr>
      </p:pic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DBC46A6-CD56-E099-D7B5-9B3BD4A71D86}"/>
              </a:ext>
            </a:extLst>
          </p:cNvPr>
          <p:cNvCxnSpPr>
            <a:cxnSpLocks/>
          </p:cNvCxnSpPr>
          <p:nvPr/>
        </p:nvCxnSpPr>
        <p:spPr>
          <a:xfrm>
            <a:off x="914400" y="2442799"/>
            <a:ext cx="6858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upo 31">
            <a:extLst>
              <a:ext uri="{FF2B5EF4-FFF2-40B4-BE49-F238E27FC236}">
                <a16:creationId xmlns:a16="http://schemas.microsoft.com/office/drawing/2014/main" id="{65ED23AD-DC17-F2F7-F249-D94F69BB9BD1}"/>
              </a:ext>
            </a:extLst>
          </p:cNvPr>
          <p:cNvGrpSpPr/>
          <p:nvPr/>
        </p:nvGrpSpPr>
        <p:grpSpPr>
          <a:xfrm>
            <a:off x="770469" y="4093066"/>
            <a:ext cx="2310321" cy="2372774"/>
            <a:chOff x="4530139" y="4124640"/>
            <a:chExt cx="2310321" cy="2372774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54B4C9B6-8E97-B0CE-1B1B-55B135E06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82391" y="5949457"/>
              <a:ext cx="243822" cy="214815"/>
            </a:xfrm>
            <a:prstGeom prst="rect">
              <a:avLst/>
            </a:prstGeom>
          </p:spPr>
        </p:pic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BFEB826F-D9C8-D316-BD1A-BA68190647CA}"/>
                </a:ext>
              </a:extLst>
            </p:cNvPr>
            <p:cNvSpPr txBox="1"/>
            <p:nvPr/>
          </p:nvSpPr>
          <p:spPr>
            <a:xfrm>
              <a:off x="4823561" y="5918176"/>
              <a:ext cx="123783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900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@</a:t>
              </a:r>
              <a:r>
                <a:rPr lang="es-ES" sz="900" err="1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cimcyc.bsky.social</a:t>
              </a:r>
              <a:endParaRPr lang="es-ES" sz="900">
                <a:solidFill>
                  <a:schemeClr val="bg2">
                    <a:lumMod val="25000"/>
                  </a:schemeClr>
                </a:solidFill>
                <a:latin typeface="Arial Nova" panose="020B0504020202020204" pitchFamily="34" charset="0"/>
              </a:endParaRPr>
            </a:p>
          </p:txBody>
        </p:sp>
        <p:pic>
          <p:nvPicPr>
            <p:cNvPr id="35" name="Imagen 34">
              <a:extLst>
                <a:ext uri="{FF2B5EF4-FFF2-40B4-BE49-F238E27FC236}">
                  <a16:creationId xmlns:a16="http://schemas.microsoft.com/office/drawing/2014/main" id="{4F2374A2-02B6-4973-7E28-A78191CCF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596894" y="6269239"/>
              <a:ext cx="214815" cy="214815"/>
            </a:xfrm>
            <a:prstGeom prst="rect">
              <a:avLst/>
            </a:prstGeom>
          </p:spPr>
        </p:pic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EA5DD1A4-0114-3327-0201-282BC5E5C7FF}"/>
                </a:ext>
              </a:extLst>
            </p:cNvPr>
            <p:cNvSpPr txBox="1"/>
            <p:nvPr/>
          </p:nvSpPr>
          <p:spPr>
            <a:xfrm>
              <a:off x="4823561" y="6251193"/>
              <a:ext cx="5870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000" err="1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cimcyc</a:t>
              </a:r>
              <a:endParaRPr lang="es-ES" sz="1000">
                <a:solidFill>
                  <a:schemeClr val="bg2">
                    <a:lumMod val="25000"/>
                  </a:schemeClr>
                </a:solidFill>
                <a:latin typeface="Arial Nova" panose="020B0504020202020204" pitchFamily="34" charset="0"/>
              </a:endParaRPr>
            </a:p>
          </p:txBody>
        </p:sp>
        <p:pic>
          <p:nvPicPr>
            <p:cNvPr id="37" name="Imagen 36">
              <a:extLst>
                <a:ext uri="{FF2B5EF4-FFF2-40B4-BE49-F238E27FC236}">
                  <a16:creationId xmlns:a16="http://schemas.microsoft.com/office/drawing/2014/main" id="{0B01FB5D-F96A-AD51-A224-D470AE012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582391" y="5600668"/>
              <a:ext cx="243822" cy="243822"/>
            </a:xfrm>
            <a:prstGeom prst="rect">
              <a:avLst/>
            </a:prstGeom>
          </p:spPr>
        </p:pic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39B733D8-6E84-7928-7D90-AE595D918E9F}"/>
                </a:ext>
              </a:extLst>
            </p:cNvPr>
            <p:cNvSpPr txBox="1"/>
            <p:nvPr/>
          </p:nvSpPr>
          <p:spPr>
            <a:xfrm>
              <a:off x="4823561" y="5524403"/>
              <a:ext cx="20168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900" err="1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Brain</a:t>
              </a:r>
              <a:r>
                <a:rPr lang="es-ES" sz="900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, </a:t>
              </a:r>
              <a:r>
                <a:rPr lang="es-ES" sz="900" err="1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Mind</a:t>
              </a:r>
              <a:r>
                <a:rPr lang="es-ES" sz="900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 and </a:t>
              </a:r>
              <a:r>
                <a:rPr lang="es-ES" sz="900" err="1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Behavior</a:t>
              </a:r>
              <a:r>
                <a:rPr lang="es-ES" sz="900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 </a:t>
              </a:r>
              <a:r>
                <a:rPr lang="es-ES" sz="900" err="1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Research</a:t>
              </a:r>
              <a:r>
                <a:rPr lang="es-ES" sz="900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 </a:t>
              </a:r>
            </a:p>
            <a:p>
              <a:r>
                <a:rPr lang="es-ES" sz="900">
                  <a:solidFill>
                    <a:schemeClr val="bg2">
                      <a:lumMod val="25000"/>
                    </a:schemeClr>
                  </a:solidFill>
                  <a:latin typeface="Arial Nova" panose="020B0504020202020204" pitchFamily="34" charset="0"/>
                </a:rPr>
                <a:t>Center – CIMCYC</a:t>
              </a:r>
            </a:p>
          </p:txBody>
        </p:sp>
        <p:sp>
          <p:nvSpPr>
            <p:cNvPr id="39" name="Recortar rectángulo de esquina diagonal 38">
              <a:extLst>
                <a:ext uri="{FF2B5EF4-FFF2-40B4-BE49-F238E27FC236}">
                  <a16:creationId xmlns:a16="http://schemas.microsoft.com/office/drawing/2014/main" id="{4E61E078-81B3-05D8-33F1-BE828383D774}"/>
                </a:ext>
              </a:extLst>
            </p:cNvPr>
            <p:cNvSpPr/>
            <p:nvPr/>
          </p:nvSpPr>
          <p:spPr>
            <a:xfrm>
              <a:off x="4582391" y="5255728"/>
              <a:ext cx="1025033" cy="163708"/>
            </a:xfrm>
            <a:prstGeom prst="snip2DiagRect">
              <a:avLst/>
            </a:prstGeom>
            <a:solidFill>
              <a:srgbClr val="3D3D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err="1">
                  <a:latin typeface="Arial Nova" panose="020B0504020202020204" pitchFamily="34" charset="0"/>
                </a:rPr>
                <a:t>cimcyc.ugr.es</a:t>
              </a:r>
              <a:endParaRPr lang="es-ES" sz="1000">
                <a:latin typeface="Arial Nova" panose="020B0504020202020204" pitchFamily="34" charset="0"/>
              </a:endParaRPr>
            </a:p>
          </p:txBody>
        </p:sp>
        <p:pic>
          <p:nvPicPr>
            <p:cNvPr id="40" name="Imagen 39" descr="Código QR&#10;&#10;El contenido generado por IA puede ser incorrecto.">
              <a:extLst>
                <a:ext uri="{FF2B5EF4-FFF2-40B4-BE49-F238E27FC236}">
                  <a16:creationId xmlns:a16="http://schemas.microsoft.com/office/drawing/2014/main" id="{1C60578D-19FF-1C04-8AE7-016E40E0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530139" y="4124640"/>
              <a:ext cx="1129535" cy="11295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82351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36621</TotalTime>
  <Words>3600</Words>
  <Application>Microsoft Macintosh PowerPoint</Application>
  <PresentationFormat>Widescreen</PresentationFormat>
  <Paragraphs>550</Paragraphs>
  <Slides>30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Aptos</vt:lpstr>
      <vt:lpstr>Aptos Display</vt:lpstr>
      <vt:lpstr>Arial</vt:lpstr>
      <vt:lpstr>Arial Nova</vt:lpstr>
      <vt:lpstr>Arial Nova Light</vt:lpstr>
      <vt:lpstr>Baskerville</vt:lpstr>
      <vt:lpstr>Cambria Math</vt:lpstr>
      <vt:lpstr>Fira Code</vt:lpstr>
      <vt:lpstr>Helvetica Neue</vt:lpstr>
      <vt:lpstr>Roboto</vt:lpstr>
      <vt:lpstr>Times New Roman</vt:lpstr>
      <vt:lpstr>Tema de Office</vt:lpstr>
      <vt:lpstr>Justificación del tamaño muestral y análisis de potencia estadística</vt:lpstr>
      <vt:lpstr>PowerPoint Presentation</vt:lpstr>
      <vt:lpstr>Procesos cognitivos en el reconocimiento visual de las palabras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Justificación del tamaño muestral y análisis de potencia estadística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Justificación del tamaño muestral y análisis de potencia estadística</dc:title>
  <dc:creator>David López</dc:creator>
  <cp:lastModifiedBy>Filip Andras</cp:lastModifiedBy>
  <cp:revision>110</cp:revision>
  <cp:lastPrinted>2026-02-06T11:40:35Z</cp:lastPrinted>
  <dcterms:created xsi:type="dcterms:W3CDTF">2025-03-12T08:41:37Z</dcterms:created>
  <dcterms:modified xsi:type="dcterms:W3CDTF">2026-05-25T17:18:24Z</dcterms:modified>
</cp:coreProperties>
</file>